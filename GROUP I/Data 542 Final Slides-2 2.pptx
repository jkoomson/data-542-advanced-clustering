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86" r:id="rId2"/>
    <p:sldId id="287" r:id="rId3"/>
    <p:sldId id="288" r:id="rId4"/>
    <p:sldId id="289" r:id="rId5"/>
    <p:sldId id="290" r:id="rId6"/>
    <p:sldId id="291" r:id="rId7"/>
    <p:sldId id="292" r:id="rId8"/>
    <p:sldId id="293" r:id="rId9"/>
    <p:sldId id="294" r:id="rId10"/>
    <p:sldId id="295" r:id="rId11"/>
    <p:sldId id="296" r:id="rId12"/>
    <p:sldId id="297" r:id="rId13"/>
    <p:sldId id="298" r:id="rId14"/>
    <p:sldId id="299" r:id="rId15"/>
    <p:sldId id="257" r:id="rId16"/>
    <p:sldId id="258" r:id="rId17"/>
    <p:sldId id="260" r:id="rId18"/>
    <p:sldId id="261" r:id="rId19"/>
    <p:sldId id="259" r:id="rId20"/>
    <p:sldId id="262" r:id="rId21"/>
    <p:sldId id="263" r:id="rId22"/>
    <p:sldId id="264" r:id="rId23"/>
    <p:sldId id="265" r:id="rId24"/>
    <p:sldId id="266" r:id="rId25"/>
    <p:sldId id="267" r:id="rId26"/>
    <p:sldId id="268" r:id="rId27"/>
    <p:sldId id="269" r:id="rId28"/>
    <p:sldId id="256"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300"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71" autoAdjust="0"/>
    <p:restoredTop sz="94635"/>
  </p:normalViewPr>
  <p:slideViewPr>
    <p:cSldViewPr snapToGrid="0">
      <p:cViewPr varScale="1">
        <p:scale>
          <a:sx n="150" d="100"/>
          <a:sy n="150" d="100"/>
        </p:scale>
        <p:origin x="1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3E895C-9BB4-4A2F-91A1-78B1041BE8B8}" type="datetimeFigureOut">
              <a:rPr lang="en-US" smtClean="0"/>
              <a:t>5/21/26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66C5CD-C264-48DE-804E-FC1AE6544DFA}" type="slidenum">
              <a:rPr lang="en-US" smtClean="0"/>
              <a:t>‹#›</a:t>
            </a:fld>
            <a:endParaRPr lang="en-US"/>
          </a:p>
        </p:txBody>
      </p:sp>
    </p:spTree>
    <p:extLst>
      <p:ext uri="{BB962C8B-B14F-4D97-AF65-F5344CB8AC3E}">
        <p14:creationId xmlns:p14="http://schemas.microsoft.com/office/powerpoint/2010/main" val="1370448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83DE1-E3A3-2371-08A4-D4AEADBC8C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358CB4-DC40-9365-B7ED-0C98EC7FD9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455137-2BEA-790A-30F6-F95581C5872C}"/>
              </a:ext>
            </a:extLst>
          </p:cNvPr>
          <p:cNvSpPr>
            <a:spLocks noGrp="1"/>
          </p:cNvSpPr>
          <p:nvPr>
            <p:ph type="dt" sz="half" idx="10"/>
          </p:nvPr>
        </p:nvSpPr>
        <p:spPr/>
        <p:txBody>
          <a:bodyPr/>
          <a:lstStyle/>
          <a:p>
            <a:fld id="{3BAD7B3F-4181-4F1F-AD06-D5637366B0A7}" type="datetimeFigureOut">
              <a:rPr lang="en-US" smtClean="0"/>
              <a:t>5/21/26</a:t>
            </a:fld>
            <a:endParaRPr lang="en-US"/>
          </a:p>
        </p:txBody>
      </p:sp>
      <p:sp>
        <p:nvSpPr>
          <p:cNvPr id="5" name="Footer Placeholder 4">
            <a:extLst>
              <a:ext uri="{FF2B5EF4-FFF2-40B4-BE49-F238E27FC236}">
                <a16:creationId xmlns:a16="http://schemas.microsoft.com/office/drawing/2014/main" id="{79C45DD7-5E02-7E63-3E8C-91FCFF7F00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1A2F89-A2A7-7B5D-0FF4-B5F0B0B12B61}"/>
              </a:ext>
            </a:extLst>
          </p:cNvPr>
          <p:cNvSpPr>
            <a:spLocks noGrp="1"/>
          </p:cNvSpPr>
          <p:nvPr>
            <p:ph type="sldNum" sz="quarter" idx="12"/>
          </p:nvPr>
        </p:nvSpPr>
        <p:spPr/>
        <p:txBody>
          <a:bodyPr/>
          <a:lstStyle/>
          <a:p>
            <a:fld id="{6A2EF4BF-A292-46F6-AFC3-DEF3C31E1C2F}" type="slidenum">
              <a:rPr lang="en-US" smtClean="0"/>
              <a:t>‹#›</a:t>
            </a:fld>
            <a:endParaRPr lang="en-US"/>
          </a:p>
        </p:txBody>
      </p:sp>
    </p:spTree>
    <p:extLst>
      <p:ext uri="{BB962C8B-B14F-4D97-AF65-F5344CB8AC3E}">
        <p14:creationId xmlns:p14="http://schemas.microsoft.com/office/powerpoint/2010/main" val="2169890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87765-F70B-E60B-F369-100A68614E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A72265-307B-1DE2-9F94-F948EFEFF1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F1237C-898A-5609-5D8F-772B8264A3BC}"/>
              </a:ext>
            </a:extLst>
          </p:cNvPr>
          <p:cNvSpPr>
            <a:spLocks noGrp="1"/>
          </p:cNvSpPr>
          <p:nvPr>
            <p:ph type="dt" sz="half" idx="10"/>
          </p:nvPr>
        </p:nvSpPr>
        <p:spPr/>
        <p:txBody>
          <a:bodyPr/>
          <a:lstStyle/>
          <a:p>
            <a:fld id="{3BAD7B3F-4181-4F1F-AD06-D5637366B0A7}" type="datetimeFigureOut">
              <a:rPr lang="en-US" smtClean="0"/>
              <a:t>5/21/26</a:t>
            </a:fld>
            <a:endParaRPr lang="en-US"/>
          </a:p>
        </p:txBody>
      </p:sp>
      <p:sp>
        <p:nvSpPr>
          <p:cNvPr id="5" name="Footer Placeholder 4">
            <a:extLst>
              <a:ext uri="{FF2B5EF4-FFF2-40B4-BE49-F238E27FC236}">
                <a16:creationId xmlns:a16="http://schemas.microsoft.com/office/drawing/2014/main" id="{51959A4E-6C7E-B390-96A6-3E4FF12BF5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53676A-7855-9D29-6A48-C1CDDBB6B93C}"/>
              </a:ext>
            </a:extLst>
          </p:cNvPr>
          <p:cNvSpPr>
            <a:spLocks noGrp="1"/>
          </p:cNvSpPr>
          <p:nvPr>
            <p:ph type="sldNum" sz="quarter" idx="12"/>
          </p:nvPr>
        </p:nvSpPr>
        <p:spPr/>
        <p:txBody>
          <a:bodyPr/>
          <a:lstStyle/>
          <a:p>
            <a:fld id="{6A2EF4BF-A292-46F6-AFC3-DEF3C31E1C2F}" type="slidenum">
              <a:rPr lang="en-US" smtClean="0"/>
              <a:t>‹#›</a:t>
            </a:fld>
            <a:endParaRPr lang="en-US"/>
          </a:p>
        </p:txBody>
      </p:sp>
    </p:spTree>
    <p:extLst>
      <p:ext uri="{BB962C8B-B14F-4D97-AF65-F5344CB8AC3E}">
        <p14:creationId xmlns:p14="http://schemas.microsoft.com/office/powerpoint/2010/main" val="1991994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3348D-5FF9-CE4B-8C5C-4118FAE548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8C80F5-1BF1-220B-F325-9D6A8FD6D1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CE9ED-9E74-C9CF-9F68-EA6ED77EC753}"/>
              </a:ext>
            </a:extLst>
          </p:cNvPr>
          <p:cNvSpPr>
            <a:spLocks noGrp="1"/>
          </p:cNvSpPr>
          <p:nvPr>
            <p:ph type="dt" sz="half" idx="10"/>
          </p:nvPr>
        </p:nvSpPr>
        <p:spPr/>
        <p:txBody>
          <a:bodyPr/>
          <a:lstStyle/>
          <a:p>
            <a:fld id="{3BAD7B3F-4181-4F1F-AD06-D5637366B0A7}" type="datetimeFigureOut">
              <a:rPr lang="en-US" smtClean="0"/>
              <a:t>5/21/26</a:t>
            </a:fld>
            <a:endParaRPr lang="en-US"/>
          </a:p>
        </p:txBody>
      </p:sp>
      <p:sp>
        <p:nvSpPr>
          <p:cNvPr id="5" name="Footer Placeholder 4">
            <a:extLst>
              <a:ext uri="{FF2B5EF4-FFF2-40B4-BE49-F238E27FC236}">
                <a16:creationId xmlns:a16="http://schemas.microsoft.com/office/drawing/2014/main" id="{C927D94B-186F-87F3-8464-1DF3EFCADC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EB6DF2-78D0-A51B-8309-CE9CD32AE664}"/>
              </a:ext>
            </a:extLst>
          </p:cNvPr>
          <p:cNvSpPr>
            <a:spLocks noGrp="1"/>
          </p:cNvSpPr>
          <p:nvPr>
            <p:ph type="sldNum" sz="quarter" idx="12"/>
          </p:nvPr>
        </p:nvSpPr>
        <p:spPr/>
        <p:txBody>
          <a:bodyPr/>
          <a:lstStyle/>
          <a:p>
            <a:fld id="{6A2EF4BF-A292-46F6-AFC3-DEF3C31E1C2F}" type="slidenum">
              <a:rPr lang="en-US" smtClean="0"/>
              <a:t>‹#›</a:t>
            </a:fld>
            <a:endParaRPr lang="en-US"/>
          </a:p>
        </p:txBody>
      </p:sp>
    </p:spTree>
    <p:extLst>
      <p:ext uri="{BB962C8B-B14F-4D97-AF65-F5344CB8AC3E}">
        <p14:creationId xmlns:p14="http://schemas.microsoft.com/office/powerpoint/2010/main" val="908166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6233B-88AE-417E-F7D6-2EB17D9D08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82756A-3C68-6FFE-5662-261524F8D5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45401A-5145-06C8-F46D-A9616491C4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0739E7-0C9F-B521-C71D-18D2B8B22340}"/>
              </a:ext>
            </a:extLst>
          </p:cNvPr>
          <p:cNvSpPr>
            <a:spLocks noGrp="1"/>
          </p:cNvSpPr>
          <p:nvPr>
            <p:ph type="dt" sz="half" idx="10"/>
          </p:nvPr>
        </p:nvSpPr>
        <p:spPr/>
        <p:txBody>
          <a:bodyPr/>
          <a:lstStyle/>
          <a:p>
            <a:fld id="{3BAD7B3F-4181-4F1F-AD06-D5637366B0A7}" type="datetimeFigureOut">
              <a:rPr lang="en-US" smtClean="0"/>
              <a:t>5/21/26</a:t>
            </a:fld>
            <a:endParaRPr lang="en-US"/>
          </a:p>
        </p:txBody>
      </p:sp>
      <p:sp>
        <p:nvSpPr>
          <p:cNvPr id="6" name="Footer Placeholder 5">
            <a:extLst>
              <a:ext uri="{FF2B5EF4-FFF2-40B4-BE49-F238E27FC236}">
                <a16:creationId xmlns:a16="http://schemas.microsoft.com/office/drawing/2014/main" id="{3060C085-4389-E59B-36C1-7FD70935DC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C71877-1955-75FC-FC31-1B61912D3037}"/>
              </a:ext>
            </a:extLst>
          </p:cNvPr>
          <p:cNvSpPr>
            <a:spLocks noGrp="1"/>
          </p:cNvSpPr>
          <p:nvPr>
            <p:ph type="sldNum" sz="quarter" idx="12"/>
          </p:nvPr>
        </p:nvSpPr>
        <p:spPr/>
        <p:txBody>
          <a:bodyPr/>
          <a:lstStyle/>
          <a:p>
            <a:fld id="{6A2EF4BF-A292-46F6-AFC3-DEF3C31E1C2F}" type="slidenum">
              <a:rPr lang="en-US" smtClean="0"/>
              <a:t>‹#›</a:t>
            </a:fld>
            <a:endParaRPr lang="en-US"/>
          </a:p>
        </p:txBody>
      </p:sp>
    </p:spTree>
    <p:extLst>
      <p:ext uri="{BB962C8B-B14F-4D97-AF65-F5344CB8AC3E}">
        <p14:creationId xmlns:p14="http://schemas.microsoft.com/office/powerpoint/2010/main" val="3530780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6D0AC-38DA-1F89-7E8D-8A5673ECF6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EABEE6-0E36-D23E-ADFD-CFC1B25F21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824BD0-50C6-E9E3-226E-9D8EF5C8D0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819F5F-0C2B-90E8-7C68-29372C8B28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86A0C2-156F-7D10-68DD-7F50A2E8DD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57AC65-C877-FB26-A605-2BABC00DD9E4}"/>
              </a:ext>
            </a:extLst>
          </p:cNvPr>
          <p:cNvSpPr>
            <a:spLocks noGrp="1"/>
          </p:cNvSpPr>
          <p:nvPr>
            <p:ph type="dt" sz="half" idx="10"/>
          </p:nvPr>
        </p:nvSpPr>
        <p:spPr/>
        <p:txBody>
          <a:bodyPr/>
          <a:lstStyle/>
          <a:p>
            <a:fld id="{3BAD7B3F-4181-4F1F-AD06-D5637366B0A7}" type="datetimeFigureOut">
              <a:rPr lang="en-US" smtClean="0"/>
              <a:t>5/21/26</a:t>
            </a:fld>
            <a:endParaRPr lang="en-US"/>
          </a:p>
        </p:txBody>
      </p:sp>
      <p:sp>
        <p:nvSpPr>
          <p:cNvPr id="8" name="Footer Placeholder 7">
            <a:extLst>
              <a:ext uri="{FF2B5EF4-FFF2-40B4-BE49-F238E27FC236}">
                <a16:creationId xmlns:a16="http://schemas.microsoft.com/office/drawing/2014/main" id="{5D8C6669-5DE7-7F5A-E089-61D682AD11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52C3C9-B1BC-2384-C8BF-BD57D7504F03}"/>
              </a:ext>
            </a:extLst>
          </p:cNvPr>
          <p:cNvSpPr>
            <a:spLocks noGrp="1"/>
          </p:cNvSpPr>
          <p:nvPr>
            <p:ph type="sldNum" sz="quarter" idx="12"/>
          </p:nvPr>
        </p:nvSpPr>
        <p:spPr/>
        <p:txBody>
          <a:bodyPr/>
          <a:lstStyle/>
          <a:p>
            <a:fld id="{6A2EF4BF-A292-46F6-AFC3-DEF3C31E1C2F}" type="slidenum">
              <a:rPr lang="en-US" smtClean="0"/>
              <a:t>‹#›</a:t>
            </a:fld>
            <a:endParaRPr lang="en-US"/>
          </a:p>
        </p:txBody>
      </p:sp>
    </p:spTree>
    <p:extLst>
      <p:ext uri="{BB962C8B-B14F-4D97-AF65-F5344CB8AC3E}">
        <p14:creationId xmlns:p14="http://schemas.microsoft.com/office/powerpoint/2010/main" val="3434024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B7D2F-E2F4-9323-57A2-6A834BC97E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90F158-7950-2675-57A5-AF72891986C4}"/>
              </a:ext>
            </a:extLst>
          </p:cNvPr>
          <p:cNvSpPr>
            <a:spLocks noGrp="1"/>
          </p:cNvSpPr>
          <p:nvPr>
            <p:ph type="dt" sz="half" idx="10"/>
          </p:nvPr>
        </p:nvSpPr>
        <p:spPr/>
        <p:txBody>
          <a:bodyPr/>
          <a:lstStyle/>
          <a:p>
            <a:fld id="{3BAD7B3F-4181-4F1F-AD06-D5637366B0A7}" type="datetimeFigureOut">
              <a:rPr lang="en-US" smtClean="0"/>
              <a:t>5/21/26</a:t>
            </a:fld>
            <a:endParaRPr lang="en-US"/>
          </a:p>
        </p:txBody>
      </p:sp>
      <p:sp>
        <p:nvSpPr>
          <p:cNvPr id="4" name="Footer Placeholder 3">
            <a:extLst>
              <a:ext uri="{FF2B5EF4-FFF2-40B4-BE49-F238E27FC236}">
                <a16:creationId xmlns:a16="http://schemas.microsoft.com/office/drawing/2014/main" id="{310856A5-4607-D79D-BAC0-EB0808A296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FD1226-5DCA-9A8F-FD7F-45979580B43C}"/>
              </a:ext>
            </a:extLst>
          </p:cNvPr>
          <p:cNvSpPr>
            <a:spLocks noGrp="1"/>
          </p:cNvSpPr>
          <p:nvPr>
            <p:ph type="sldNum" sz="quarter" idx="12"/>
          </p:nvPr>
        </p:nvSpPr>
        <p:spPr/>
        <p:txBody>
          <a:bodyPr/>
          <a:lstStyle/>
          <a:p>
            <a:fld id="{6A2EF4BF-A292-46F6-AFC3-DEF3C31E1C2F}" type="slidenum">
              <a:rPr lang="en-US" smtClean="0"/>
              <a:t>‹#›</a:t>
            </a:fld>
            <a:endParaRPr lang="en-US"/>
          </a:p>
        </p:txBody>
      </p:sp>
    </p:spTree>
    <p:extLst>
      <p:ext uri="{BB962C8B-B14F-4D97-AF65-F5344CB8AC3E}">
        <p14:creationId xmlns:p14="http://schemas.microsoft.com/office/powerpoint/2010/main" val="1286617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2BF56-4537-2A74-D413-14F59BB31922}"/>
              </a:ext>
            </a:extLst>
          </p:cNvPr>
          <p:cNvSpPr>
            <a:spLocks noGrp="1"/>
          </p:cNvSpPr>
          <p:nvPr>
            <p:ph type="dt" sz="half" idx="10"/>
          </p:nvPr>
        </p:nvSpPr>
        <p:spPr/>
        <p:txBody>
          <a:bodyPr/>
          <a:lstStyle/>
          <a:p>
            <a:fld id="{3BAD7B3F-4181-4F1F-AD06-D5637366B0A7}" type="datetimeFigureOut">
              <a:rPr lang="en-US" smtClean="0"/>
              <a:t>5/21/26</a:t>
            </a:fld>
            <a:endParaRPr lang="en-US"/>
          </a:p>
        </p:txBody>
      </p:sp>
      <p:sp>
        <p:nvSpPr>
          <p:cNvPr id="3" name="Footer Placeholder 2">
            <a:extLst>
              <a:ext uri="{FF2B5EF4-FFF2-40B4-BE49-F238E27FC236}">
                <a16:creationId xmlns:a16="http://schemas.microsoft.com/office/drawing/2014/main" id="{1FCC78A1-0A02-FA05-18A5-B732FBA12F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2A9D14-5273-D1C7-F334-DDF4574EFEF6}"/>
              </a:ext>
            </a:extLst>
          </p:cNvPr>
          <p:cNvSpPr>
            <a:spLocks noGrp="1"/>
          </p:cNvSpPr>
          <p:nvPr>
            <p:ph type="sldNum" sz="quarter" idx="12"/>
          </p:nvPr>
        </p:nvSpPr>
        <p:spPr/>
        <p:txBody>
          <a:bodyPr/>
          <a:lstStyle/>
          <a:p>
            <a:fld id="{6A2EF4BF-A292-46F6-AFC3-DEF3C31E1C2F}" type="slidenum">
              <a:rPr lang="en-US" smtClean="0"/>
              <a:t>‹#›</a:t>
            </a:fld>
            <a:endParaRPr lang="en-US"/>
          </a:p>
        </p:txBody>
      </p:sp>
    </p:spTree>
    <p:extLst>
      <p:ext uri="{BB962C8B-B14F-4D97-AF65-F5344CB8AC3E}">
        <p14:creationId xmlns:p14="http://schemas.microsoft.com/office/powerpoint/2010/main" val="167711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92DC3-ACDD-0F04-A62E-24D7EF498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581174-0AB8-7A01-2B56-610B601D1D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74BAC4-1C88-F2A6-C372-0F643D086A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AC70C4-7CE0-C953-CD66-E6A04F145190}"/>
              </a:ext>
            </a:extLst>
          </p:cNvPr>
          <p:cNvSpPr>
            <a:spLocks noGrp="1"/>
          </p:cNvSpPr>
          <p:nvPr>
            <p:ph type="dt" sz="half" idx="10"/>
          </p:nvPr>
        </p:nvSpPr>
        <p:spPr/>
        <p:txBody>
          <a:bodyPr/>
          <a:lstStyle/>
          <a:p>
            <a:fld id="{3BAD7B3F-4181-4F1F-AD06-D5637366B0A7}" type="datetimeFigureOut">
              <a:rPr lang="en-US" smtClean="0"/>
              <a:t>5/21/26</a:t>
            </a:fld>
            <a:endParaRPr lang="en-US"/>
          </a:p>
        </p:txBody>
      </p:sp>
      <p:sp>
        <p:nvSpPr>
          <p:cNvPr id="6" name="Footer Placeholder 5">
            <a:extLst>
              <a:ext uri="{FF2B5EF4-FFF2-40B4-BE49-F238E27FC236}">
                <a16:creationId xmlns:a16="http://schemas.microsoft.com/office/drawing/2014/main" id="{179CDD50-6AE3-7020-F582-E09603930A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CFBC5D-C3A0-4FA7-7E6B-7AF7EF49AFC3}"/>
              </a:ext>
            </a:extLst>
          </p:cNvPr>
          <p:cNvSpPr>
            <a:spLocks noGrp="1"/>
          </p:cNvSpPr>
          <p:nvPr>
            <p:ph type="sldNum" sz="quarter" idx="12"/>
          </p:nvPr>
        </p:nvSpPr>
        <p:spPr/>
        <p:txBody>
          <a:bodyPr/>
          <a:lstStyle/>
          <a:p>
            <a:fld id="{6A2EF4BF-A292-46F6-AFC3-DEF3C31E1C2F}" type="slidenum">
              <a:rPr lang="en-US" smtClean="0"/>
              <a:t>‹#›</a:t>
            </a:fld>
            <a:endParaRPr lang="en-US"/>
          </a:p>
        </p:txBody>
      </p:sp>
    </p:spTree>
    <p:extLst>
      <p:ext uri="{BB962C8B-B14F-4D97-AF65-F5344CB8AC3E}">
        <p14:creationId xmlns:p14="http://schemas.microsoft.com/office/powerpoint/2010/main" val="65734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040E6-DF43-3F1B-96A7-90E8B0C662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9A3BDC-6B53-3940-A839-F734B7DFA8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E95360-19B2-C622-B360-C847BE109D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FBB674-CB28-B60D-6BEC-89EFC8B003F1}"/>
              </a:ext>
            </a:extLst>
          </p:cNvPr>
          <p:cNvSpPr>
            <a:spLocks noGrp="1"/>
          </p:cNvSpPr>
          <p:nvPr>
            <p:ph type="dt" sz="half" idx="10"/>
          </p:nvPr>
        </p:nvSpPr>
        <p:spPr/>
        <p:txBody>
          <a:bodyPr/>
          <a:lstStyle/>
          <a:p>
            <a:fld id="{3BAD7B3F-4181-4F1F-AD06-D5637366B0A7}" type="datetimeFigureOut">
              <a:rPr lang="en-US" smtClean="0"/>
              <a:t>5/21/26</a:t>
            </a:fld>
            <a:endParaRPr lang="en-US"/>
          </a:p>
        </p:txBody>
      </p:sp>
      <p:sp>
        <p:nvSpPr>
          <p:cNvPr id="6" name="Footer Placeholder 5">
            <a:extLst>
              <a:ext uri="{FF2B5EF4-FFF2-40B4-BE49-F238E27FC236}">
                <a16:creationId xmlns:a16="http://schemas.microsoft.com/office/drawing/2014/main" id="{E7B76EFE-0FB1-BC04-AA2F-1550E1858D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C97DFD-E513-9FE3-9F67-5D8DA8D60039}"/>
              </a:ext>
            </a:extLst>
          </p:cNvPr>
          <p:cNvSpPr>
            <a:spLocks noGrp="1"/>
          </p:cNvSpPr>
          <p:nvPr>
            <p:ph type="sldNum" sz="quarter" idx="12"/>
          </p:nvPr>
        </p:nvSpPr>
        <p:spPr/>
        <p:txBody>
          <a:bodyPr/>
          <a:lstStyle/>
          <a:p>
            <a:fld id="{6A2EF4BF-A292-46F6-AFC3-DEF3C31E1C2F}" type="slidenum">
              <a:rPr lang="en-US" smtClean="0"/>
              <a:t>‹#›</a:t>
            </a:fld>
            <a:endParaRPr lang="en-US"/>
          </a:p>
        </p:txBody>
      </p:sp>
    </p:spTree>
    <p:extLst>
      <p:ext uri="{BB962C8B-B14F-4D97-AF65-F5344CB8AC3E}">
        <p14:creationId xmlns:p14="http://schemas.microsoft.com/office/powerpoint/2010/main" val="1704926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2A176-BD07-F462-1D57-4C6A868FAC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7C698B-5053-A450-6336-755160F210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EB0D23-EC02-B71B-C7BD-87A71320A58D}"/>
              </a:ext>
            </a:extLst>
          </p:cNvPr>
          <p:cNvSpPr>
            <a:spLocks noGrp="1"/>
          </p:cNvSpPr>
          <p:nvPr>
            <p:ph type="dt" sz="half" idx="10"/>
          </p:nvPr>
        </p:nvSpPr>
        <p:spPr/>
        <p:txBody>
          <a:bodyPr/>
          <a:lstStyle/>
          <a:p>
            <a:fld id="{3BAD7B3F-4181-4F1F-AD06-D5637366B0A7}" type="datetimeFigureOut">
              <a:rPr lang="en-US" smtClean="0"/>
              <a:t>5/21/26</a:t>
            </a:fld>
            <a:endParaRPr lang="en-US"/>
          </a:p>
        </p:txBody>
      </p:sp>
      <p:sp>
        <p:nvSpPr>
          <p:cNvPr id="5" name="Footer Placeholder 4">
            <a:extLst>
              <a:ext uri="{FF2B5EF4-FFF2-40B4-BE49-F238E27FC236}">
                <a16:creationId xmlns:a16="http://schemas.microsoft.com/office/drawing/2014/main" id="{48034F8C-52A9-AEF1-D435-BF24F9BB1C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89D241-6282-08F3-089D-73BFE798AB82}"/>
              </a:ext>
            </a:extLst>
          </p:cNvPr>
          <p:cNvSpPr>
            <a:spLocks noGrp="1"/>
          </p:cNvSpPr>
          <p:nvPr>
            <p:ph type="sldNum" sz="quarter" idx="12"/>
          </p:nvPr>
        </p:nvSpPr>
        <p:spPr/>
        <p:txBody>
          <a:bodyPr/>
          <a:lstStyle/>
          <a:p>
            <a:fld id="{6A2EF4BF-A292-46F6-AFC3-DEF3C31E1C2F}" type="slidenum">
              <a:rPr lang="en-US" smtClean="0"/>
              <a:t>‹#›</a:t>
            </a:fld>
            <a:endParaRPr lang="en-US"/>
          </a:p>
        </p:txBody>
      </p:sp>
    </p:spTree>
    <p:extLst>
      <p:ext uri="{BB962C8B-B14F-4D97-AF65-F5344CB8AC3E}">
        <p14:creationId xmlns:p14="http://schemas.microsoft.com/office/powerpoint/2010/main" val="1372387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16D132-DF14-8700-13CD-7FDD9BC4B3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270FFE-6A1A-09F7-4B6F-CDE68153E0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A72B3F-F1EB-1CF6-3D41-E45E88514885}"/>
              </a:ext>
            </a:extLst>
          </p:cNvPr>
          <p:cNvSpPr>
            <a:spLocks noGrp="1"/>
          </p:cNvSpPr>
          <p:nvPr>
            <p:ph type="dt" sz="half" idx="10"/>
          </p:nvPr>
        </p:nvSpPr>
        <p:spPr/>
        <p:txBody>
          <a:bodyPr/>
          <a:lstStyle/>
          <a:p>
            <a:fld id="{3BAD7B3F-4181-4F1F-AD06-D5637366B0A7}" type="datetimeFigureOut">
              <a:rPr lang="en-US" smtClean="0"/>
              <a:t>5/21/26</a:t>
            </a:fld>
            <a:endParaRPr lang="en-US"/>
          </a:p>
        </p:txBody>
      </p:sp>
      <p:sp>
        <p:nvSpPr>
          <p:cNvPr id="5" name="Footer Placeholder 4">
            <a:extLst>
              <a:ext uri="{FF2B5EF4-FFF2-40B4-BE49-F238E27FC236}">
                <a16:creationId xmlns:a16="http://schemas.microsoft.com/office/drawing/2014/main" id="{5630E9C5-C70E-9701-9E36-95AD72D46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D8D485-8E81-FCEB-13F7-5862CDFE05A3}"/>
              </a:ext>
            </a:extLst>
          </p:cNvPr>
          <p:cNvSpPr>
            <a:spLocks noGrp="1"/>
          </p:cNvSpPr>
          <p:nvPr>
            <p:ph type="sldNum" sz="quarter" idx="12"/>
          </p:nvPr>
        </p:nvSpPr>
        <p:spPr/>
        <p:txBody>
          <a:bodyPr/>
          <a:lstStyle/>
          <a:p>
            <a:fld id="{6A2EF4BF-A292-46F6-AFC3-DEF3C31E1C2F}" type="slidenum">
              <a:rPr lang="en-US" smtClean="0"/>
              <a:t>‹#›</a:t>
            </a:fld>
            <a:endParaRPr lang="en-US"/>
          </a:p>
        </p:txBody>
      </p:sp>
    </p:spTree>
    <p:extLst>
      <p:ext uri="{BB962C8B-B14F-4D97-AF65-F5344CB8AC3E}">
        <p14:creationId xmlns:p14="http://schemas.microsoft.com/office/powerpoint/2010/main" val="22354498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059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6C5972-9401-9749-92AE-7EDBEDD2B5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7D6342-2D92-D315-B6C8-871052B026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37B005-F5D2-EBA1-C172-5C50B98A14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AD7B3F-4181-4F1F-AD06-D5637366B0A7}" type="datetimeFigureOut">
              <a:rPr lang="en-US" smtClean="0"/>
              <a:t>5/21/26</a:t>
            </a:fld>
            <a:endParaRPr lang="en-US"/>
          </a:p>
        </p:txBody>
      </p:sp>
      <p:sp>
        <p:nvSpPr>
          <p:cNvPr id="5" name="Footer Placeholder 4">
            <a:extLst>
              <a:ext uri="{FF2B5EF4-FFF2-40B4-BE49-F238E27FC236}">
                <a16:creationId xmlns:a16="http://schemas.microsoft.com/office/drawing/2014/main" id="{12AC26A8-8FF5-F7A2-6945-9996C998B5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763B67C-A094-84B0-169B-DCC7A4E889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2EF4BF-A292-46F6-AFC3-DEF3C31E1C2F}" type="slidenum">
              <a:rPr lang="en-US" smtClean="0"/>
              <a:t>‹#›</a:t>
            </a:fld>
            <a:endParaRPr lang="en-US"/>
          </a:p>
        </p:txBody>
      </p:sp>
    </p:spTree>
    <p:extLst>
      <p:ext uri="{BB962C8B-B14F-4D97-AF65-F5344CB8AC3E}">
        <p14:creationId xmlns:p14="http://schemas.microsoft.com/office/powerpoint/2010/main" val="460643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371600"/>
            <a:ext cx="5486400" cy="274320"/>
          </a:xfrm>
          <a:prstGeom prst="rect">
            <a:avLst/>
          </a:prstGeom>
          <a:noFill/>
          <a:ln/>
        </p:spPr>
        <p:txBody>
          <a:bodyPr wrap="square" lIns="0" tIns="0" rIns="0" bIns="0" rtlCol="0" anchor="ctr"/>
          <a:lstStyle/>
          <a:p>
            <a:pPr marL="0" indent="0">
              <a:buNone/>
            </a:pPr>
            <a:r>
              <a:rPr lang="en-US" sz="1200" b="1" kern="0" spc="400" dirty="0">
                <a:solidFill>
                  <a:srgbClr val="D85A30"/>
                </a:solidFill>
                <a:latin typeface="Consolas" pitchFamily="34" charset="0"/>
                <a:ea typeface="Consolas" pitchFamily="34" charset="-122"/>
                <a:cs typeface="Consolas" pitchFamily="34" charset="-120"/>
              </a:rPr>
              <a:t>DATA 542 · SPRING 2026</a:t>
            </a:r>
            <a:endParaRPr lang="en-US" sz="1200" dirty="0"/>
          </a:p>
        </p:txBody>
      </p:sp>
      <p:sp>
        <p:nvSpPr>
          <p:cNvPr id="3" name="Text 1"/>
          <p:cNvSpPr/>
          <p:nvPr/>
        </p:nvSpPr>
        <p:spPr>
          <a:xfrm>
            <a:off x="548640" y="1828800"/>
            <a:ext cx="9144000" cy="2011680"/>
          </a:xfrm>
          <a:prstGeom prst="rect">
            <a:avLst/>
          </a:prstGeom>
          <a:noFill/>
          <a:ln/>
        </p:spPr>
        <p:txBody>
          <a:bodyPr wrap="square" lIns="0" tIns="0" rIns="0" bIns="0" rtlCol="0" anchor="ctr"/>
          <a:lstStyle/>
          <a:p>
            <a:pPr marL="0" indent="0">
              <a:buNone/>
            </a:pPr>
            <a:r>
              <a:rPr lang="en-US" sz="6000" dirty="0">
                <a:solidFill>
                  <a:srgbClr val="1C1C1A"/>
                </a:solidFill>
                <a:latin typeface="Georgia" pitchFamily="34" charset="0"/>
              </a:rPr>
              <a:t>Advanced Clustering:</a:t>
            </a:r>
            <a:endParaRPr lang="en-US" sz="6000" dirty="0"/>
          </a:p>
          <a:p>
            <a:pPr marL="0" indent="0">
              <a:buNone/>
            </a:pPr>
            <a:r>
              <a:rPr lang="en-US" sz="4400" dirty="0">
                <a:solidFill>
                  <a:srgbClr val="1C1C1A"/>
                </a:solidFill>
                <a:latin typeface="Georgia" pitchFamily="34" charset="0"/>
                <a:ea typeface="Georgia" pitchFamily="34" charset="-122"/>
                <a:cs typeface="Georgia" pitchFamily="34" charset="-120"/>
              </a:rPr>
              <a:t>NHANES 2017-2018 Health Data</a:t>
            </a:r>
            <a:endParaRPr lang="en-US" sz="4400" dirty="0"/>
          </a:p>
        </p:txBody>
      </p:sp>
      <p:sp>
        <p:nvSpPr>
          <p:cNvPr id="4" name="Text 2"/>
          <p:cNvSpPr/>
          <p:nvPr/>
        </p:nvSpPr>
        <p:spPr>
          <a:xfrm>
            <a:off x="548640" y="3931920"/>
            <a:ext cx="8229600" cy="914400"/>
          </a:xfrm>
          <a:prstGeom prst="rect">
            <a:avLst/>
          </a:prstGeom>
          <a:noFill/>
          <a:ln/>
        </p:spPr>
        <p:txBody>
          <a:bodyPr wrap="square" lIns="0" tIns="0" rIns="0" bIns="0" rtlCol="0" anchor="ctr"/>
          <a:lstStyle/>
          <a:p>
            <a:pPr marL="0" indent="0">
              <a:buNone/>
            </a:pPr>
            <a:r>
              <a:rPr lang="en-US" sz="1800" dirty="0">
                <a:solidFill>
                  <a:srgbClr val="4A4842"/>
                </a:solidFill>
                <a:latin typeface="Calibri" pitchFamily="34" charset="0"/>
                <a:ea typeface="Calibri" pitchFamily="34" charset="-122"/>
                <a:cs typeface="Calibri" pitchFamily="34" charset="-120"/>
              </a:rPr>
              <a:t>A comparative evaluation of K-Means, DBSCAN, and Gaussian Mixture Models on demographic, physiological, and metabolic data.</a:t>
            </a:r>
            <a:endParaRPr lang="en-US" sz="1800" dirty="0"/>
          </a:p>
        </p:txBody>
      </p:sp>
      <p:sp>
        <p:nvSpPr>
          <p:cNvPr id="5" name="Shape 3"/>
          <p:cNvSpPr/>
          <p:nvPr/>
        </p:nvSpPr>
        <p:spPr>
          <a:xfrm>
            <a:off x="548640" y="5303520"/>
            <a:ext cx="2743200" cy="0"/>
          </a:xfrm>
          <a:prstGeom prst="line">
            <a:avLst/>
          </a:prstGeom>
          <a:noFill/>
          <a:ln w="9525">
            <a:solidFill>
              <a:srgbClr val="D8D3C5"/>
            </a:solidFill>
            <a:prstDash val="solid"/>
          </a:ln>
        </p:spPr>
        <p:txBody>
          <a:bodyPr/>
          <a:lstStyle/>
          <a:p>
            <a:endParaRPr lang="en-US"/>
          </a:p>
        </p:txBody>
      </p:sp>
      <p:sp>
        <p:nvSpPr>
          <p:cNvPr id="6" name="Text 4"/>
          <p:cNvSpPr/>
          <p:nvPr/>
        </p:nvSpPr>
        <p:spPr>
          <a:xfrm>
            <a:off x="548640" y="5440680"/>
            <a:ext cx="8229600" cy="1005840"/>
          </a:xfrm>
          <a:prstGeom prst="rect">
            <a:avLst/>
          </a:prstGeom>
          <a:noFill/>
          <a:ln/>
        </p:spPr>
        <p:txBody>
          <a:bodyPr wrap="square" lIns="0" tIns="0" rIns="0" bIns="0" rtlCol="0" anchor="ctr"/>
          <a:lstStyle/>
          <a:p>
            <a:r>
              <a:rPr lang="en-US" sz="1600" b="1" cap="all" dirty="0"/>
              <a:t>Presented By</a:t>
            </a:r>
          </a:p>
          <a:p>
            <a:r>
              <a:rPr lang="en-US" sz="1600" b="1" cap="all" dirty="0"/>
              <a:t>Banira Acharya Dhakal</a:t>
            </a:r>
            <a:endParaRPr lang="en-US" sz="1600" cap="all" dirty="0"/>
          </a:p>
          <a:p>
            <a:r>
              <a:rPr lang="en-US" sz="1600" b="1" cap="all" dirty="0"/>
              <a:t>Segan Foster</a:t>
            </a:r>
            <a:endParaRPr lang="en-US" sz="1600" cap="all" dirty="0"/>
          </a:p>
          <a:p>
            <a:r>
              <a:rPr lang="en-US" sz="1600" b="1" cap="all" dirty="0"/>
              <a:t>Monique Handsom</a:t>
            </a:r>
            <a:endParaRPr lang="en-US" sz="1600" cap="all" dirty="0"/>
          </a:p>
          <a:p>
            <a:pPr marL="0" indent="0">
              <a:spcAft>
                <a:spcPts val="400"/>
              </a:spcAft>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INTRODUCTION · PROJECT OVERVIEW</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02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Finding hidden health profiles in survey data</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Clustering is unsupervised. This allows the revelation of patterns the data already contains.</a:t>
            </a:r>
            <a:endParaRPr lang="en-US" sz="1400" dirty="0"/>
          </a:p>
        </p:txBody>
      </p:sp>
      <p:sp>
        <p:nvSpPr>
          <p:cNvPr id="7" name="Text 5"/>
          <p:cNvSpPr/>
          <p:nvPr/>
        </p:nvSpPr>
        <p:spPr>
          <a:xfrm>
            <a:off x="548640" y="2286000"/>
            <a:ext cx="5486400" cy="320040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4A4842"/>
                </a:solidFill>
                <a:latin typeface="Calibri" pitchFamily="34" charset="0"/>
                <a:ea typeface="Calibri" pitchFamily="34" charset="-122"/>
                <a:cs typeface="Calibri" pitchFamily="34" charset="-120"/>
              </a:rPr>
              <a:t>Dataset: NHANES 2017–2018 subset, ~5,800 observations after cleaning.</a:t>
            </a:r>
            <a:endParaRPr lang="en-US" sz="1400" dirty="0"/>
          </a:p>
          <a:p>
            <a:pPr marL="342900" indent="-342900">
              <a:spcAft>
                <a:spcPts val="1200"/>
              </a:spcAft>
              <a:buSzPct val="100000"/>
              <a:buChar char="■"/>
            </a:pPr>
            <a:r>
              <a:rPr lang="en-US" sz="1400" dirty="0">
                <a:solidFill>
                  <a:srgbClr val="4A4842"/>
                </a:solidFill>
                <a:latin typeface="Calibri" pitchFamily="34" charset="0"/>
                <a:ea typeface="Calibri" pitchFamily="34" charset="-122"/>
                <a:cs typeface="Calibri" pitchFamily="34" charset="-120"/>
              </a:rPr>
              <a:t>Variables: age, income, BMI, systolic and diastolic blood pressure, HbA1c.</a:t>
            </a:r>
            <a:endParaRPr lang="en-US" sz="1400" dirty="0"/>
          </a:p>
          <a:p>
            <a:pPr marL="342900" indent="-342900">
              <a:spcAft>
                <a:spcPts val="1200"/>
              </a:spcAft>
              <a:buSzPct val="100000"/>
              <a:buChar char="■"/>
            </a:pPr>
            <a:r>
              <a:rPr lang="en-US" sz="1400" dirty="0">
                <a:solidFill>
                  <a:srgbClr val="4A4842"/>
                </a:solidFill>
                <a:latin typeface="Calibri" pitchFamily="34" charset="0"/>
                <a:ea typeface="Calibri" pitchFamily="34" charset="-122"/>
                <a:cs typeface="Calibri" pitchFamily="34" charset="-120"/>
              </a:rPr>
              <a:t>Goal: identify meaningful health profiles such as diabetes, cardiovascular, obesity-related, and lower-risk groups.</a:t>
            </a:r>
            <a:endParaRPr lang="en-US" sz="1400" dirty="0"/>
          </a:p>
          <a:p>
            <a:pPr marL="342900" indent="-342900">
              <a:spcAft>
                <a:spcPts val="1200"/>
              </a:spcAft>
              <a:buSzPct val="100000"/>
              <a:buChar char="■"/>
            </a:pPr>
            <a:r>
              <a:rPr lang="en-US" sz="1400" dirty="0">
                <a:solidFill>
                  <a:srgbClr val="4A4842"/>
                </a:solidFill>
                <a:latin typeface="Calibri" pitchFamily="34" charset="0"/>
                <a:ea typeface="Calibri" pitchFamily="34" charset="-122"/>
                <a:cs typeface="Calibri" pitchFamily="34" charset="-120"/>
              </a:rPr>
              <a:t>Approach: compare three methods that group data differently — by distance, density, and probability.</a:t>
            </a:r>
            <a:endParaRPr lang="en-US" sz="1400" dirty="0"/>
          </a:p>
        </p:txBody>
      </p:sp>
      <p:sp>
        <p:nvSpPr>
          <p:cNvPr id="8" name="Shape 6"/>
          <p:cNvSpPr/>
          <p:nvPr/>
        </p:nvSpPr>
        <p:spPr>
          <a:xfrm>
            <a:off x="6583680" y="2286000"/>
            <a:ext cx="5029200" cy="3200400"/>
          </a:xfrm>
          <a:prstGeom prst="rect">
            <a:avLst/>
          </a:prstGeom>
          <a:solidFill>
            <a:srgbClr val="F4F1E8"/>
          </a:solidFill>
          <a:ln w="12700">
            <a:solidFill>
              <a:srgbClr val="F4F1E8"/>
            </a:solidFill>
            <a:prstDash val="solid"/>
          </a:ln>
        </p:spPr>
        <p:txBody>
          <a:bodyPr/>
          <a:lstStyle/>
          <a:p>
            <a:endParaRPr lang="en-US"/>
          </a:p>
        </p:txBody>
      </p:sp>
      <p:sp>
        <p:nvSpPr>
          <p:cNvPr id="9" name="Text 7"/>
          <p:cNvSpPr/>
          <p:nvPr/>
        </p:nvSpPr>
        <p:spPr>
          <a:xfrm>
            <a:off x="6858000" y="2514600"/>
            <a:ext cx="4572000" cy="1337872"/>
          </a:xfrm>
          <a:prstGeom prst="rect">
            <a:avLst/>
          </a:prstGeom>
          <a:noFill/>
          <a:ln/>
        </p:spPr>
        <p:txBody>
          <a:bodyPr wrap="square" lIns="0" tIns="0" rIns="0" bIns="0" rtlCol="0" anchor="ctr"/>
          <a:lstStyle/>
          <a:p>
            <a:pPr marL="0" indent="0">
              <a:buNone/>
            </a:pPr>
            <a:r>
              <a:rPr lang="en-US" sz="2200" i="1" dirty="0">
                <a:solidFill>
                  <a:srgbClr val="1C1C1A"/>
                </a:solidFill>
                <a:latin typeface="Georgia" pitchFamily="34" charset="0"/>
              </a:rPr>
              <a:t>NHANES data does not already define health risk groups. Clustering identifies natural groupings without predefined labels.</a:t>
            </a:r>
            <a:endParaRPr lang="en-US" sz="2200" dirty="0"/>
          </a:p>
        </p:txBody>
      </p:sp>
      <p:sp>
        <p:nvSpPr>
          <p:cNvPr id="10" name="Text 8"/>
          <p:cNvSpPr/>
          <p:nvPr/>
        </p:nvSpPr>
        <p:spPr>
          <a:xfrm>
            <a:off x="6858000" y="3657600"/>
            <a:ext cx="4572000" cy="1645920"/>
          </a:xfrm>
          <a:prstGeom prst="rect">
            <a:avLst/>
          </a:prstGeom>
          <a:noFill/>
          <a:ln/>
        </p:spPr>
        <p:txBody>
          <a:bodyPr wrap="square" lIns="0" tIns="0" rIns="0" bIns="0" rtlCol="0" anchor="ctr"/>
          <a:lstStyle/>
          <a:p>
            <a:pPr marL="0" indent="0">
              <a:buNone/>
            </a:pPr>
            <a:r>
              <a:rPr lang="en-US" sz="1300" dirty="0">
                <a:solidFill>
                  <a:srgbClr val="4A4842"/>
                </a:solidFill>
                <a:latin typeface="Calibri" pitchFamily="34" charset="0"/>
                <a:ea typeface="Calibri" pitchFamily="34" charset="-122"/>
                <a:cs typeface="Calibri" pitchFamily="34" charset="-120"/>
              </a:rPr>
              <a:t>Individuals vary across age, income, weight, blood pressure, and glucose. Clustering helps surface those natural groupings without forcing predefined labels — useful for screening, prevention, and targeted intervention.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EDA · SUMMARY STATISTICS</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03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Variables span very different scales</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Center, spread, and shape for each numeric variable — pre-scaling, pre-clustering.</a:t>
            </a:r>
            <a:endParaRPr lang="en-US" sz="1400" dirty="0"/>
          </a:p>
        </p:txBody>
      </p:sp>
      <p:graphicFrame>
        <p:nvGraphicFramePr>
          <p:cNvPr id="7" name="Table 0"/>
          <p:cNvGraphicFramePr>
            <a:graphicFrameLocks noGrp="1"/>
          </p:cNvGraphicFramePr>
          <p:nvPr/>
        </p:nvGraphicFramePr>
        <p:xfrm>
          <a:off x="548640" y="2194560"/>
          <a:ext cx="11064240" cy="3072384"/>
        </p:xfrm>
        <a:graphic>
          <a:graphicData uri="http://schemas.openxmlformats.org/drawingml/2006/table">
            <a:tbl>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4297680">
                  <a:extLst>
                    <a:ext uri="{9D8B030D-6E8A-4147-A177-3AD203B41FA5}">
                      <a16:colId xmlns:a16="http://schemas.microsoft.com/office/drawing/2014/main" val="20005"/>
                    </a:ext>
                  </a:extLst>
                </a:gridCol>
              </a:tblGrid>
              <a:tr h="384048">
                <a:tc>
                  <a:txBody>
                    <a:bodyPr/>
                    <a:lstStyle/>
                    <a:p>
                      <a:pPr marL="0" indent="0">
                        <a:buNone/>
                      </a:pPr>
                      <a:r>
                        <a:rPr lang="en-US" sz="1000" b="1" dirty="0">
                          <a:solidFill>
                            <a:srgbClr val="888780"/>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solidFill>
                      <a:srgbClr val="FFFFFF"/>
                    </a:solidFill>
                  </a:tcPr>
                </a:tc>
                <a:tc>
                  <a:txBody>
                    <a:bodyPr/>
                    <a:lstStyle/>
                    <a:p>
                      <a:pPr marL="0" indent="0" algn="r">
                        <a:buNone/>
                      </a:pPr>
                      <a:r>
                        <a:rPr lang="en-US" sz="1000" b="1" dirty="0">
                          <a:solidFill>
                            <a:srgbClr val="888780"/>
                          </a:solidFill>
                          <a:latin typeface="Calibri" pitchFamily="34" charset="0"/>
                          <a:ea typeface="Calibri" pitchFamily="34" charset="-122"/>
                          <a:cs typeface="Calibri" pitchFamily="34" charset="-120"/>
                        </a:rPr>
                        <a:t>MEAN</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solidFill>
                      <a:srgbClr val="FFFFFF"/>
                    </a:solidFill>
                  </a:tcPr>
                </a:tc>
                <a:tc>
                  <a:txBody>
                    <a:bodyPr/>
                    <a:lstStyle/>
                    <a:p>
                      <a:pPr marL="0" indent="0" algn="r">
                        <a:buNone/>
                      </a:pPr>
                      <a:r>
                        <a:rPr lang="en-US" sz="1000" b="1" dirty="0">
                          <a:solidFill>
                            <a:srgbClr val="888780"/>
                          </a:solidFill>
                          <a:latin typeface="Calibri" pitchFamily="34" charset="0"/>
                          <a:ea typeface="Calibri" pitchFamily="34" charset="-122"/>
                          <a:cs typeface="Calibri" pitchFamily="34" charset="-120"/>
                        </a:rPr>
                        <a:t>MEDIAN</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solidFill>
                      <a:srgbClr val="FFFFFF"/>
                    </a:solidFill>
                  </a:tcPr>
                </a:tc>
                <a:tc>
                  <a:txBody>
                    <a:bodyPr/>
                    <a:lstStyle/>
                    <a:p>
                      <a:pPr marL="0" indent="0" algn="r">
                        <a:buNone/>
                      </a:pPr>
                      <a:r>
                        <a:rPr lang="en-US" sz="1000" b="1" dirty="0">
                          <a:solidFill>
                            <a:srgbClr val="888780"/>
                          </a:solidFill>
                          <a:latin typeface="Calibri" pitchFamily="34" charset="0"/>
                          <a:ea typeface="Calibri" pitchFamily="34" charset="-122"/>
                          <a:cs typeface="Calibri" pitchFamily="34" charset="-120"/>
                        </a:rPr>
                        <a:t>VARIANCE</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solidFill>
                      <a:srgbClr val="FFFFFF"/>
                    </a:solidFill>
                  </a:tcPr>
                </a:tc>
                <a:tc>
                  <a:txBody>
                    <a:bodyPr/>
                    <a:lstStyle/>
                    <a:p>
                      <a:pPr marL="0" indent="0" algn="r">
                        <a:buNone/>
                      </a:pPr>
                      <a:r>
                        <a:rPr lang="en-US" sz="1000" b="1" dirty="0">
                          <a:solidFill>
                            <a:srgbClr val="888780"/>
                          </a:solidFill>
                          <a:latin typeface="Calibri" pitchFamily="34" charset="0"/>
                          <a:ea typeface="Calibri" pitchFamily="34" charset="-122"/>
                          <a:cs typeface="Calibri" pitchFamily="34" charset="-120"/>
                        </a:rPr>
                        <a:t>SKEW</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solidFill>
                      <a:srgbClr val="FFFFFF"/>
                    </a:solidFill>
                  </a:tcPr>
                </a:tc>
                <a:tc>
                  <a:txBody>
                    <a:bodyPr/>
                    <a:lstStyle/>
                    <a:p>
                      <a:pPr marL="0" indent="0">
                        <a:buNone/>
                      </a:pPr>
                      <a:r>
                        <a:rPr lang="en-US" sz="1000" b="1" dirty="0">
                          <a:solidFill>
                            <a:srgbClr val="888780"/>
                          </a:solidFill>
                          <a:latin typeface="Calibri" pitchFamily="34" charset="0"/>
                          <a:ea typeface="Calibri" pitchFamily="34" charset="-122"/>
                          <a:cs typeface="Calibri" pitchFamily="34" charset="-120"/>
                        </a:rPr>
                        <a:t>SHAPE</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C1C1A"/>
                          </a:solidFill>
                          <a:latin typeface="Consolas" pitchFamily="34" charset="0"/>
                          <a:ea typeface="Consolas" pitchFamily="34" charset="-122"/>
                          <a:cs typeface="Consolas" pitchFamily="34" charset="-120"/>
                        </a:rPr>
                        <a:t>age</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48.13</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49.00</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383.59</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−0.04</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C1C1A"/>
                          </a:solidFill>
                          <a:latin typeface="Consolas" pitchFamily="34" charset="0"/>
                          <a:ea typeface="Consolas" pitchFamily="34" charset="-122"/>
                          <a:cs typeface="Consolas" pitchFamily="34" charset="-120"/>
                        </a:rPr>
                        <a:t>income_pir</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2.51</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2.07</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2.58</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0.35</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C1C1A"/>
                          </a:solidFill>
                          <a:latin typeface="Consolas" pitchFamily="34" charset="0"/>
                          <a:ea typeface="Consolas" pitchFamily="34" charset="-122"/>
                          <a:cs typeface="Consolas" pitchFamily="34" charset="-120"/>
                        </a:rPr>
                        <a:t>bmi</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29.46</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28.30</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55.75</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C1C1A"/>
                          </a:solidFill>
                          <a:latin typeface="Consolas" pitchFamily="34" charset="0"/>
                          <a:ea typeface="Consolas" pitchFamily="34" charset="-122"/>
                          <a:cs typeface="Consolas" pitchFamily="34" charset="-120"/>
                        </a:rPr>
                        <a:t>waist</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99.34</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98.10</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306.63</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0.47</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C1C1A"/>
                          </a:solidFill>
                          <a:latin typeface="Consolas" pitchFamily="34" charset="0"/>
                          <a:ea typeface="Consolas" pitchFamily="34" charset="-122"/>
                          <a:cs typeface="Consolas" pitchFamily="34" charset="-120"/>
                        </a:rPr>
                        <a:t>sys_bp</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125.13</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122.00</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387.48</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00" dirty="0">
                          <a:solidFill>
                            <a:srgbClr val="1C1C1A"/>
                          </a:solidFill>
                          <a:latin typeface="Consolas" pitchFamily="34" charset="0"/>
                          <a:ea typeface="Consolas" pitchFamily="34" charset="-122"/>
                          <a:cs typeface="Consolas" pitchFamily="34" charset="-120"/>
                        </a:rPr>
                        <a:t>dia_bp</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71.20</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72.00</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185.04</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200" dirty="0">
                          <a:solidFill>
                            <a:srgbClr val="1C1C1A"/>
                          </a:solidFill>
                          <a:latin typeface="Consolas" pitchFamily="34" charset="0"/>
                          <a:ea typeface="Consolas" pitchFamily="34" charset="-122"/>
                          <a:cs typeface="Consolas" pitchFamily="34" charset="-120"/>
                        </a:rPr>
                        <a:t>hba1c</a:t>
                      </a:r>
                      <a:endParaRPr lang="en-US" sz="12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5.81</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5.50</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1.15</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200" dirty="0">
                          <a:solidFill>
                            <a:srgbClr val="4A4842"/>
                          </a:solidFill>
                          <a:latin typeface="Calibri" pitchFamily="34" charset="0"/>
                          <a:ea typeface="Calibri" pitchFamily="34" charset="-122"/>
                          <a:cs typeface="Calibri" pitchFamily="34" charset="-120"/>
                        </a:rPr>
                        <a:t>3.24</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buNone/>
                      </a:pP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Shape 5"/>
          <p:cNvSpPr/>
          <p:nvPr/>
        </p:nvSpPr>
        <p:spPr>
          <a:xfrm>
            <a:off x="8229600" y="2651760"/>
            <a:ext cx="0" cy="237744"/>
          </a:xfrm>
          <a:prstGeom prst="line">
            <a:avLst/>
          </a:prstGeom>
          <a:noFill/>
          <a:ln w="6350">
            <a:solidFill>
              <a:srgbClr val="D8D3C5"/>
            </a:solidFill>
            <a:prstDash val="solid"/>
          </a:ln>
        </p:spPr>
        <p:txBody>
          <a:bodyPr/>
          <a:lstStyle/>
          <a:p>
            <a:endParaRPr lang="en-US"/>
          </a:p>
        </p:txBody>
      </p:sp>
      <p:sp>
        <p:nvSpPr>
          <p:cNvPr id="9" name="Shape 6"/>
          <p:cNvSpPr/>
          <p:nvPr/>
        </p:nvSpPr>
        <p:spPr>
          <a:xfrm>
            <a:off x="8229600" y="3035808"/>
            <a:ext cx="0" cy="237744"/>
          </a:xfrm>
          <a:prstGeom prst="line">
            <a:avLst/>
          </a:prstGeom>
          <a:noFill/>
          <a:ln w="6350">
            <a:solidFill>
              <a:srgbClr val="D8D3C5"/>
            </a:solidFill>
            <a:prstDash val="solid"/>
          </a:ln>
        </p:spPr>
        <p:txBody>
          <a:bodyPr/>
          <a:lstStyle/>
          <a:p>
            <a:endParaRPr lang="en-US"/>
          </a:p>
        </p:txBody>
      </p:sp>
      <p:sp>
        <p:nvSpPr>
          <p:cNvPr id="10" name="Shape 7"/>
          <p:cNvSpPr/>
          <p:nvPr/>
        </p:nvSpPr>
        <p:spPr>
          <a:xfrm>
            <a:off x="8229600" y="3419856"/>
            <a:ext cx="0" cy="237744"/>
          </a:xfrm>
          <a:prstGeom prst="line">
            <a:avLst/>
          </a:prstGeom>
          <a:noFill/>
          <a:ln w="6350">
            <a:solidFill>
              <a:srgbClr val="D8D3C5"/>
            </a:solidFill>
            <a:prstDash val="solid"/>
          </a:ln>
        </p:spPr>
        <p:txBody>
          <a:bodyPr/>
          <a:lstStyle/>
          <a:p>
            <a:endParaRPr lang="en-US"/>
          </a:p>
        </p:txBody>
      </p:sp>
      <p:sp>
        <p:nvSpPr>
          <p:cNvPr id="11" name="Shape 8"/>
          <p:cNvSpPr/>
          <p:nvPr/>
        </p:nvSpPr>
        <p:spPr>
          <a:xfrm>
            <a:off x="8229600" y="3803904"/>
            <a:ext cx="0" cy="237744"/>
          </a:xfrm>
          <a:prstGeom prst="line">
            <a:avLst/>
          </a:prstGeom>
          <a:noFill/>
          <a:ln w="6350">
            <a:solidFill>
              <a:srgbClr val="D8D3C5"/>
            </a:solidFill>
            <a:prstDash val="solid"/>
          </a:ln>
        </p:spPr>
        <p:txBody>
          <a:bodyPr/>
          <a:lstStyle/>
          <a:p>
            <a:endParaRPr lang="en-US"/>
          </a:p>
        </p:txBody>
      </p:sp>
      <p:sp>
        <p:nvSpPr>
          <p:cNvPr id="12" name="Shape 9"/>
          <p:cNvSpPr/>
          <p:nvPr/>
        </p:nvSpPr>
        <p:spPr>
          <a:xfrm>
            <a:off x="8229600" y="4187952"/>
            <a:ext cx="0" cy="237744"/>
          </a:xfrm>
          <a:prstGeom prst="line">
            <a:avLst/>
          </a:prstGeom>
          <a:noFill/>
          <a:ln w="6350">
            <a:solidFill>
              <a:srgbClr val="D8D3C5"/>
            </a:solidFill>
            <a:prstDash val="solid"/>
          </a:ln>
        </p:spPr>
        <p:txBody>
          <a:bodyPr/>
          <a:lstStyle/>
          <a:p>
            <a:endParaRPr lang="en-US"/>
          </a:p>
        </p:txBody>
      </p:sp>
      <p:sp>
        <p:nvSpPr>
          <p:cNvPr id="13" name="Shape 10"/>
          <p:cNvSpPr/>
          <p:nvPr/>
        </p:nvSpPr>
        <p:spPr>
          <a:xfrm>
            <a:off x="8229600" y="4572000"/>
            <a:ext cx="0" cy="237744"/>
          </a:xfrm>
          <a:prstGeom prst="line">
            <a:avLst/>
          </a:prstGeom>
          <a:noFill/>
          <a:ln w="6350">
            <a:solidFill>
              <a:srgbClr val="D8D3C5"/>
            </a:solidFill>
            <a:prstDash val="solid"/>
          </a:ln>
        </p:spPr>
        <p:txBody>
          <a:bodyPr/>
          <a:lstStyle/>
          <a:p>
            <a:endParaRPr lang="en-US"/>
          </a:p>
        </p:txBody>
      </p:sp>
      <p:sp>
        <p:nvSpPr>
          <p:cNvPr id="14" name="Shape 11"/>
          <p:cNvSpPr/>
          <p:nvPr/>
        </p:nvSpPr>
        <p:spPr>
          <a:xfrm>
            <a:off x="8229600" y="4956048"/>
            <a:ext cx="0" cy="237744"/>
          </a:xfrm>
          <a:prstGeom prst="line">
            <a:avLst/>
          </a:prstGeom>
          <a:noFill/>
          <a:ln w="6350">
            <a:solidFill>
              <a:srgbClr val="D8D3C5"/>
            </a:solidFill>
            <a:prstDash val="solid"/>
          </a:ln>
        </p:spPr>
        <p:txBody>
          <a:bodyPr/>
          <a:lstStyle/>
          <a:p>
            <a:endParaRPr lang="en-US"/>
          </a:p>
        </p:txBody>
      </p:sp>
      <p:sp>
        <p:nvSpPr>
          <p:cNvPr id="15" name="Shape 12"/>
          <p:cNvSpPr/>
          <p:nvPr/>
        </p:nvSpPr>
        <p:spPr>
          <a:xfrm>
            <a:off x="8193024" y="2706624"/>
            <a:ext cx="73152" cy="128016"/>
          </a:xfrm>
          <a:prstGeom prst="rect">
            <a:avLst/>
          </a:prstGeom>
          <a:solidFill>
            <a:srgbClr val="888780"/>
          </a:solidFill>
          <a:ln w="12700">
            <a:solidFill>
              <a:srgbClr val="888780"/>
            </a:solidFill>
            <a:prstDash val="solid"/>
          </a:ln>
        </p:spPr>
        <p:txBody>
          <a:bodyPr/>
          <a:lstStyle/>
          <a:p>
            <a:endParaRPr lang="en-US"/>
          </a:p>
        </p:txBody>
      </p:sp>
      <p:sp>
        <p:nvSpPr>
          <p:cNvPr id="16" name="Shape 13"/>
          <p:cNvSpPr/>
          <p:nvPr/>
        </p:nvSpPr>
        <p:spPr>
          <a:xfrm>
            <a:off x="8229600" y="3090672"/>
            <a:ext cx="224028" cy="128016"/>
          </a:xfrm>
          <a:prstGeom prst="rect">
            <a:avLst/>
          </a:prstGeom>
          <a:solidFill>
            <a:srgbClr val="D85A30"/>
          </a:solidFill>
          <a:ln w="12700">
            <a:solidFill>
              <a:srgbClr val="D85A30"/>
            </a:solidFill>
            <a:prstDash val="solid"/>
          </a:ln>
        </p:spPr>
        <p:txBody>
          <a:bodyPr/>
          <a:lstStyle/>
          <a:p>
            <a:endParaRPr lang="en-US"/>
          </a:p>
        </p:txBody>
      </p:sp>
      <p:sp>
        <p:nvSpPr>
          <p:cNvPr id="17" name="Shape 14"/>
          <p:cNvSpPr/>
          <p:nvPr/>
        </p:nvSpPr>
        <p:spPr>
          <a:xfrm>
            <a:off x="8229600" y="3474720"/>
            <a:ext cx="800100" cy="128016"/>
          </a:xfrm>
          <a:prstGeom prst="rect">
            <a:avLst/>
          </a:prstGeom>
          <a:solidFill>
            <a:srgbClr val="D85A30"/>
          </a:solidFill>
          <a:ln w="12700">
            <a:solidFill>
              <a:srgbClr val="D85A30"/>
            </a:solidFill>
            <a:prstDash val="solid"/>
          </a:ln>
        </p:spPr>
        <p:txBody>
          <a:bodyPr/>
          <a:lstStyle/>
          <a:p>
            <a:endParaRPr lang="en-US"/>
          </a:p>
        </p:txBody>
      </p:sp>
      <p:sp>
        <p:nvSpPr>
          <p:cNvPr id="18" name="Shape 15"/>
          <p:cNvSpPr/>
          <p:nvPr/>
        </p:nvSpPr>
        <p:spPr>
          <a:xfrm>
            <a:off x="8229600" y="3858768"/>
            <a:ext cx="300838" cy="128016"/>
          </a:xfrm>
          <a:prstGeom prst="rect">
            <a:avLst/>
          </a:prstGeom>
          <a:solidFill>
            <a:srgbClr val="D85A30"/>
          </a:solidFill>
          <a:ln w="12700">
            <a:solidFill>
              <a:srgbClr val="D85A30"/>
            </a:solidFill>
            <a:prstDash val="solid"/>
          </a:ln>
        </p:spPr>
        <p:txBody>
          <a:bodyPr/>
          <a:lstStyle/>
          <a:p>
            <a:endParaRPr lang="en-US"/>
          </a:p>
        </p:txBody>
      </p:sp>
      <p:sp>
        <p:nvSpPr>
          <p:cNvPr id="19" name="Shape 16"/>
          <p:cNvSpPr/>
          <p:nvPr/>
        </p:nvSpPr>
        <p:spPr>
          <a:xfrm>
            <a:off x="8229600" y="4242816"/>
            <a:ext cx="659282" cy="128016"/>
          </a:xfrm>
          <a:prstGeom prst="rect">
            <a:avLst/>
          </a:prstGeom>
          <a:solidFill>
            <a:srgbClr val="D85A30"/>
          </a:solidFill>
          <a:ln w="12700">
            <a:solidFill>
              <a:srgbClr val="D85A30"/>
            </a:solidFill>
            <a:prstDash val="solid"/>
          </a:ln>
        </p:spPr>
        <p:txBody>
          <a:bodyPr/>
          <a:lstStyle/>
          <a:p>
            <a:endParaRPr lang="en-US"/>
          </a:p>
        </p:txBody>
      </p:sp>
      <p:sp>
        <p:nvSpPr>
          <p:cNvPr id="20" name="Shape 17"/>
          <p:cNvSpPr/>
          <p:nvPr/>
        </p:nvSpPr>
        <p:spPr>
          <a:xfrm>
            <a:off x="7653528" y="4626864"/>
            <a:ext cx="576072" cy="128016"/>
          </a:xfrm>
          <a:prstGeom prst="rect">
            <a:avLst/>
          </a:prstGeom>
          <a:solidFill>
            <a:srgbClr val="378ADD"/>
          </a:solidFill>
          <a:ln w="12700">
            <a:solidFill>
              <a:srgbClr val="378ADD"/>
            </a:solidFill>
            <a:prstDash val="solid"/>
          </a:ln>
        </p:spPr>
        <p:txBody>
          <a:bodyPr/>
          <a:lstStyle/>
          <a:p>
            <a:endParaRPr lang="en-US"/>
          </a:p>
        </p:txBody>
      </p:sp>
      <p:sp>
        <p:nvSpPr>
          <p:cNvPr id="21" name="Shape 18"/>
          <p:cNvSpPr/>
          <p:nvPr/>
        </p:nvSpPr>
        <p:spPr>
          <a:xfrm>
            <a:off x="8229600" y="5010912"/>
            <a:ext cx="2073859" cy="128016"/>
          </a:xfrm>
          <a:prstGeom prst="rect">
            <a:avLst/>
          </a:prstGeom>
          <a:solidFill>
            <a:srgbClr val="D85A30"/>
          </a:solidFill>
          <a:ln w="12700">
            <a:solidFill>
              <a:srgbClr val="D85A30"/>
            </a:solidFill>
            <a:prstDash val="solid"/>
          </a:ln>
        </p:spPr>
        <p:txBody>
          <a:bodyPr/>
          <a:lstStyle/>
          <a:p>
            <a:endParaRPr lang="en-US"/>
          </a:p>
        </p:txBody>
      </p:sp>
      <p:sp>
        <p:nvSpPr>
          <p:cNvPr id="22" name="Shape 19"/>
          <p:cNvSpPr/>
          <p:nvPr/>
        </p:nvSpPr>
        <p:spPr>
          <a:xfrm>
            <a:off x="7680960" y="5404104"/>
            <a:ext cx="164592" cy="91440"/>
          </a:xfrm>
          <a:prstGeom prst="rect">
            <a:avLst/>
          </a:prstGeom>
          <a:solidFill>
            <a:srgbClr val="D85A30"/>
          </a:solidFill>
          <a:ln w="12700">
            <a:solidFill>
              <a:srgbClr val="D85A30"/>
            </a:solidFill>
            <a:prstDash val="solid"/>
          </a:ln>
        </p:spPr>
        <p:txBody>
          <a:bodyPr/>
          <a:lstStyle/>
          <a:p>
            <a:endParaRPr lang="en-US"/>
          </a:p>
        </p:txBody>
      </p:sp>
      <p:sp>
        <p:nvSpPr>
          <p:cNvPr id="23" name="Text 20"/>
          <p:cNvSpPr/>
          <p:nvPr/>
        </p:nvSpPr>
        <p:spPr>
          <a:xfrm>
            <a:off x="7882128" y="5358384"/>
            <a:ext cx="914400" cy="182880"/>
          </a:xfrm>
          <a:prstGeom prst="rect">
            <a:avLst/>
          </a:prstGeom>
          <a:noFill/>
          <a:ln/>
        </p:spPr>
        <p:txBody>
          <a:bodyPr wrap="square" lIns="0" tIns="0" rIns="0" bIns="0" rtlCol="0" anchor="ctr"/>
          <a:lstStyle/>
          <a:p>
            <a:pPr marL="0" indent="0">
              <a:buNone/>
            </a:pPr>
            <a:r>
              <a:rPr lang="en-US" sz="900" dirty="0">
                <a:solidFill>
                  <a:srgbClr val="888780"/>
                </a:solidFill>
                <a:latin typeface="Calibri" pitchFamily="34" charset="0"/>
                <a:ea typeface="Calibri" pitchFamily="34" charset="-122"/>
                <a:cs typeface="Calibri" pitchFamily="34" charset="-120"/>
              </a:rPr>
              <a:t>Right skew</a:t>
            </a:r>
            <a:endParaRPr lang="en-US" sz="900" dirty="0"/>
          </a:p>
        </p:txBody>
      </p:sp>
      <p:sp>
        <p:nvSpPr>
          <p:cNvPr id="24" name="Shape 21"/>
          <p:cNvSpPr/>
          <p:nvPr/>
        </p:nvSpPr>
        <p:spPr>
          <a:xfrm>
            <a:off x="8869680" y="5404104"/>
            <a:ext cx="164592" cy="91440"/>
          </a:xfrm>
          <a:prstGeom prst="rect">
            <a:avLst/>
          </a:prstGeom>
          <a:solidFill>
            <a:srgbClr val="378ADD"/>
          </a:solidFill>
          <a:ln w="12700">
            <a:solidFill>
              <a:srgbClr val="378ADD"/>
            </a:solidFill>
            <a:prstDash val="solid"/>
          </a:ln>
        </p:spPr>
        <p:txBody>
          <a:bodyPr/>
          <a:lstStyle/>
          <a:p>
            <a:endParaRPr lang="en-US"/>
          </a:p>
        </p:txBody>
      </p:sp>
      <p:sp>
        <p:nvSpPr>
          <p:cNvPr id="25" name="Text 22"/>
          <p:cNvSpPr/>
          <p:nvPr/>
        </p:nvSpPr>
        <p:spPr>
          <a:xfrm>
            <a:off x="9070848" y="5358384"/>
            <a:ext cx="914400" cy="182880"/>
          </a:xfrm>
          <a:prstGeom prst="rect">
            <a:avLst/>
          </a:prstGeom>
          <a:noFill/>
          <a:ln/>
        </p:spPr>
        <p:txBody>
          <a:bodyPr wrap="square" lIns="0" tIns="0" rIns="0" bIns="0" rtlCol="0" anchor="ctr"/>
          <a:lstStyle/>
          <a:p>
            <a:pPr marL="0" indent="0">
              <a:buNone/>
            </a:pPr>
            <a:r>
              <a:rPr lang="en-US" sz="900" dirty="0">
                <a:solidFill>
                  <a:srgbClr val="888780"/>
                </a:solidFill>
                <a:latin typeface="Calibri" pitchFamily="34" charset="0"/>
                <a:ea typeface="Calibri" pitchFamily="34" charset="-122"/>
                <a:cs typeface="Calibri" pitchFamily="34" charset="-120"/>
              </a:rPr>
              <a:t>Left skew</a:t>
            </a:r>
            <a:endParaRPr lang="en-US" sz="900" dirty="0"/>
          </a:p>
        </p:txBody>
      </p:sp>
      <p:sp>
        <p:nvSpPr>
          <p:cNvPr id="26" name="Shape 23"/>
          <p:cNvSpPr/>
          <p:nvPr/>
        </p:nvSpPr>
        <p:spPr>
          <a:xfrm>
            <a:off x="10058400" y="5404104"/>
            <a:ext cx="164592" cy="91440"/>
          </a:xfrm>
          <a:prstGeom prst="rect">
            <a:avLst/>
          </a:prstGeom>
          <a:solidFill>
            <a:srgbClr val="888780"/>
          </a:solidFill>
          <a:ln w="12700">
            <a:solidFill>
              <a:srgbClr val="888780"/>
            </a:solidFill>
            <a:prstDash val="solid"/>
          </a:ln>
        </p:spPr>
        <p:txBody>
          <a:bodyPr/>
          <a:lstStyle/>
          <a:p>
            <a:endParaRPr lang="en-US"/>
          </a:p>
        </p:txBody>
      </p:sp>
      <p:sp>
        <p:nvSpPr>
          <p:cNvPr id="27" name="Text 24"/>
          <p:cNvSpPr/>
          <p:nvPr/>
        </p:nvSpPr>
        <p:spPr>
          <a:xfrm>
            <a:off x="10259568" y="5358384"/>
            <a:ext cx="914400" cy="182880"/>
          </a:xfrm>
          <a:prstGeom prst="rect">
            <a:avLst/>
          </a:prstGeom>
          <a:noFill/>
          <a:ln/>
        </p:spPr>
        <p:txBody>
          <a:bodyPr wrap="square" lIns="0" tIns="0" rIns="0" bIns="0" rtlCol="0" anchor="ctr"/>
          <a:lstStyle/>
          <a:p>
            <a:pPr marL="0" indent="0">
              <a:buNone/>
            </a:pPr>
            <a:r>
              <a:rPr lang="en-US" sz="900" dirty="0">
                <a:solidFill>
                  <a:srgbClr val="888780"/>
                </a:solidFill>
                <a:latin typeface="Calibri" pitchFamily="34" charset="0"/>
                <a:ea typeface="Calibri" pitchFamily="34" charset="-122"/>
                <a:cs typeface="Calibri" pitchFamily="34" charset="-120"/>
              </a:rPr>
              <a:t>Symmetric</a:t>
            </a:r>
            <a:endParaRPr lang="en-US" sz="900" dirty="0"/>
          </a:p>
        </p:txBody>
      </p:sp>
      <p:sp>
        <p:nvSpPr>
          <p:cNvPr id="28" name="Shape 25"/>
          <p:cNvSpPr/>
          <p:nvPr/>
        </p:nvSpPr>
        <p:spPr>
          <a:xfrm>
            <a:off x="548640" y="5852160"/>
            <a:ext cx="11064240" cy="640080"/>
          </a:xfrm>
          <a:prstGeom prst="rect">
            <a:avLst/>
          </a:prstGeom>
          <a:solidFill>
            <a:srgbClr val="F4F1E8"/>
          </a:solidFill>
          <a:ln w="12700">
            <a:solidFill>
              <a:srgbClr val="F4F1E8"/>
            </a:solidFill>
            <a:prstDash val="solid"/>
          </a:ln>
        </p:spPr>
        <p:txBody>
          <a:bodyPr/>
          <a:lstStyle/>
          <a:p>
            <a:endParaRPr lang="en-US"/>
          </a:p>
        </p:txBody>
      </p:sp>
      <p:sp>
        <p:nvSpPr>
          <p:cNvPr id="29" name="Shape 26"/>
          <p:cNvSpPr/>
          <p:nvPr/>
        </p:nvSpPr>
        <p:spPr>
          <a:xfrm>
            <a:off x="548640" y="5852160"/>
            <a:ext cx="45720" cy="640080"/>
          </a:xfrm>
          <a:prstGeom prst="rect">
            <a:avLst/>
          </a:prstGeom>
          <a:solidFill>
            <a:srgbClr val="D85A30"/>
          </a:solidFill>
          <a:ln w="12700">
            <a:solidFill>
              <a:srgbClr val="D85A30"/>
            </a:solidFill>
            <a:prstDash val="solid"/>
          </a:ln>
        </p:spPr>
        <p:txBody>
          <a:bodyPr/>
          <a:lstStyle/>
          <a:p>
            <a:endParaRPr lang="en-US"/>
          </a:p>
        </p:txBody>
      </p:sp>
      <p:sp>
        <p:nvSpPr>
          <p:cNvPr id="30" name="Text 27"/>
          <p:cNvSpPr/>
          <p:nvPr/>
        </p:nvSpPr>
        <p:spPr>
          <a:xfrm>
            <a:off x="731520" y="5897880"/>
            <a:ext cx="10789920" cy="54864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HbA1c is heavily right-skewed (3.24) — a subset with very high glucose. BMI and systolic BP show moderate right skew. Variables span very different scales, motivating z-score standardization before clustering.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EDA · DISTRIBUTIONS &amp; OUTLIERS</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04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Skew patterns drive imputation strategy</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Three variables (BMI, sys_bp, HbA1c) show heavy right tails with outliers.</a:t>
            </a:r>
            <a:endParaRPr lang="en-US" sz="1400" dirty="0"/>
          </a:p>
        </p:txBody>
      </p:sp>
      <p:sp>
        <p:nvSpPr>
          <p:cNvPr id="7" name="Shape 5"/>
          <p:cNvSpPr/>
          <p:nvPr/>
        </p:nvSpPr>
        <p:spPr>
          <a:xfrm>
            <a:off x="548640" y="2286000"/>
            <a:ext cx="3566160" cy="3108960"/>
          </a:xfrm>
          <a:prstGeom prst="rect">
            <a:avLst/>
          </a:prstGeom>
          <a:solidFill>
            <a:srgbClr val="F4F1E8"/>
          </a:solidFill>
          <a:ln w="12700">
            <a:solidFill>
              <a:srgbClr val="F4F1E8"/>
            </a:solidFill>
            <a:prstDash val="solid"/>
          </a:ln>
        </p:spPr>
        <p:txBody>
          <a:bodyPr/>
          <a:lstStyle/>
          <a:p>
            <a:endParaRPr lang="en-US"/>
          </a:p>
        </p:txBody>
      </p:sp>
      <p:sp>
        <p:nvSpPr>
          <p:cNvPr id="8" name="Text 6"/>
          <p:cNvSpPr/>
          <p:nvPr/>
        </p:nvSpPr>
        <p:spPr>
          <a:xfrm>
            <a:off x="777240" y="2468880"/>
            <a:ext cx="3108960" cy="365760"/>
          </a:xfrm>
          <a:prstGeom prst="rect">
            <a:avLst/>
          </a:prstGeom>
          <a:noFill/>
          <a:ln/>
        </p:spPr>
        <p:txBody>
          <a:bodyPr wrap="square" lIns="0" tIns="0" rIns="0" bIns="0" rtlCol="0" anchor="ctr"/>
          <a:lstStyle/>
          <a:p>
            <a:pPr marL="0" indent="0">
              <a:buNone/>
            </a:pPr>
            <a:r>
              <a:rPr lang="en-US" sz="1800" b="1" dirty="0">
                <a:solidFill>
                  <a:srgbClr val="D85A30"/>
                </a:solidFill>
                <a:latin typeface="Georgia" pitchFamily="34" charset="0"/>
                <a:ea typeface="Georgia" pitchFamily="34" charset="-122"/>
                <a:cs typeface="Georgia" pitchFamily="34" charset="-120"/>
              </a:rPr>
              <a:t>Right-skewed</a:t>
            </a:r>
            <a:endParaRPr lang="en-US" sz="1800" dirty="0"/>
          </a:p>
        </p:txBody>
      </p:sp>
      <p:sp>
        <p:nvSpPr>
          <p:cNvPr id="9" name="Text 7"/>
          <p:cNvSpPr/>
          <p:nvPr/>
        </p:nvSpPr>
        <p:spPr>
          <a:xfrm>
            <a:off x="777240" y="2880360"/>
            <a:ext cx="3108960" cy="274320"/>
          </a:xfrm>
          <a:prstGeom prst="rect">
            <a:avLst/>
          </a:prstGeom>
          <a:noFill/>
          <a:ln/>
        </p:spPr>
        <p:txBody>
          <a:bodyPr wrap="square" lIns="0" tIns="0" rIns="0" bIns="0" rtlCol="0" anchor="ctr"/>
          <a:lstStyle/>
          <a:p>
            <a:pPr marL="0" indent="0">
              <a:buNone/>
            </a:pPr>
            <a:r>
              <a:rPr lang="en-US" sz="1200" dirty="0">
                <a:solidFill>
                  <a:srgbClr val="888780"/>
                </a:solidFill>
                <a:latin typeface="Consolas" pitchFamily="34" charset="0"/>
                <a:ea typeface="Consolas" pitchFamily="34" charset="-122"/>
                <a:cs typeface="Consolas" pitchFamily="34" charset="-120"/>
              </a:rPr>
              <a:t>BMI, sys_bp, HbA1c</a:t>
            </a:r>
            <a:endParaRPr lang="en-US" sz="1200" dirty="0"/>
          </a:p>
        </p:txBody>
      </p:sp>
      <p:sp>
        <p:nvSpPr>
          <p:cNvPr id="10" name="Shape 8"/>
          <p:cNvSpPr/>
          <p:nvPr/>
        </p:nvSpPr>
        <p:spPr>
          <a:xfrm>
            <a:off x="777240" y="4709160"/>
            <a:ext cx="274320" cy="137160"/>
          </a:xfrm>
          <a:prstGeom prst="rect">
            <a:avLst/>
          </a:prstGeom>
          <a:solidFill>
            <a:srgbClr val="D85A30">
              <a:alpha val="75000"/>
            </a:srgbClr>
          </a:solidFill>
          <a:ln w="12700">
            <a:solidFill>
              <a:srgbClr val="D85A30"/>
            </a:solidFill>
            <a:prstDash val="solid"/>
          </a:ln>
        </p:spPr>
        <p:txBody>
          <a:bodyPr/>
          <a:lstStyle/>
          <a:p>
            <a:endParaRPr lang="en-US"/>
          </a:p>
        </p:txBody>
      </p:sp>
      <p:sp>
        <p:nvSpPr>
          <p:cNvPr id="11" name="Shape 9"/>
          <p:cNvSpPr/>
          <p:nvPr/>
        </p:nvSpPr>
        <p:spPr>
          <a:xfrm>
            <a:off x="1088136" y="4251960"/>
            <a:ext cx="274320" cy="594360"/>
          </a:xfrm>
          <a:prstGeom prst="rect">
            <a:avLst/>
          </a:prstGeom>
          <a:solidFill>
            <a:srgbClr val="D85A30">
              <a:alpha val="75000"/>
            </a:srgbClr>
          </a:solidFill>
          <a:ln w="12700">
            <a:solidFill>
              <a:srgbClr val="D85A30"/>
            </a:solidFill>
            <a:prstDash val="solid"/>
          </a:ln>
        </p:spPr>
        <p:txBody>
          <a:bodyPr/>
          <a:lstStyle/>
          <a:p>
            <a:endParaRPr lang="en-US"/>
          </a:p>
        </p:txBody>
      </p:sp>
      <p:sp>
        <p:nvSpPr>
          <p:cNvPr id="12" name="Shape 10"/>
          <p:cNvSpPr/>
          <p:nvPr/>
        </p:nvSpPr>
        <p:spPr>
          <a:xfrm>
            <a:off x="1399032" y="3566160"/>
            <a:ext cx="274320" cy="1280160"/>
          </a:xfrm>
          <a:prstGeom prst="rect">
            <a:avLst/>
          </a:prstGeom>
          <a:solidFill>
            <a:srgbClr val="D85A30">
              <a:alpha val="75000"/>
            </a:srgbClr>
          </a:solidFill>
          <a:ln w="12700">
            <a:solidFill>
              <a:srgbClr val="D85A30"/>
            </a:solidFill>
            <a:prstDash val="solid"/>
          </a:ln>
        </p:spPr>
        <p:txBody>
          <a:bodyPr/>
          <a:lstStyle/>
          <a:p>
            <a:endParaRPr lang="en-US"/>
          </a:p>
        </p:txBody>
      </p:sp>
      <p:sp>
        <p:nvSpPr>
          <p:cNvPr id="13" name="Shape 11"/>
          <p:cNvSpPr/>
          <p:nvPr/>
        </p:nvSpPr>
        <p:spPr>
          <a:xfrm>
            <a:off x="1709928" y="3840480"/>
            <a:ext cx="274320" cy="1005840"/>
          </a:xfrm>
          <a:prstGeom prst="rect">
            <a:avLst/>
          </a:prstGeom>
          <a:solidFill>
            <a:srgbClr val="D85A30">
              <a:alpha val="75000"/>
            </a:srgbClr>
          </a:solidFill>
          <a:ln w="12700">
            <a:solidFill>
              <a:srgbClr val="D85A30"/>
            </a:solidFill>
            <a:prstDash val="solid"/>
          </a:ln>
        </p:spPr>
        <p:txBody>
          <a:bodyPr/>
          <a:lstStyle/>
          <a:p>
            <a:endParaRPr lang="en-US"/>
          </a:p>
        </p:txBody>
      </p:sp>
      <p:sp>
        <p:nvSpPr>
          <p:cNvPr id="14" name="Shape 12"/>
          <p:cNvSpPr/>
          <p:nvPr/>
        </p:nvSpPr>
        <p:spPr>
          <a:xfrm>
            <a:off x="2020824" y="4206240"/>
            <a:ext cx="274320" cy="640080"/>
          </a:xfrm>
          <a:prstGeom prst="rect">
            <a:avLst/>
          </a:prstGeom>
          <a:solidFill>
            <a:srgbClr val="D85A30">
              <a:alpha val="75000"/>
            </a:srgbClr>
          </a:solidFill>
          <a:ln w="12700">
            <a:solidFill>
              <a:srgbClr val="D85A30"/>
            </a:solidFill>
            <a:prstDash val="solid"/>
          </a:ln>
        </p:spPr>
        <p:txBody>
          <a:bodyPr/>
          <a:lstStyle/>
          <a:p>
            <a:endParaRPr lang="en-US"/>
          </a:p>
        </p:txBody>
      </p:sp>
      <p:sp>
        <p:nvSpPr>
          <p:cNvPr id="15" name="Shape 13"/>
          <p:cNvSpPr/>
          <p:nvPr/>
        </p:nvSpPr>
        <p:spPr>
          <a:xfrm>
            <a:off x="2331720" y="4480560"/>
            <a:ext cx="274320" cy="365760"/>
          </a:xfrm>
          <a:prstGeom prst="rect">
            <a:avLst/>
          </a:prstGeom>
          <a:solidFill>
            <a:srgbClr val="D85A30">
              <a:alpha val="75000"/>
            </a:srgbClr>
          </a:solidFill>
          <a:ln w="12700">
            <a:solidFill>
              <a:srgbClr val="D85A30"/>
            </a:solidFill>
            <a:prstDash val="solid"/>
          </a:ln>
        </p:spPr>
        <p:txBody>
          <a:bodyPr/>
          <a:lstStyle/>
          <a:p>
            <a:endParaRPr lang="en-US"/>
          </a:p>
        </p:txBody>
      </p:sp>
      <p:sp>
        <p:nvSpPr>
          <p:cNvPr id="16" name="Shape 14"/>
          <p:cNvSpPr/>
          <p:nvPr/>
        </p:nvSpPr>
        <p:spPr>
          <a:xfrm>
            <a:off x="2642616" y="4617720"/>
            <a:ext cx="274320" cy="228600"/>
          </a:xfrm>
          <a:prstGeom prst="rect">
            <a:avLst/>
          </a:prstGeom>
          <a:solidFill>
            <a:srgbClr val="D85A30">
              <a:alpha val="75000"/>
            </a:srgbClr>
          </a:solidFill>
          <a:ln w="12700">
            <a:solidFill>
              <a:srgbClr val="D85A30"/>
            </a:solidFill>
            <a:prstDash val="solid"/>
          </a:ln>
        </p:spPr>
        <p:txBody>
          <a:bodyPr/>
          <a:lstStyle/>
          <a:p>
            <a:endParaRPr lang="en-US"/>
          </a:p>
        </p:txBody>
      </p:sp>
      <p:sp>
        <p:nvSpPr>
          <p:cNvPr id="17" name="Shape 15"/>
          <p:cNvSpPr/>
          <p:nvPr/>
        </p:nvSpPr>
        <p:spPr>
          <a:xfrm>
            <a:off x="2953512" y="4709160"/>
            <a:ext cx="274320" cy="137160"/>
          </a:xfrm>
          <a:prstGeom prst="rect">
            <a:avLst/>
          </a:prstGeom>
          <a:solidFill>
            <a:srgbClr val="D85A30">
              <a:alpha val="75000"/>
            </a:srgbClr>
          </a:solidFill>
          <a:ln w="12700">
            <a:solidFill>
              <a:srgbClr val="D85A30"/>
            </a:solidFill>
            <a:prstDash val="solid"/>
          </a:ln>
        </p:spPr>
        <p:txBody>
          <a:bodyPr/>
          <a:lstStyle/>
          <a:p>
            <a:endParaRPr lang="en-US"/>
          </a:p>
        </p:txBody>
      </p:sp>
      <p:sp>
        <p:nvSpPr>
          <p:cNvPr id="18" name="Shape 16"/>
          <p:cNvSpPr/>
          <p:nvPr/>
        </p:nvSpPr>
        <p:spPr>
          <a:xfrm>
            <a:off x="3264408" y="4754880"/>
            <a:ext cx="274320" cy="91440"/>
          </a:xfrm>
          <a:prstGeom prst="rect">
            <a:avLst/>
          </a:prstGeom>
          <a:solidFill>
            <a:srgbClr val="D85A30">
              <a:alpha val="75000"/>
            </a:srgbClr>
          </a:solidFill>
          <a:ln w="12700">
            <a:solidFill>
              <a:srgbClr val="D85A30"/>
            </a:solidFill>
            <a:prstDash val="solid"/>
          </a:ln>
        </p:spPr>
        <p:txBody>
          <a:bodyPr/>
          <a:lstStyle/>
          <a:p>
            <a:endParaRPr lang="en-US"/>
          </a:p>
        </p:txBody>
      </p:sp>
      <p:sp>
        <p:nvSpPr>
          <p:cNvPr id="19" name="Shape 17"/>
          <p:cNvSpPr/>
          <p:nvPr/>
        </p:nvSpPr>
        <p:spPr>
          <a:xfrm>
            <a:off x="3575304" y="4800600"/>
            <a:ext cx="274320" cy="45720"/>
          </a:xfrm>
          <a:prstGeom prst="rect">
            <a:avLst/>
          </a:prstGeom>
          <a:solidFill>
            <a:srgbClr val="D85A30">
              <a:alpha val="75000"/>
            </a:srgbClr>
          </a:solidFill>
          <a:ln w="12700">
            <a:solidFill>
              <a:srgbClr val="D85A30"/>
            </a:solidFill>
            <a:prstDash val="solid"/>
          </a:ln>
        </p:spPr>
        <p:txBody>
          <a:bodyPr/>
          <a:lstStyle/>
          <a:p>
            <a:endParaRPr lang="en-US"/>
          </a:p>
        </p:txBody>
      </p:sp>
      <p:sp>
        <p:nvSpPr>
          <p:cNvPr id="20" name="Text 18"/>
          <p:cNvSpPr/>
          <p:nvPr/>
        </p:nvSpPr>
        <p:spPr>
          <a:xfrm>
            <a:off x="777240" y="4937760"/>
            <a:ext cx="3108960" cy="274320"/>
          </a:xfrm>
          <a:prstGeom prst="rect">
            <a:avLst/>
          </a:prstGeom>
          <a:noFill/>
          <a:ln/>
        </p:spPr>
        <p:txBody>
          <a:bodyPr wrap="square" lIns="0" tIns="0" rIns="0" bIns="0" rtlCol="0" anchor="ctr"/>
          <a:lstStyle/>
          <a:p>
            <a:pPr marL="0" indent="0" algn="ctr">
              <a:buNone/>
            </a:pPr>
            <a:r>
              <a:rPr lang="en-US" sz="1100" i="1" dirty="0">
                <a:solidFill>
                  <a:srgbClr val="888780"/>
                </a:solidFill>
                <a:latin typeface="Calibri" pitchFamily="34" charset="0"/>
                <a:ea typeface="Calibri" pitchFamily="34" charset="-122"/>
                <a:cs typeface="Calibri" pitchFamily="34" charset="-120"/>
              </a:rPr>
              <a:t>Tail extends right →</a:t>
            </a:r>
            <a:endParaRPr lang="en-US" sz="1100" dirty="0"/>
          </a:p>
        </p:txBody>
      </p:sp>
      <p:sp>
        <p:nvSpPr>
          <p:cNvPr id="21" name="Shape 19"/>
          <p:cNvSpPr/>
          <p:nvPr/>
        </p:nvSpPr>
        <p:spPr>
          <a:xfrm>
            <a:off x="4389120" y="2286000"/>
            <a:ext cx="3566160" cy="3108960"/>
          </a:xfrm>
          <a:prstGeom prst="rect">
            <a:avLst/>
          </a:prstGeom>
          <a:solidFill>
            <a:srgbClr val="F4F1E8"/>
          </a:solidFill>
          <a:ln w="12700">
            <a:solidFill>
              <a:srgbClr val="F4F1E8"/>
            </a:solidFill>
            <a:prstDash val="solid"/>
          </a:ln>
        </p:spPr>
        <p:txBody>
          <a:bodyPr/>
          <a:lstStyle/>
          <a:p>
            <a:endParaRPr lang="en-US"/>
          </a:p>
        </p:txBody>
      </p:sp>
      <p:sp>
        <p:nvSpPr>
          <p:cNvPr id="22" name="Text 20"/>
          <p:cNvSpPr/>
          <p:nvPr/>
        </p:nvSpPr>
        <p:spPr>
          <a:xfrm>
            <a:off x="4617720" y="2468880"/>
            <a:ext cx="3108960" cy="365760"/>
          </a:xfrm>
          <a:prstGeom prst="rect">
            <a:avLst/>
          </a:prstGeom>
          <a:noFill/>
          <a:ln/>
        </p:spPr>
        <p:txBody>
          <a:bodyPr wrap="square" lIns="0" tIns="0" rIns="0" bIns="0" rtlCol="0" anchor="ctr"/>
          <a:lstStyle/>
          <a:p>
            <a:pPr marL="0" indent="0">
              <a:buNone/>
            </a:pPr>
            <a:r>
              <a:rPr lang="en-US" sz="1800" b="1" dirty="0">
                <a:solidFill>
                  <a:srgbClr val="378ADD"/>
                </a:solidFill>
                <a:latin typeface="Georgia" pitchFamily="34" charset="0"/>
                <a:ea typeface="Georgia" pitchFamily="34" charset="-122"/>
                <a:cs typeface="Georgia" pitchFamily="34" charset="-120"/>
              </a:rPr>
              <a:t>Left-skewed</a:t>
            </a:r>
            <a:endParaRPr lang="en-US" sz="1800" dirty="0"/>
          </a:p>
        </p:txBody>
      </p:sp>
      <p:sp>
        <p:nvSpPr>
          <p:cNvPr id="23" name="Text 21"/>
          <p:cNvSpPr/>
          <p:nvPr/>
        </p:nvSpPr>
        <p:spPr>
          <a:xfrm>
            <a:off x="4617720" y="2880360"/>
            <a:ext cx="3108960" cy="274320"/>
          </a:xfrm>
          <a:prstGeom prst="rect">
            <a:avLst/>
          </a:prstGeom>
          <a:noFill/>
          <a:ln/>
        </p:spPr>
        <p:txBody>
          <a:bodyPr wrap="square" lIns="0" tIns="0" rIns="0" bIns="0" rtlCol="0" anchor="ctr"/>
          <a:lstStyle/>
          <a:p>
            <a:pPr marL="0" indent="0">
              <a:buNone/>
            </a:pPr>
            <a:r>
              <a:rPr lang="en-US" sz="1200" dirty="0">
                <a:solidFill>
                  <a:srgbClr val="888780"/>
                </a:solidFill>
                <a:latin typeface="Consolas" pitchFamily="34" charset="0"/>
                <a:ea typeface="Consolas" pitchFamily="34" charset="-122"/>
                <a:cs typeface="Consolas" pitchFamily="34" charset="-120"/>
              </a:rPr>
              <a:t>dia_bp</a:t>
            </a:r>
            <a:endParaRPr lang="en-US" sz="1200" dirty="0"/>
          </a:p>
        </p:txBody>
      </p:sp>
      <p:sp>
        <p:nvSpPr>
          <p:cNvPr id="24" name="Shape 22"/>
          <p:cNvSpPr/>
          <p:nvPr/>
        </p:nvSpPr>
        <p:spPr>
          <a:xfrm>
            <a:off x="4617720" y="4800600"/>
            <a:ext cx="274320" cy="45720"/>
          </a:xfrm>
          <a:prstGeom prst="rect">
            <a:avLst/>
          </a:prstGeom>
          <a:solidFill>
            <a:srgbClr val="378ADD">
              <a:alpha val="75000"/>
            </a:srgbClr>
          </a:solidFill>
          <a:ln w="12700">
            <a:solidFill>
              <a:srgbClr val="378ADD"/>
            </a:solidFill>
            <a:prstDash val="solid"/>
          </a:ln>
        </p:spPr>
        <p:txBody>
          <a:bodyPr/>
          <a:lstStyle/>
          <a:p>
            <a:endParaRPr lang="en-US"/>
          </a:p>
        </p:txBody>
      </p:sp>
      <p:sp>
        <p:nvSpPr>
          <p:cNvPr id="25" name="Shape 23"/>
          <p:cNvSpPr/>
          <p:nvPr/>
        </p:nvSpPr>
        <p:spPr>
          <a:xfrm>
            <a:off x="4928616" y="4754880"/>
            <a:ext cx="274320" cy="91440"/>
          </a:xfrm>
          <a:prstGeom prst="rect">
            <a:avLst/>
          </a:prstGeom>
          <a:solidFill>
            <a:srgbClr val="378ADD">
              <a:alpha val="75000"/>
            </a:srgbClr>
          </a:solidFill>
          <a:ln w="12700">
            <a:solidFill>
              <a:srgbClr val="378ADD"/>
            </a:solidFill>
            <a:prstDash val="solid"/>
          </a:ln>
        </p:spPr>
        <p:txBody>
          <a:bodyPr/>
          <a:lstStyle/>
          <a:p>
            <a:endParaRPr lang="en-US"/>
          </a:p>
        </p:txBody>
      </p:sp>
      <p:sp>
        <p:nvSpPr>
          <p:cNvPr id="26" name="Shape 24"/>
          <p:cNvSpPr/>
          <p:nvPr/>
        </p:nvSpPr>
        <p:spPr>
          <a:xfrm>
            <a:off x="5239512" y="4709160"/>
            <a:ext cx="274320" cy="137160"/>
          </a:xfrm>
          <a:prstGeom prst="rect">
            <a:avLst/>
          </a:prstGeom>
          <a:solidFill>
            <a:srgbClr val="378ADD">
              <a:alpha val="75000"/>
            </a:srgbClr>
          </a:solidFill>
          <a:ln w="12700">
            <a:solidFill>
              <a:srgbClr val="378ADD"/>
            </a:solidFill>
            <a:prstDash val="solid"/>
          </a:ln>
        </p:spPr>
        <p:txBody>
          <a:bodyPr/>
          <a:lstStyle/>
          <a:p>
            <a:endParaRPr lang="en-US"/>
          </a:p>
        </p:txBody>
      </p:sp>
      <p:sp>
        <p:nvSpPr>
          <p:cNvPr id="27" name="Shape 25"/>
          <p:cNvSpPr/>
          <p:nvPr/>
        </p:nvSpPr>
        <p:spPr>
          <a:xfrm>
            <a:off x="5550408" y="4617720"/>
            <a:ext cx="274320" cy="228600"/>
          </a:xfrm>
          <a:prstGeom prst="rect">
            <a:avLst/>
          </a:prstGeom>
          <a:solidFill>
            <a:srgbClr val="378ADD">
              <a:alpha val="75000"/>
            </a:srgbClr>
          </a:solidFill>
          <a:ln w="12700">
            <a:solidFill>
              <a:srgbClr val="378ADD"/>
            </a:solidFill>
            <a:prstDash val="solid"/>
          </a:ln>
        </p:spPr>
        <p:txBody>
          <a:bodyPr/>
          <a:lstStyle/>
          <a:p>
            <a:endParaRPr lang="en-US"/>
          </a:p>
        </p:txBody>
      </p:sp>
      <p:sp>
        <p:nvSpPr>
          <p:cNvPr id="28" name="Shape 26"/>
          <p:cNvSpPr/>
          <p:nvPr/>
        </p:nvSpPr>
        <p:spPr>
          <a:xfrm>
            <a:off x="5861304" y="4480560"/>
            <a:ext cx="274320" cy="365760"/>
          </a:xfrm>
          <a:prstGeom prst="rect">
            <a:avLst/>
          </a:prstGeom>
          <a:solidFill>
            <a:srgbClr val="378ADD">
              <a:alpha val="75000"/>
            </a:srgbClr>
          </a:solidFill>
          <a:ln w="12700">
            <a:solidFill>
              <a:srgbClr val="378ADD"/>
            </a:solidFill>
            <a:prstDash val="solid"/>
          </a:ln>
        </p:spPr>
        <p:txBody>
          <a:bodyPr/>
          <a:lstStyle/>
          <a:p>
            <a:endParaRPr lang="en-US"/>
          </a:p>
        </p:txBody>
      </p:sp>
      <p:sp>
        <p:nvSpPr>
          <p:cNvPr id="29" name="Shape 27"/>
          <p:cNvSpPr/>
          <p:nvPr/>
        </p:nvSpPr>
        <p:spPr>
          <a:xfrm>
            <a:off x="6172200" y="4206240"/>
            <a:ext cx="274320" cy="640080"/>
          </a:xfrm>
          <a:prstGeom prst="rect">
            <a:avLst/>
          </a:prstGeom>
          <a:solidFill>
            <a:srgbClr val="378ADD">
              <a:alpha val="75000"/>
            </a:srgbClr>
          </a:solidFill>
          <a:ln w="12700">
            <a:solidFill>
              <a:srgbClr val="378ADD"/>
            </a:solidFill>
            <a:prstDash val="solid"/>
          </a:ln>
        </p:spPr>
        <p:txBody>
          <a:bodyPr/>
          <a:lstStyle/>
          <a:p>
            <a:endParaRPr lang="en-US"/>
          </a:p>
        </p:txBody>
      </p:sp>
      <p:sp>
        <p:nvSpPr>
          <p:cNvPr id="30" name="Shape 28"/>
          <p:cNvSpPr/>
          <p:nvPr/>
        </p:nvSpPr>
        <p:spPr>
          <a:xfrm>
            <a:off x="6483096" y="3840480"/>
            <a:ext cx="274320" cy="1005840"/>
          </a:xfrm>
          <a:prstGeom prst="rect">
            <a:avLst/>
          </a:prstGeom>
          <a:solidFill>
            <a:srgbClr val="378ADD">
              <a:alpha val="75000"/>
            </a:srgbClr>
          </a:solidFill>
          <a:ln w="12700">
            <a:solidFill>
              <a:srgbClr val="378ADD"/>
            </a:solidFill>
            <a:prstDash val="solid"/>
          </a:ln>
        </p:spPr>
        <p:txBody>
          <a:bodyPr/>
          <a:lstStyle/>
          <a:p>
            <a:endParaRPr lang="en-US"/>
          </a:p>
        </p:txBody>
      </p:sp>
      <p:sp>
        <p:nvSpPr>
          <p:cNvPr id="31" name="Shape 29"/>
          <p:cNvSpPr/>
          <p:nvPr/>
        </p:nvSpPr>
        <p:spPr>
          <a:xfrm>
            <a:off x="6793992" y="3566160"/>
            <a:ext cx="274320" cy="1280160"/>
          </a:xfrm>
          <a:prstGeom prst="rect">
            <a:avLst/>
          </a:prstGeom>
          <a:solidFill>
            <a:srgbClr val="378ADD">
              <a:alpha val="75000"/>
            </a:srgbClr>
          </a:solidFill>
          <a:ln w="12700">
            <a:solidFill>
              <a:srgbClr val="378ADD"/>
            </a:solidFill>
            <a:prstDash val="solid"/>
          </a:ln>
        </p:spPr>
        <p:txBody>
          <a:bodyPr/>
          <a:lstStyle/>
          <a:p>
            <a:endParaRPr lang="en-US"/>
          </a:p>
        </p:txBody>
      </p:sp>
      <p:sp>
        <p:nvSpPr>
          <p:cNvPr id="32" name="Shape 30"/>
          <p:cNvSpPr/>
          <p:nvPr/>
        </p:nvSpPr>
        <p:spPr>
          <a:xfrm>
            <a:off x="7104888" y="4251960"/>
            <a:ext cx="274320" cy="594360"/>
          </a:xfrm>
          <a:prstGeom prst="rect">
            <a:avLst/>
          </a:prstGeom>
          <a:solidFill>
            <a:srgbClr val="378ADD">
              <a:alpha val="75000"/>
            </a:srgbClr>
          </a:solidFill>
          <a:ln w="12700">
            <a:solidFill>
              <a:srgbClr val="378ADD"/>
            </a:solidFill>
            <a:prstDash val="solid"/>
          </a:ln>
        </p:spPr>
        <p:txBody>
          <a:bodyPr/>
          <a:lstStyle/>
          <a:p>
            <a:endParaRPr lang="en-US"/>
          </a:p>
        </p:txBody>
      </p:sp>
      <p:sp>
        <p:nvSpPr>
          <p:cNvPr id="33" name="Shape 31"/>
          <p:cNvSpPr/>
          <p:nvPr/>
        </p:nvSpPr>
        <p:spPr>
          <a:xfrm>
            <a:off x="7415784" y="4709160"/>
            <a:ext cx="274320" cy="137160"/>
          </a:xfrm>
          <a:prstGeom prst="rect">
            <a:avLst/>
          </a:prstGeom>
          <a:solidFill>
            <a:srgbClr val="378ADD">
              <a:alpha val="75000"/>
            </a:srgbClr>
          </a:solidFill>
          <a:ln w="12700">
            <a:solidFill>
              <a:srgbClr val="378ADD"/>
            </a:solidFill>
            <a:prstDash val="solid"/>
          </a:ln>
        </p:spPr>
        <p:txBody>
          <a:bodyPr/>
          <a:lstStyle/>
          <a:p>
            <a:endParaRPr lang="en-US"/>
          </a:p>
        </p:txBody>
      </p:sp>
      <p:sp>
        <p:nvSpPr>
          <p:cNvPr id="34" name="Text 32"/>
          <p:cNvSpPr/>
          <p:nvPr/>
        </p:nvSpPr>
        <p:spPr>
          <a:xfrm>
            <a:off x="4617720" y="4937760"/>
            <a:ext cx="3108960" cy="274320"/>
          </a:xfrm>
          <a:prstGeom prst="rect">
            <a:avLst/>
          </a:prstGeom>
          <a:noFill/>
          <a:ln/>
        </p:spPr>
        <p:txBody>
          <a:bodyPr wrap="square" lIns="0" tIns="0" rIns="0" bIns="0" rtlCol="0" anchor="ctr"/>
          <a:lstStyle/>
          <a:p>
            <a:pPr marL="0" indent="0" algn="ctr">
              <a:buNone/>
            </a:pPr>
            <a:r>
              <a:rPr lang="en-US" sz="1100" i="1" dirty="0">
                <a:solidFill>
                  <a:srgbClr val="888780"/>
                </a:solidFill>
                <a:latin typeface="Calibri" pitchFamily="34" charset="0"/>
                <a:ea typeface="Calibri" pitchFamily="34" charset="-122"/>
                <a:cs typeface="Calibri" pitchFamily="34" charset="-120"/>
              </a:rPr>
              <a:t>← Tail extends left</a:t>
            </a:r>
            <a:endParaRPr lang="en-US" sz="1100" dirty="0"/>
          </a:p>
        </p:txBody>
      </p:sp>
      <p:sp>
        <p:nvSpPr>
          <p:cNvPr id="35" name="Shape 33"/>
          <p:cNvSpPr/>
          <p:nvPr/>
        </p:nvSpPr>
        <p:spPr>
          <a:xfrm>
            <a:off x="8229600" y="2286000"/>
            <a:ext cx="3566160" cy="3108960"/>
          </a:xfrm>
          <a:prstGeom prst="rect">
            <a:avLst/>
          </a:prstGeom>
          <a:solidFill>
            <a:srgbClr val="F4F1E8"/>
          </a:solidFill>
          <a:ln w="12700">
            <a:solidFill>
              <a:srgbClr val="F4F1E8"/>
            </a:solidFill>
            <a:prstDash val="solid"/>
          </a:ln>
        </p:spPr>
        <p:txBody>
          <a:bodyPr/>
          <a:lstStyle/>
          <a:p>
            <a:endParaRPr lang="en-US"/>
          </a:p>
        </p:txBody>
      </p:sp>
      <p:sp>
        <p:nvSpPr>
          <p:cNvPr id="36" name="Text 34"/>
          <p:cNvSpPr/>
          <p:nvPr/>
        </p:nvSpPr>
        <p:spPr>
          <a:xfrm>
            <a:off x="8458200" y="2468880"/>
            <a:ext cx="3108960" cy="365760"/>
          </a:xfrm>
          <a:prstGeom prst="rect">
            <a:avLst/>
          </a:prstGeom>
          <a:noFill/>
          <a:ln/>
        </p:spPr>
        <p:txBody>
          <a:bodyPr wrap="square" lIns="0" tIns="0" rIns="0" bIns="0" rtlCol="0" anchor="ctr"/>
          <a:lstStyle/>
          <a:p>
            <a:pPr marL="0" indent="0">
              <a:buNone/>
            </a:pPr>
            <a:r>
              <a:rPr lang="en-US" sz="1800" b="1" dirty="0">
                <a:solidFill>
                  <a:srgbClr val="888780"/>
                </a:solidFill>
                <a:latin typeface="Georgia" pitchFamily="34" charset="0"/>
                <a:ea typeface="Georgia" pitchFamily="34" charset="-122"/>
                <a:cs typeface="Georgia" pitchFamily="34" charset="-120"/>
              </a:rPr>
              <a:t>Symmetric</a:t>
            </a:r>
            <a:endParaRPr lang="en-US" sz="1800" dirty="0"/>
          </a:p>
        </p:txBody>
      </p:sp>
      <p:sp>
        <p:nvSpPr>
          <p:cNvPr id="37" name="Text 35"/>
          <p:cNvSpPr/>
          <p:nvPr/>
        </p:nvSpPr>
        <p:spPr>
          <a:xfrm>
            <a:off x="8458200" y="2880360"/>
            <a:ext cx="3108960" cy="274320"/>
          </a:xfrm>
          <a:prstGeom prst="rect">
            <a:avLst/>
          </a:prstGeom>
          <a:noFill/>
          <a:ln/>
        </p:spPr>
        <p:txBody>
          <a:bodyPr wrap="square" lIns="0" tIns="0" rIns="0" bIns="0" rtlCol="0" anchor="ctr"/>
          <a:lstStyle/>
          <a:p>
            <a:pPr marL="0" indent="0">
              <a:buNone/>
            </a:pPr>
            <a:r>
              <a:rPr lang="en-US" sz="1200" dirty="0">
                <a:solidFill>
                  <a:srgbClr val="888780"/>
                </a:solidFill>
                <a:latin typeface="Consolas" pitchFamily="34" charset="0"/>
                <a:ea typeface="Consolas" pitchFamily="34" charset="-122"/>
                <a:cs typeface="Consolas" pitchFamily="34" charset="-120"/>
              </a:rPr>
              <a:t>age</a:t>
            </a:r>
            <a:endParaRPr lang="en-US" sz="1200" dirty="0"/>
          </a:p>
        </p:txBody>
      </p:sp>
      <p:sp>
        <p:nvSpPr>
          <p:cNvPr id="38" name="Shape 36"/>
          <p:cNvSpPr/>
          <p:nvPr/>
        </p:nvSpPr>
        <p:spPr>
          <a:xfrm>
            <a:off x="8458200" y="4709160"/>
            <a:ext cx="274320" cy="137160"/>
          </a:xfrm>
          <a:prstGeom prst="rect">
            <a:avLst/>
          </a:prstGeom>
          <a:solidFill>
            <a:srgbClr val="888780">
              <a:alpha val="75000"/>
            </a:srgbClr>
          </a:solidFill>
          <a:ln w="12700">
            <a:solidFill>
              <a:srgbClr val="888780"/>
            </a:solidFill>
            <a:prstDash val="solid"/>
          </a:ln>
        </p:spPr>
        <p:txBody>
          <a:bodyPr/>
          <a:lstStyle/>
          <a:p>
            <a:endParaRPr lang="en-US"/>
          </a:p>
        </p:txBody>
      </p:sp>
      <p:sp>
        <p:nvSpPr>
          <p:cNvPr id="39" name="Shape 37"/>
          <p:cNvSpPr/>
          <p:nvPr/>
        </p:nvSpPr>
        <p:spPr>
          <a:xfrm>
            <a:off x="8769096" y="4526280"/>
            <a:ext cx="274320" cy="320040"/>
          </a:xfrm>
          <a:prstGeom prst="rect">
            <a:avLst/>
          </a:prstGeom>
          <a:solidFill>
            <a:srgbClr val="888780">
              <a:alpha val="75000"/>
            </a:srgbClr>
          </a:solidFill>
          <a:ln w="12700">
            <a:solidFill>
              <a:srgbClr val="888780"/>
            </a:solidFill>
            <a:prstDash val="solid"/>
          </a:ln>
        </p:spPr>
        <p:txBody>
          <a:bodyPr/>
          <a:lstStyle/>
          <a:p>
            <a:endParaRPr lang="en-US"/>
          </a:p>
        </p:txBody>
      </p:sp>
      <p:sp>
        <p:nvSpPr>
          <p:cNvPr id="40" name="Shape 38"/>
          <p:cNvSpPr/>
          <p:nvPr/>
        </p:nvSpPr>
        <p:spPr>
          <a:xfrm>
            <a:off x="9079992" y="4251960"/>
            <a:ext cx="274320" cy="594360"/>
          </a:xfrm>
          <a:prstGeom prst="rect">
            <a:avLst/>
          </a:prstGeom>
          <a:solidFill>
            <a:srgbClr val="888780">
              <a:alpha val="75000"/>
            </a:srgbClr>
          </a:solidFill>
          <a:ln w="12700">
            <a:solidFill>
              <a:srgbClr val="888780"/>
            </a:solidFill>
            <a:prstDash val="solid"/>
          </a:ln>
        </p:spPr>
        <p:txBody>
          <a:bodyPr/>
          <a:lstStyle/>
          <a:p>
            <a:endParaRPr lang="en-US"/>
          </a:p>
        </p:txBody>
      </p:sp>
      <p:sp>
        <p:nvSpPr>
          <p:cNvPr id="41" name="Shape 39"/>
          <p:cNvSpPr/>
          <p:nvPr/>
        </p:nvSpPr>
        <p:spPr>
          <a:xfrm>
            <a:off x="9390888" y="3931920"/>
            <a:ext cx="274320" cy="914400"/>
          </a:xfrm>
          <a:prstGeom prst="rect">
            <a:avLst/>
          </a:prstGeom>
          <a:solidFill>
            <a:srgbClr val="888780">
              <a:alpha val="75000"/>
            </a:srgbClr>
          </a:solidFill>
          <a:ln w="12700">
            <a:solidFill>
              <a:srgbClr val="888780"/>
            </a:solidFill>
            <a:prstDash val="solid"/>
          </a:ln>
        </p:spPr>
        <p:txBody>
          <a:bodyPr/>
          <a:lstStyle/>
          <a:p>
            <a:endParaRPr lang="en-US"/>
          </a:p>
        </p:txBody>
      </p:sp>
      <p:sp>
        <p:nvSpPr>
          <p:cNvPr id="42" name="Shape 40"/>
          <p:cNvSpPr/>
          <p:nvPr/>
        </p:nvSpPr>
        <p:spPr>
          <a:xfrm>
            <a:off x="9701784" y="3657600"/>
            <a:ext cx="274320" cy="1188720"/>
          </a:xfrm>
          <a:prstGeom prst="rect">
            <a:avLst/>
          </a:prstGeom>
          <a:solidFill>
            <a:srgbClr val="888780">
              <a:alpha val="75000"/>
            </a:srgbClr>
          </a:solidFill>
          <a:ln w="12700">
            <a:solidFill>
              <a:srgbClr val="888780"/>
            </a:solidFill>
            <a:prstDash val="solid"/>
          </a:ln>
        </p:spPr>
        <p:txBody>
          <a:bodyPr/>
          <a:lstStyle/>
          <a:p>
            <a:endParaRPr lang="en-US"/>
          </a:p>
        </p:txBody>
      </p:sp>
      <p:sp>
        <p:nvSpPr>
          <p:cNvPr id="43" name="Shape 41"/>
          <p:cNvSpPr/>
          <p:nvPr/>
        </p:nvSpPr>
        <p:spPr>
          <a:xfrm>
            <a:off x="10012680" y="3657600"/>
            <a:ext cx="274320" cy="1188720"/>
          </a:xfrm>
          <a:prstGeom prst="rect">
            <a:avLst/>
          </a:prstGeom>
          <a:solidFill>
            <a:srgbClr val="888780">
              <a:alpha val="75000"/>
            </a:srgbClr>
          </a:solidFill>
          <a:ln w="12700">
            <a:solidFill>
              <a:srgbClr val="888780"/>
            </a:solidFill>
            <a:prstDash val="solid"/>
          </a:ln>
        </p:spPr>
        <p:txBody>
          <a:bodyPr/>
          <a:lstStyle/>
          <a:p>
            <a:endParaRPr lang="en-US"/>
          </a:p>
        </p:txBody>
      </p:sp>
      <p:sp>
        <p:nvSpPr>
          <p:cNvPr id="44" name="Shape 42"/>
          <p:cNvSpPr/>
          <p:nvPr/>
        </p:nvSpPr>
        <p:spPr>
          <a:xfrm>
            <a:off x="10323576" y="3931920"/>
            <a:ext cx="274320" cy="914400"/>
          </a:xfrm>
          <a:prstGeom prst="rect">
            <a:avLst/>
          </a:prstGeom>
          <a:solidFill>
            <a:srgbClr val="888780">
              <a:alpha val="75000"/>
            </a:srgbClr>
          </a:solidFill>
          <a:ln w="12700">
            <a:solidFill>
              <a:srgbClr val="888780"/>
            </a:solidFill>
            <a:prstDash val="solid"/>
          </a:ln>
        </p:spPr>
        <p:txBody>
          <a:bodyPr/>
          <a:lstStyle/>
          <a:p>
            <a:endParaRPr lang="en-US"/>
          </a:p>
        </p:txBody>
      </p:sp>
      <p:sp>
        <p:nvSpPr>
          <p:cNvPr id="45" name="Shape 43"/>
          <p:cNvSpPr/>
          <p:nvPr/>
        </p:nvSpPr>
        <p:spPr>
          <a:xfrm>
            <a:off x="10634472" y="4251960"/>
            <a:ext cx="274320" cy="594360"/>
          </a:xfrm>
          <a:prstGeom prst="rect">
            <a:avLst/>
          </a:prstGeom>
          <a:solidFill>
            <a:srgbClr val="888780">
              <a:alpha val="75000"/>
            </a:srgbClr>
          </a:solidFill>
          <a:ln w="12700">
            <a:solidFill>
              <a:srgbClr val="888780"/>
            </a:solidFill>
            <a:prstDash val="solid"/>
          </a:ln>
        </p:spPr>
        <p:txBody>
          <a:bodyPr/>
          <a:lstStyle/>
          <a:p>
            <a:endParaRPr lang="en-US"/>
          </a:p>
        </p:txBody>
      </p:sp>
      <p:sp>
        <p:nvSpPr>
          <p:cNvPr id="46" name="Shape 44"/>
          <p:cNvSpPr/>
          <p:nvPr/>
        </p:nvSpPr>
        <p:spPr>
          <a:xfrm>
            <a:off x="10945368" y="4526280"/>
            <a:ext cx="274320" cy="320040"/>
          </a:xfrm>
          <a:prstGeom prst="rect">
            <a:avLst/>
          </a:prstGeom>
          <a:solidFill>
            <a:srgbClr val="888780">
              <a:alpha val="75000"/>
            </a:srgbClr>
          </a:solidFill>
          <a:ln w="12700">
            <a:solidFill>
              <a:srgbClr val="888780"/>
            </a:solidFill>
            <a:prstDash val="solid"/>
          </a:ln>
        </p:spPr>
        <p:txBody>
          <a:bodyPr/>
          <a:lstStyle/>
          <a:p>
            <a:endParaRPr lang="en-US"/>
          </a:p>
        </p:txBody>
      </p:sp>
      <p:sp>
        <p:nvSpPr>
          <p:cNvPr id="47" name="Shape 45"/>
          <p:cNvSpPr/>
          <p:nvPr/>
        </p:nvSpPr>
        <p:spPr>
          <a:xfrm>
            <a:off x="11256264" y="4709160"/>
            <a:ext cx="274320" cy="137160"/>
          </a:xfrm>
          <a:prstGeom prst="rect">
            <a:avLst/>
          </a:prstGeom>
          <a:solidFill>
            <a:srgbClr val="888780">
              <a:alpha val="75000"/>
            </a:srgbClr>
          </a:solidFill>
          <a:ln w="12700">
            <a:solidFill>
              <a:srgbClr val="888780"/>
            </a:solidFill>
            <a:prstDash val="solid"/>
          </a:ln>
        </p:spPr>
        <p:txBody>
          <a:bodyPr/>
          <a:lstStyle/>
          <a:p>
            <a:endParaRPr lang="en-US"/>
          </a:p>
        </p:txBody>
      </p:sp>
      <p:sp>
        <p:nvSpPr>
          <p:cNvPr id="48" name="Text 46"/>
          <p:cNvSpPr/>
          <p:nvPr/>
        </p:nvSpPr>
        <p:spPr>
          <a:xfrm>
            <a:off x="8458200" y="4937760"/>
            <a:ext cx="3108960" cy="274320"/>
          </a:xfrm>
          <a:prstGeom prst="rect">
            <a:avLst/>
          </a:prstGeom>
          <a:noFill/>
          <a:ln/>
        </p:spPr>
        <p:txBody>
          <a:bodyPr wrap="square" lIns="0" tIns="0" rIns="0" bIns="0" rtlCol="0" anchor="ctr"/>
          <a:lstStyle/>
          <a:p>
            <a:pPr marL="0" indent="0" algn="ctr">
              <a:buNone/>
            </a:pPr>
            <a:r>
              <a:rPr lang="en-US" sz="1100" i="1" dirty="0">
                <a:solidFill>
                  <a:srgbClr val="888780"/>
                </a:solidFill>
                <a:latin typeface="Calibri" pitchFamily="34" charset="0"/>
                <a:ea typeface="Calibri" pitchFamily="34" charset="-122"/>
                <a:cs typeface="Calibri" pitchFamily="34" charset="-120"/>
              </a:rPr>
              <a:t>Balanced around center</a:t>
            </a:r>
            <a:endParaRPr lang="en-US" sz="1100" dirty="0"/>
          </a:p>
        </p:txBody>
      </p:sp>
      <p:sp>
        <p:nvSpPr>
          <p:cNvPr id="49" name="Shape 47"/>
          <p:cNvSpPr/>
          <p:nvPr/>
        </p:nvSpPr>
        <p:spPr>
          <a:xfrm>
            <a:off x="548640" y="5852160"/>
            <a:ext cx="11064240" cy="640080"/>
          </a:xfrm>
          <a:prstGeom prst="rect">
            <a:avLst/>
          </a:prstGeom>
          <a:solidFill>
            <a:srgbClr val="F4F1E8"/>
          </a:solidFill>
          <a:ln w="12700">
            <a:solidFill>
              <a:srgbClr val="F4F1E8"/>
            </a:solidFill>
            <a:prstDash val="solid"/>
          </a:ln>
        </p:spPr>
        <p:txBody>
          <a:bodyPr/>
          <a:lstStyle/>
          <a:p>
            <a:endParaRPr lang="en-US"/>
          </a:p>
        </p:txBody>
      </p:sp>
      <p:sp>
        <p:nvSpPr>
          <p:cNvPr id="50" name="Shape 48"/>
          <p:cNvSpPr/>
          <p:nvPr/>
        </p:nvSpPr>
        <p:spPr>
          <a:xfrm>
            <a:off x="548640" y="5852160"/>
            <a:ext cx="45720" cy="640080"/>
          </a:xfrm>
          <a:prstGeom prst="rect">
            <a:avLst/>
          </a:prstGeom>
          <a:solidFill>
            <a:srgbClr val="D85A30"/>
          </a:solidFill>
          <a:ln w="12700">
            <a:solidFill>
              <a:srgbClr val="D85A30"/>
            </a:solidFill>
            <a:prstDash val="solid"/>
          </a:ln>
        </p:spPr>
        <p:txBody>
          <a:bodyPr/>
          <a:lstStyle/>
          <a:p>
            <a:endParaRPr lang="en-US"/>
          </a:p>
        </p:txBody>
      </p:sp>
      <p:sp>
        <p:nvSpPr>
          <p:cNvPr id="51" name="Text 49"/>
          <p:cNvSpPr/>
          <p:nvPr/>
        </p:nvSpPr>
        <p:spPr>
          <a:xfrm>
            <a:off x="731520" y="5897880"/>
            <a:ext cx="10789920" cy="54864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Right-skewed variables drove the choice of median imputation over mean — median is robust to extreme values and preserves the typical observation.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EDA · MISSING DATA &amp; IMPUTATION</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05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Missingness is concentrated, not random</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Income and blood pressure variables had the highest rates, so median imputation was chosen for robustness.</a:t>
            </a:r>
            <a:endParaRPr lang="en-US" sz="1400" dirty="0"/>
          </a:p>
        </p:txBody>
      </p:sp>
      <p:sp>
        <p:nvSpPr>
          <p:cNvPr id="7" name="Text 5"/>
          <p:cNvSpPr/>
          <p:nvPr/>
        </p:nvSpPr>
        <p:spPr>
          <a:xfrm>
            <a:off x="548640" y="2011680"/>
            <a:ext cx="548640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MISSINGNESS BY VARIABLE</a:t>
            </a:r>
            <a:endParaRPr lang="en-US" sz="1100" dirty="0"/>
          </a:p>
        </p:txBody>
      </p:sp>
      <p:sp>
        <p:nvSpPr>
          <p:cNvPr id="8" name="Text 6"/>
          <p:cNvSpPr/>
          <p:nvPr/>
        </p:nvSpPr>
        <p:spPr>
          <a:xfrm>
            <a:off x="548640" y="2377440"/>
            <a:ext cx="1097280" cy="384048"/>
          </a:xfrm>
          <a:prstGeom prst="rect">
            <a:avLst/>
          </a:prstGeom>
          <a:noFill/>
          <a:ln/>
        </p:spPr>
        <p:txBody>
          <a:bodyPr wrap="square" lIns="0" tIns="0" rIns="0" bIns="0" rtlCol="0" anchor="ctr"/>
          <a:lstStyle/>
          <a:p>
            <a:pPr marL="0" indent="0">
              <a:buNone/>
            </a:pPr>
            <a:r>
              <a:rPr lang="en-US" sz="1100" dirty="0">
                <a:solidFill>
                  <a:srgbClr val="4A4842"/>
                </a:solidFill>
                <a:latin typeface="Consolas" pitchFamily="34" charset="0"/>
                <a:ea typeface="Consolas" pitchFamily="34" charset="-122"/>
                <a:cs typeface="Consolas" pitchFamily="34" charset="-120"/>
              </a:rPr>
              <a:t>income_pir</a:t>
            </a:r>
            <a:endParaRPr lang="en-US" sz="1100" dirty="0"/>
          </a:p>
        </p:txBody>
      </p:sp>
      <p:sp>
        <p:nvSpPr>
          <p:cNvPr id="9" name="Shape 7"/>
          <p:cNvSpPr/>
          <p:nvPr/>
        </p:nvSpPr>
        <p:spPr>
          <a:xfrm>
            <a:off x="1737360" y="2496312"/>
            <a:ext cx="4114800" cy="146304"/>
          </a:xfrm>
          <a:prstGeom prst="rect">
            <a:avLst/>
          </a:prstGeom>
          <a:solidFill>
            <a:srgbClr val="F4F1E8"/>
          </a:solidFill>
          <a:ln w="12700">
            <a:solidFill>
              <a:srgbClr val="F4F1E8"/>
            </a:solidFill>
            <a:prstDash val="solid"/>
          </a:ln>
        </p:spPr>
        <p:txBody>
          <a:bodyPr/>
          <a:lstStyle/>
          <a:p>
            <a:endParaRPr lang="en-US"/>
          </a:p>
        </p:txBody>
      </p:sp>
      <p:sp>
        <p:nvSpPr>
          <p:cNvPr id="10" name="Shape 8"/>
          <p:cNvSpPr/>
          <p:nvPr/>
        </p:nvSpPr>
        <p:spPr>
          <a:xfrm>
            <a:off x="1737360" y="2496312"/>
            <a:ext cx="4114800" cy="146304"/>
          </a:xfrm>
          <a:prstGeom prst="rect">
            <a:avLst/>
          </a:prstGeom>
          <a:solidFill>
            <a:srgbClr val="D85A30"/>
          </a:solidFill>
          <a:ln w="12700">
            <a:solidFill>
              <a:srgbClr val="D85A30"/>
            </a:solidFill>
            <a:prstDash val="solid"/>
          </a:ln>
        </p:spPr>
        <p:txBody>
          <a:bodyPr/>
          <a:lstStyle/>
          <a:p>
            <a:endParaRPr lang="en-US"/>
          </a:p>
        </p:txBody>
      </p:sp>
      <p:sp>
        <p:nvSpPr>
          <p:cNvPr id="11" name="Text 9"/>
          <p:cNvSpPr/>
          <p:nvPr/>
        </p:nvSpPr>
        <p:spPr>
          <a:xfrm>
            <a:off x="5943600" y="2377440"/>
            <a:ext cx="548640" cy="384048"/>
          </a:xfrm>
          <a:prstGeom prst="rect">
            <a:avLst/>
          </a:prstGeom>
          <a:noFill/>
          <a:ln/>
        </p:spPr>
        <p:txBody>
          <a:bodyPr wrap="square" lIns="0" tIns="0" rIns="0" bIns="0" rtlCol="0" anchor="ctr"/>
          <a:lstStyle/>
          <a:p>
            <a:pPr marL="0" indent="0">
              <a:buNone/>
            </a:pPr>
            <a:r>
              <a:rPr lang="en-US" sz="1100" dirty="0">
                <a:solidFill>
                  <a:srgbClr val="4A4842"/>
                </a:solidFill>
                <a:latin typeface="Calibri" pitchFamily="34" charset="0"/>
                <a:ea typeface="Calibri" pitchFamily="34" charset="-122"/>
                <a:cs typeface="Calibri" pitchFamily="34" charset="-120"/>
              </a:rPr>
              <a:t>~12%</a:t>
            </a:r>
            <a:endParaRPr lang="en-US" sz="1100" dirty="0"/>
          </a:p>
        </p:txBody>
      </p:sp>
      <p:sp>
        <p:nvSpPr>
          <p:cNvPr id="12" name="Text 10"/>
          <p:cNvSpPr/>
          <p:nvPr/>
        </p:nvSpPr>
        <p:spPr>
          <a:xfrm>
            <a:off x="548640" y="2761488"/>
            <a:ext cx="1097280" cy="384048"/>
          </a:xfrm>
          <a:prstGeom prst="rect">
            <a:avLst/>
          </a:prstGeom>
          <a:noFill/>
          <a:ln/>
        </p:spPr>
        <p:txBody>
          <a:bodyPr wrap="square" lIns="0" tIns="0" rIns="0" bIns="0" rtlCol="0" anchor="ctr"/>
          <a:lstStyle/>
          <a:p>
            <a:pPr marL="0" indent="0">
              <a:buNone/>
            </a:pPr>
            <a:r>
              <a:rPr lang="en-US" sz="1100" dirty="0">
                <a:solidFill>
                  <a:srgbClr val="4A4842"/>
                </a:solidFill>
                <a:latin typeface="Consolas" pitchFamily="34" charset="0"/>
                <a:ea typeface="Consolas" pitchFamily="34" charset="-122"/>
                <a:cs typeface="Consolas" pitchFamily="34" charset="-120"/>
              </a:rPr>
              <a:t>sys_bp</a:t>
            </a:r>
            <a:endParaRPr lang="en-US" sz="1100" dirty="0"/>
          </a:p>
        </p:txBody>
      </p:sp>
      <p:sp>
        <p:nvSpPr>
          <p:cNvPr id="13" name="Shape 11"/>
          <p:cNvSpPr/>
          <p:nvPr/>
        </p:nvSpPr>
        <p:spPr>
          <a:xfrm>
            <a:off x="1737360" y="2880360"/>
            <a:ext cx="4114800" cy="146304"/>
          </a:xfrm>
          <a:prstGeom prst="rect">
            <a:avLst/>
          </a:prstGeom>
          <a:solidFill>
            <a:srgbClr val="F4F1E8"/>
          </a:solidFill>
          <a:ln w="12700">
            <a:solidFill>
              <a:srgbClr val="F4F1E8"/>
            </a:solidFill>
            <a:prstDash val="solid"/>
          </a:ln>
        </p:spPr>
        <p:txBody>
          <a:bodyPr/>
          <a:lstStyle/>
          <a:p>
            <a:endParaRPr lang="en-US"/>
          </a:p>
        </p:txBody>
      </p:sp>
      <p:sp>
        <p:nvSpPr>
          <p:cNvPr id="14" name="Shape 12"/>
          <p:cNvSpPr/>
          <p:nvPr/>
        </p:nvSpPr>
        <p:spPr>
          <a:xfrm>
            <a:off x="1737360" y="2880360"/>
            <a:ext cx="3429000" cy="146304"/>
          </a:xfrm>
          <a:prstGeom prst="rect">
            <a:avLst/>
          </a:prstGeom>
          <a:solidFill>
            <a:srgbClr val="D85A30"/>
          </a:solidFill>
          <a:ln w="12700">
            <a:solidFill>
              <a:srgbClr val="D85A30"/>
            </a:solidFill>
            <a:prstDash val="solid"/>
          </a:ln>
        </p:spPr>
        <p:txBody>
          <a:bodyPr/>
          <a:lstStyle/>
          <a:p>
            <a:endParaRPr lang="en-US"/>
          </a:p>
        </p:txBody>
      </p:sp>
      <p:sp>
        <p:nvSpPr>
          <p:cNvPr id="15" name="Text 13"/>
          <p:cNvSpPr/>
          <p:nvPr/>
        </p:nvSpPr>
        <p:spPr>
          <a:xfrm>
            <a:off x="5943600" y="2761488"/>
            <a:ext cx="548640" cy="384048"/>
          </a:xfrm>
          <a:prstGeom prst="rect">
            <a:avLst/>
          </a:prstGeom>
          <a:noFill/>
          <a:ln/>
        </p:spPr>
        <p:txBody>
          <a:bodyPr wrap="square" lIns="0" tIns="0" rIns="0" bIns="0" rtlCol="0" anchor="ctr"/>
          <a:lstStyle/>
          <a:p>
            <a:pPr marL="0" indent="0">
              <a:buNone/>
            </a:pPr>
            <a:r>
              <a:rPr lang="en-US" sz="1100" dirty="0">
                <a:solidFill>
                  <a:srgbClr val="4A4842"/>
                </a:solidFill>
                <a:latin typeface="Calibri" pitchFamily="34" charset="0"/>
                <a:ea typeface="Calibri" pitchFamily="34" charset="-122"/>
                <a:cs typeface="Calibri" pitchFamily="34" charset="-120"/>
              </a:rPr>
              <a:t>~10%</a:t>
            </a:r>
            <a:endParaRPr lang="en-US" sz="1100" dirty="0"/>
          </a:p>
        </p:txBody>
      </p:sp>
      <p:sp>
        <p:nvSpPr>
          <p:cNvPr id="16" name="Text 14"/>
          <p:cNvSpPr/>
          <p:nvPr/>
        </p:nvSpPr>
        <p:spPr>
          <a:xfrm>
            <a:off x="548640" y="3145536"/>
            <a:ext cx="1097280" cy="384048"/>
          </a:xfrm>
          <a:prstGeom prst="rect">
            <a:avLst/>
          </a:prstGeom>
          <a:noFill/>
          <a:ln/>
        </p:spPr>
        <p:txBody>
          <a:bodyPr wrap="square" lIns="0" tIns="0" rIns="0" bIns="0" rtlCol="0" anchor="ctr"/>
          <a:lstStyle/>
          <a:p>
            <a:pPr marL="0" indent="0">
              <a:buNone/>
            </a:pPr>
            <a:r>
              <a:rPr lang="en-US" sz="1100" dirty="0">
                <a:solidFill>
                  <a:srgbClr val="4A4842"/>
                </a:solidFill>
                <a:latin typeface="Consolas" pitchFamily="34" charset="0"/>
                <a:ea typeface="Consolas" pitchFamily="34" charset="-122"/>
                <a:cs typeface="Consolas" pitchFamily="34" charset="-120"/>
              </a:rPr>
              <a:t>dia_bp</a:t>
            </a:r>
            <a:endParaRPr lang="en-US" sz="1100" dirty="0"/>
          </a:p>
        </p:txBody>
      </p:sp>
      <p:sp>
        <p:nvSpPr>
          <p:cNvPr id="17" name="Shape 15"/>
          <p:cNvSpPr/>
          <p:nvPr/>
        </p:nvSpPr>
        <p:spPr>
          <a:xfrm>
            <a:off x="1737360" y="3264408"/>
            <a:ext cx="4114800" cy="146304"/>
          </a:xfrm>
          <a:prstGeom prst="rect">
            <a:avLst/>
          </a:prstGeom>
          <a:solidFill>
            <a:srgbClr val="F4F1E8"/>
          </a:solidFill>
          <a:ln w="12700">
            <a:solidFill>
              <a:srgbClr val="F4F1E8"/>
            </a:solidFill>
            <a:prstDash val="solid"/>
          </a:ln>
        </p:spPr>
        <p:txBody>
          <a:bodyPr/>
          <a:lstStyle/>
          <a:p>
            <a:endParaRPr lang="en-US"/>
          </a:p>
        </p:txBody>
      </p:sp>
      <p:sp>
        <p:nvSpPr>
          <p:cNvPr id="18" name="Shape 16"/>
          <p:cNvSpPr/>
          <p:nvPr/>
        </p:nvSpPr>
        <p:spPr>
          <a:xfrm>
            <a:off x="1737360" y="3264408"/>
            <a:ext cx="3086100" cy="146304"/>
          </a:xfrm>
          <a:prstGeom prst="rect">
            <a:avLst/>
          </a:prstGeom>
          <a:solidFill>
            <a:srgbClr val="D85A30"/>
          </a:solidFill>
          <a:ln w="12700">
            <a:solidFill>
              <a:srgbClr val="D85A30"/>
            </a:solidFill>
            <a:prstDash val="solid"/>
          </a:ln>
        </p:spPr>
        <p:txBody>
          <a:bodyPr/>
          <a:lstStyle/>
          <a:p>
            <a:endParaRPr lang="en-US"/>
          </a:p>
        </p:txBody>
      </p:sp>
      <p:sp>
        <p:nvSpPr>
          <p:cNvPr id="19" name="Text 17"/>
          <p:cNvSpPr/>
          <p:nvPr/>
        </p:nvSpPr>
        <p:spPr>
          <a:xfrm>
            <a:off x="5943600" y="3145536"/>
            <a:ext cx="548640" cy="384048"/>
          </a:xfrm>
          <a:prstGeom prst="rect">
            <a:avLst/>
          </a:prstGeom>
          <a:noFill/>
          <a:ln/>
        </p:spPr>
        <p:txBody>
          <a:bodyPr wrap="square" lIns="0" tIns="0" rIns="0" bIns="0" rtlCol="0" anchor="ctr"/>
          <a:lstStyle/>
          <a:p>
            <a:pPr marL="0" indent="0">
              <a:buNone/>
            </a:pPr>
            <a:r>
              <a:rPr lang="en-US" sz="1100" dirty="0">
                <a:solidFill>
                  <a:srgbClr val="4A4842"/>
                </a:solidFill>
                <a:latin typeface="Calibri" pitchFamily="34" charset="0"/>
                <a:ea typeface="Calibri" pitchFamily="34" charset="-122"/>
                <a:cs typeface="Calibri" pitchFamily="34" charset="-120"/>
              </a:rPr>
              <a:t>~9%</a:t>
            </a:r>
            <a:endParaRPr lang="en-US" sz="1100" dirty="0"/>
          </a:p>
        </p:txBody>
      </p:sp>
      <p:sp>
        <p:nvSpPr>
          <p:cNvPr id="20" name="Text 18"/>
          <p:cNvSpPr/>
          <p:nvPr/>
        </p:nvSpPr>
        <p:spPr>
          <a:xfrm>
            <a:off x="548640" y="3529584"/>
            <a:ext cx="1097280" cy="384048"/>
          </a:xfrm>
          <a:prstGeom prst="rect">
            <a:avLst/>
          </a:prstGeom>
          <a:noFill/>
          <a:ln/>
        </p:spPr>
        <p:txBody>
          <a:bodyPr wrap="square" lIns="0" tIns="0" rIns="0" bIns="0" rtlCol="0" anchor="ctr"/>
          <a:lstStyle/>
          <a:p>
            <a:pPr marL="0" indent="0">
              <a:buNone/>
            </a:pPr>
            <a:r>
              <a:rPr lang="en-US" sz="1100" dirty="0">
                <a:solidFill>
                  <a:srgbClr val="4A4842"/>
                </a:solidFill>
                <a:latin typeface="Consolas" pitchFamily="34" charset="0"/>
                <a:ea typeface="Consolas" pitchFamily="34" charset="-122"/>
                <a:cs typeface="Consolas" pitchFamily="34" charset="-120"/>
              </a:rPr>
              <a:t>bmi</a:t>
            </a:r>
            <a:endParaRPr lang="en-US" sz="1100" dirty="0"/>
          </a:p>
        </p:txBody>
      </p:sp>
      <p:sp>
        <p:nvSpPr>
          <p:cNvPr id="21" name="Shape 19"/>
          <p:cNvSpPr/>
          <p:nvPr/>
        </p:nvSpPr>
        <p:spPr>
          <a:xfrm>
            <a:off x="1737360" y="3648456"/>
            <a:ext cx="4114800" cy="146304"/>
          </a:xfrm>
          <a:prstGeom prst="rect">
            <a:avLst/>
          </a:prstGeom>
          <a:solidFill>
            <a:srgbClr val="F4F1E8"/>
          </a:solidFill>
          <a:ln w="12700">
            <a:solidFill>
              <a:srgbClr val="F4F1E8"/>
            </a:solidFill>
            <a:prstDash val="solid"/>
          </a:ln>
        </p:spPr>
        <p:txBody>
          <a:bodyPr/>
          <a:lstStyle/>
          <a:p>
            <a:endParaRPr lang="en-US"/>
          </a:p>
        </p:txBody>
      </p:sp>
      <p:sp>
        <p:nvSpPr>
          <p:cNvPr id="22" name="Shape 20"/>
          <p:cNvSpPr/>
          <p:nvPr/>
        </p:nvSpPr>
        <p:spPr>
          <a:xfrm>
            <a:off x="1737360" y="3648456"/>
            <a:ext cx="1371600" cy="146304"/>
          </a:xfrm>
          <a:prstGeom prst="rect">
            <a:avLst/>
          </a:prstGeom>
          <a:solidFill>
            <a:srgbClr val="E69A7E"/>
          </a:solidFill>
          <a:ln w="12700">
            <a:solidFill>
              <a:srgbClr val="E69A7E"/>
            </a:solidFill>
            <a:prstDash val="solid"/>
          </a:ln>
        </p:spPr>
        <p:txBody>
          <a:bodyPr/>
          <a:lstStyle/>
          <a:p>
            <a:endParaRPr lang="en-US"/>
          </a:p>
        </p:txBody>
      </p:sp>
      <p:sp>
        <p:nvSpPr>
          <p:cNvPr id="23" name="Text 21"/>
          <p:cNvSpPr/>
          <p:nvPr/>
        </p:nvSpPr>
        <p:spPr>
          <a:xfrm>
            <a:off x="5943600" y="3529584"/>
            <a:ext cx="548640" cy="384048"/>
          </a:xfrm>
          <a:prstGeom prst="rect">
            <a:avLst/>
          </a:prstGeom>
          <a:noFill/>
          <a:ln/>
        </p:spPr>
        <p:txBody>
          <a:bodyPr wrap="square" lIns="0" tIns="0" rIns="0" bIns="0" rtlCol="0" anchor="ctr"/>
          <a:lstStyle/>
          <a:p>
            <a:pPr marL="0" indent="0">
              <a:buNone/>
            </a:pPr>
            <a:r>
              <a:rPr lang="en-US" sz="1100" dirty="0">
                <a:solidFill>
                  <a:srgbClr val="4A4842"/>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548640" y="3913632"/>
            <a:ext cx="1097280" cy="384048"/>
          </a:xfrm>
          <a:prstGeom prst="rect">
            <a:avLst/>
          </a:prstGeom>
          <a:noFill/>
          <a:ln/>
        </p:spPr>
        <p:txBody>
          <a:bodyPr wrap="square" lIns="0" tIns="0" rIns="0" bIns="0" rtlCol="0" anchor="ctr"/>
          <a:lstStyle/>
          <a:p>
            <a:pPr marL="0" indent="0">
              <a:buNone/>
            </a:pPr>
            <a:r>
              <a:rPr lang="en-US" sz="1100" dirty="0">
                <a:solidFill>
                  <a:srgbClr val="4A4842"/>
                </a:solidFill>
                <a:latin typeface="Consolas" pitchFamily="34" charset="0"/>
                <a:ea typeface="Consolas" pitchFamily="34" charset="-122"/>
                <a:cs typeface="Consolas" pitchFamily="34" charset="-120"/>
              </a:rPr>
              <a:t>hba1c</a:t>
            </a:r>
            <a:endParaRPr lang="en-US" sz="1100" dirty="0"/>
          </a:p>
        </p:txBody>
      </p:sp>
      <p:sp>
        <p:nvSpPr>
          <p:cNvPr id="25" name="Shape 23"/>
          <p:cNvSpPr/>
          <p:nvPr/>
        </p:nvSpPr>
        <p:spPr>
          <a:xfrm>
            <a:off x="1737360" y="4032504"/>
            <a:ext cx="4114800" cy="146304"/>
          </a:xfrm>
          <a:prstGeom prst="rect">
            <a:avLst/>
          </a:prstGeom>
          <a:solidFill>
            <a:srgbClr val="F4F1E8"/>
          </a:solidFill>
          <a:ln w="12700">
            <a:solidFill>
              <a:srgbClr val="F4F1E8"/>
            </a:solidFill>
            <a:prstDash val="solid"/>
          </a:ln>
        </p:spPr>
        <p:txBody>
          <a:bodyPr/>
          <a:lstStyle/>
          <a:p>
            <a:endParaRPr lang="en-US"/>
          </a:p>
        </p:txBody>
      </p:sp>
      <p:sp>
        <p:nvSpPr>
          <p:cNvPr id="26" name="Shape 24"/>
          <p:cNvSpPr/>
          <p:nvPr/>
        </p:nvSpPr>
        <p:spPr>
          <a:xfrm>
            <a:off x="1737360" y="4032504"/>
            <a:ext cx="1371600" cy="146304"/>
          </a:xfrm>
          <a:prstGeom prst="rect">
            <a:avLst/>
          </a:prstGeom>
          <a:solidFill>
            <a:srgbClr val="E69A7E"/>
          </a:solidFill>
          <a:ln w="12700">
            <a:solidFill>
              <a:srgbClr val="E69A7E"/>
            </a:solidFill>
            <a:prstDash val="solid"/>
          </a:ln>
        </p:spPr>
        <p:txBody>
          <a:bodyPr/>
          <a:lstStyle/>
          <a:p>
            <a:endParaRPr lang="en-US"/>
          </a:p>
        </p:txBody>
      </p:sp>
      <p:sp>
        <p:nvSpPr>
          <p:cNvPr id="27" name="Text 25"/>
          <p:cNvSpPr/>
          <p:nvPr/>
        </p:nvSpPr>
        <p:spPr>
          <a:xfrm>
            <a:off x="5943600" y="3913632"/>
            <a:ext cx="548640" cy="384048"/>
          </a:xfrm>
          <a:prstGeom prst="rect">
            <a:avLst/>
          </a:prstGeom>
          <a:noFill/>
          <a:ln/>
        </p:spPr>
        <p:txBody>
          <a:bodyPr wrap="square" lIns="0" tIns="0" rIns="0" bIns="0" rtlCol="0" anchor="ctr"/>
          <a:lstStyle/>
          <a:p>
            <a:pPr marL="0" indent="0">
              <a:buNone/>
            </a:pPr>
            <a:r>
              <a:rPr lang="en-US" sz="1100" dirty="0">
                <a:solidFill>
                  <a:srgbClr val="4A4842"/>
                </a:solidFill>
                <a:latin typeface="Calibri" pitchFamily="34" charset="0"/>
                <a:ea typeface="Calibri" pitchFamily="34" charset="-122"/>
                <a:cs typeface="Calibri" pitchFamily="34" charset="-120"/>
              </a:rPr>
              <a:t>~4%</a:t>
            </a:r>
            <a:endParaRPr lang="en-US" sz="1100" dirty="0"/>
          </a:p>
        </p:txBody>
      </p:sp>
      <p:sp>
        <p:nvSpPr>
          <p:cNvPr id="28" name="Text 26"/>
          <p:cNvSpPr/>
          <p:nvPr/>
        </p:nvSpPr>
        <p:spPr>
          <a:xfrm>
            <a:off x="548640" y="4297680"/>
            <a:ext cx="1097280" cy="384048"/>
          </a:xfrm>
          <a:prstGeom prst="rect">
            <a:avLst/>
          </a:prstGeom>
          <a:noFill/>
          <a:ln/>
        </p:spPr>
        <p:txBody>
          <a:bodyPr wrap="square" lIns="0" tIns="0" rIns="0" bIns="0" rtlCol="0" anchor="ctr"/>
          <a:lstStyle/>
          <a:p>
            <a:pPr marL="0" indent="0">
              <a:buNone/>
            </a:pPr>
            <a:r>
              <a:rPr lang="en-US" sz="1100" dirty="0">
                <a:solidFill>
                  <a:srgbClr val="4A4842"/>
                </a:solidFill>
                <a:latin typeface="Consolas" pitchFamily="34" charset="0"/>
                <a:ea typeface="Consolas" pitchFamily="34" charset="-122"/>
                <a:cs typeface="Consolas" pitchFamily="34" charset="-120"/>
              </a:rPr>
              <a:t>waist</a:t>
            </a:r>
            <a:endParaRPr lang="en-US" sz="1100" dirty="0"/>
          </a:p>
        </p:txBody>
      </p:sp>
      <p:sp>
        <p:nvSpPr>
          <p:cNvPr id="29" name="Shape 27"/>
          <p:cNvSpPr/>
          <p:nvPr/>
        </p:nvSpPr>
        <p:spPr>
          <a:xfrm>
            <a:off x="1737360" y="4416552"/>
            <a:ext cx="4114800" cy="146304"/>
          </a:xfrm>
          <a:prstGeom prst="rect">
            <a:avLst/>
          </a:prstGeom>
          <a:solidFill>
            <a:srgbClr val="F4F1E8"/>
          </a:solidFill>
          <a:ln w="12700">
            <a:solidFill>
              <a:srgbClr val="F4F1E8"/>
            </a:solidFill>
            <a:prstDash val="solid"/>
          </a:ln>
        </p:spPr>
        <p:txBody>
          <a:bodyPr/>
          <a:lstStyle/>
          <a:p>
            <a:endParaRPr lang="en-US"/>
          </a:p>
        </p:txBody>
      </p:sp>
      <p:sp>
        <p:nvSpPr>
          <p:cNvPr id="30" name="Shape 28"/>
          <p:cNvSpPr/>
          <p:nvPr/>
        </p:nvSpPr>
        <p:spPr>
          <a:xfrm>
            <a:off x="1737360" y="4416552"/>
            <a:ext cx="1028700" cy="146304"/>
          </a:xfrm>
          <a:prstGeom prst="rect">
            <a:avLst/>
          </a:prstGeom>
          <a:solidFill>
            <a:srgbClr val="E69A7E"/>
          </a:solidFill>
          <a:ln w="12700">
            <a:solidFill>
              <a:srgbClr val="E69A7E"/>
            </a:solidFill>
            <a:prstDash val="solid"/>
          </a:ln>
        </p:spPr>
        <p:txBody>
          <a:bodyPr/>
          <a:lstStyle/>
          <a:p>
            <a:endParaRPr lang="en-US"/>
          </a:p>
        </p:txBody>
      </p:sp>
      <p:sp>
        <p:nvSpPr>
          <p:cNvPr id="31" name="Text 29"/>
          <p:cNvSpPr/>
          <p:nvPr/>
        </p:nvSpPr>
        <p:spPr>
          <a:xfrm>
            <a:off x="5943600" y="4297680"/>
            <a:ext cx="548640" cy="384048"/>
          </a:xfrm>
          <a:prstGeom prst="rect">
            <a:avLst/>
          </a:prstGeom>
          <a:noFill/>
          <a:ln/>
        </p:spPr>
        <p:txBody>
          <a:bodyPr wrap="square" lIns="0" tIns="0" rIns="0" bIns="0" rtlCol="0" anchor="ctr"/>
          <a:lstStyle/>
          <a:p>
            <a:pPr marL="0" indent="0">
              <a:buNone/>
            </a:pPr>
            <a:r>
              <a:rPr lang="en-US" sz="1100" dirty="0">
                <a:solidFill>
                  <a:srgbClr val="4A4842"/>
                </a:solidFill>
                <a:latin typeface="Calibri" pitchFamily="34" charset="0"/>
                <a:ea typeface="Calibri" pitchFamily="34" charset="-122"/>
                <a:cs typeface="Calibri" pitchFamily="34" charset="-120"/>
              </a:rPr>
              <a:t>~3%</a:t>
            </a:r>
            <a:endParaRPr lang="en-US" sz="1100" dirty="0"/>
          </a:p>
        </p:txBody>
      </p:sp>
      <p:sp>
        <p:nvSpPr>
          <p:cNvPr id="32" name="Text 30"/>
          <p:cNvSpPr/>
          <p:nvPr/>
        </p:nvSpPr>
        <p:spPr>
          <a:xfrm>
            <a:off x="548640" y="4681728"/>
            <a:ext cx="1097280" cy="384048"/>
          </a:xfrm>
          <a:prstGeom prst="rect">
            <a:avLst/>
          </a:prstGeom>
          <a:noFill/>
          <a:ln/>
        </p:spPr>
        <p:txBody>
          <a:bodyPr wrap="square" lIns="0" tIns="0" rIns="0" bIns="0" rtlCol="0" anchor="ctr"/>
          <a:lstStyle/>
          <a:p>
            <a:pPr marL="0" indent="0">
              <a:buNone/>
            </a:pPr>
            <a:r>
              <a:rPr lang="en-US" sz="1100" dirty="0">
                <a:solidFill>
                  <a:srgbClr val="4A4842"/>
                </a:solidFill>
                <a:latin typeface="Consolas" pitchFamily="34" charset="0"/>
                <a:ea typeface="Consolas" pitchFamily="34" charset="-122"/>
                <a:cs typeface="Consolas" pitchFamily="34" charset="-120"/>
              </a:rPr>
              <a:t>age</a:t>
            </a:r>
            <a:endParaRPr lang="en-US" sz="1100" dirty="0"/>
          </a:p>
        </p:txBody>
      </p:sp>
      <p:sp>
        <p:nvSpPr>
          <p:cNvPr id="33" name="Shape 31"/>
          <p:cNvSpPr/>
          <p:nvPr/>
        </p:nvSpPr>
        <p:spPr>
          <a:xfrm>
            <a:off x="1737360" y="4800600"/>
            <a:ext cx="4114800" cy="146304"/>
          </a:xfrm>
          <a:prstGeom prst="rect">
            <a:avLst/>
          </a:prstGeom>
          <a:solidFill>
            <a:srgbClr val="F4F1E8"/>
          </a:solidFill>
          <a:ln w="12700">
            <a:solidFill>
              <a:srgbClr val="F4F1E8"/>
            </a:solidFill>
            <a:prstDash val="solid"/>
          </a:ln>
        </p:spPr>
        <p:txBody>
          <a:bodyPr/>
          <a:lstStyle/>
          <a:p>
            <a:endParaRPr lang="en-US"/>
          </a:p>
        </p:txBody>
      </p:sp>
      <p:sp>
        <p:nvSpPr>
          <p:cNvPr id="34" name="Shape 32"/>
          <p:cNvSpPr/>
          <p:nvPr/>
        </p:nvSpPr>
        <p:spPr>
          <a:xfrm>
            <a:off x="1737360" y="4800600"/>
            <a:ext cx="18288" cy="146304"/>
          </a:xfrm>
          <a:prstGeom prst="rect">
            <a:avLst/>
          </a:prstGeom>
          <a:solidFill>
            <a:srgbClr val="888780"/>
          </a:solidFill>
          <a:ln w="12700">
            <a:solidFill>
              <a:srgbClr val="888780"/>
            </a:solidFill>
            <a:prstDash val="solid"/>
          </a:ln>
        </p:spPr>
        <p:txBody>
          <a:bodyPr/>
          <a:lstStyle/>
          <a:p>
            <a:endParaRPr lang="en-US"/>
          </a:p>
        </p:txBody>
      </p:sp>
      <p:sp>
        <p:nvSpPr>
          <p:cNvPr id="35" name="Text 33"/>
          <p:cNvSpPr/>
          <p:nvPr/>
        </p:nvSpPr>
        <p:spPr>
          <a:xfrm>
            <a:off x="5943600" y="4681728"/>
            <a:ext cx="548640" cy="384048"/>
          </a:xfrm>
          <a:prstGeom prst="rect">
            <a:avLst/>
          </a:prstGeom>
          <a:noFill/>
          <a:ln/>
        </p:spPr>
        <p:txBody>
          <a:bodyPr wrap="square" lIns="0" tIns="0" rIns="0" bIns="0" rtlCol="0" anchor="ctr"/>
          <a:lstStyle/>
          <a:p>
            <a:pPr marL="0" indent="0">
              <a:buNone/>
            </a:pPr>
            <a:r>
              <a:rPr lang="en-US" sz="1100" dirty="0">
                <a:solidFill>
                  <a:srgbClr val="4A4842"/>
                </a:solidFill>
                <a:latin typeface="Calibri" pitchFamily="34" charset="0"/>
                <a:ea typeface="Calibri" pitchFamily="34" charset="-122"/>
                <a:cs typeface="Calibri" pitchFamily="34" charset="-120"/>
              </a:rPr>
              <a:t>~0%</a:t>
            </a:r>
            <a:endParaRPr lang="en-US" sz="1100" dirty="0"/>
          </a:p>
        </p:txBody>
      </p:sp>
      <p:sp>
        <p:nvSpPr>
          <p:cNvPr id="36" name="Text 34"/>
          <p:cNvSpPr/>
          <p:nvPr/>
        </p:nvSpPr>
        <p:spPr>
          <a:xfrm>
            <a:off x="7680960" y="2011680"/>
            <a:ext cx="411480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WHY MEDIAN, NOT MEAN</a:t>
            </a:r>
            <a:endParaRPr lang="en-US" sz="1100" dirty="0"/>
          </a:p>
        </p:txBody>
      </p:sp>
      <p:sp>
        <p:nvSpPr>
          <p:cNvPr id="37" name="Text 35"/>
          <p:cNvSpPr/>
          <p:nvPr/>
        </p:nvSpPr>
        <p:spPr>
          <a:xfrm>
            <a:off x="7680960" y="2377440"/>
            <a:ext cx="4114800" cy="3200400"/>
          </a:xfrm>
          <a:prstGeom prst="rect">
            <a:avLst/>
          </a:prstGeom>
          <a:noFill/>
          <a:ln/>
        </p:spPr>
        <p:txBody>
          <a:bodyPr wrap="square" lIns="0" tIns="0" rIns="0" bIns="0" rtlCol="0" anchor="ctr"/>
          <a:lstStyle/>
          <a:p>
            <a:pPr marL="0" indent="0">
              <a:buNone/>
            </a:pPr>
            <a:r>
              <a:rPr lang="en-US" sz="1300" b="1" dirty="0">
                <a:solidFill>
                  <a:srgbClr val="1C1C1A"/>
                </a:solidFill>
                <a:latin typeface="Calibri" pitchFamily="34" charset="0"/>
                <a:ea typeface="Calibri" pitchFamily="34" charset="-122"/>
                <a:cs typeface="Calibri" pitchFamily="34" charset="-120"/>
              </a:rPr>
              <a:t>Several variables are skewed.</a:t>
            </a:r>
            <a:endParaRPr lang="en-US" sz="1300" dirty="0"/>
          </a:p>
          <a:p>
            <a:pPr marL="0" indent="0">
              <a:buNone/>
            </a:pPr>
            <a:r>
              <a:rPr lang="en-US" sz="1300" dirty="0">
                <a:solidFill>
                  <a:srgbClr val="4A4842"/>
                </a:solidFill>
                <a:latin typeface="Calibri" pitchFamily="34" charset="0"/>
                <a:ea typeface="Calibri" pitchFamily="34" charset="-122"/>
                <a:cs typeface="Calibri" pitchFamily="34" charset="-120"/>
              </a:rPr>
              <a:t>HbA1c, BMI, systolic BP have heavy right tails.</a:t>
            </a:r>
            <a:endParaRPr lang="en-US" sz="1300" dirty="0"/>
          </a:p>
          <a:p>
            <a:pPr marL="0" indent="0">
              <a:buNone/>
            </a:pPr>
            <a:r>
              <a:rPr lang="en-US" sz="1300" dirty="0">
                <a:solidFill>
                  <a:srgbClr val="1C1C1A"/>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C1C1A"/>
                </a:solidFill>
                <a:latin typeface="Calibri" pitchFamily="34" charset="0"/>
                <a:ea typeface="Calibri" pitchFamily="34" charset="-122"/>
                <a:cs typeface="Calibri" pitchFamily="34" charset="-120"/>
              </a:rPr>
              <a:t>Mean is pulled by outliers.</a:t>
            </a:r>
            <a:endParaRPr lang="en-US" sz="1300" dirty="0"/>
          </a:p>
          <a:p>
            <a:pPr marL="0" indent="0">
              <a:buNone/>
            </a:pPr>
            <a:r>
              <a:rPr lang="en-US" sz="1300" dirty="0">
                <a:solidFill>
                  <a:srgbClr val="4A4842"/>
                </a:solidFill>
                <a:latin typeface="Calibri" pitchFamily="34" charset="0"/>
                <a:ea typeface="Calibri" pitchFamily="34" charset="-122"/>
                <a:cs typeface="Calibri" pitchFamily="34" charset="-120"/>
              </a:rPr>
              <a:t>It would shift imputed values upward.</a:t>
            </a:r>
            <a:endParaRPr lang="en-US" sz="1300" dirty="0"/>
          </a:p>
          <a:p>
            <a:pPr marL="0" indent="0">
              <a:buNone/>
            </a:pPr>
            <a:r>
              <a:rPr lang="en-US" sz="1300" dirty="0">
                <a:solidFill>
                  <a:srgbClr val="1C1C1A"/>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C1C1A"/>
                </a:solidFill>
                <a:latin typeface="Calibri" pitchFamily="34" charset="0"/>
                <a:ea typeface="Calibri" pitchFamily="34" charset="-122"/>
                <a:cs typeface="Calibri" pitchFamily="34" charset="-120"/>
              </a:rPr>
              <a:t>Median is robust.</a:t>
            </a:r>
            <a:endParaRPr lang="en-US" sz="1300" dirty="0"/>
          </a:p>
          <a:p>
            <a:pPr marL="0" indent="0">
              <a:buNone/>
            </a:pPr>
            <a:r>
              <a:rPr lang="en-US" sz="1300" dirty="0">
                <a:solidFill>
                  <a:srgbClr val="4A4842"/>
                </a:solidFill>
                <a:latin typeface="Calibri" pitchFamily="34" charset="0"/>
                <a:ea typeface="Calibri" pitchFamily="34" charset="-122"/>
                <a:cs typeface="Calibri" pitchFamily="34" charset="-120"/>
              </a:rPr>
              <a:t>Represents the typical observation.</a:t>
            </a:r>
            <a:endParaRPr lang="en-US" sz="1300" dirty="0"/>
          </a:p>
          <a:p>
            <a:pPr marL="0" indent="0">
              <a:buNone/>
            </a:pPr>
            <a:r>
              <a:rPr lang="en-US" sz="1300" dirty="0">
                <a:solidFill>
                  <a:srgbClr val="1C1C1A"/>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C1C1A"/>
                </a:solidFill>
                <a:latin typeface="Calibri" pitchFamily="34" charset="0"/>
                <a:ea typeface="Calibri" pitchFamily="34" charset="-122"/>
                <a:cs typeface="Calibri" pitchFamily="34" charset="-120"/>
              </a:rPr>
              <a:t>Verified post-imputation:</a:t>
            </a:r>
            <a:endParaRPr lang="en-US" sz="1300" dirty="0"/>
          </a:p>
          <a:p>
            <a:pPr marL="0" indent="0">
              <a:buNone/>
            </a:pPr>
            <a:r>
              <a:rPr lang="en-US" sz="1300" dirty="0">
                <a:solidFill>
                  <a:srgbClr val="4A4842"/>
                </a:solidFill>
                <a:latin typeface="Calibri" pitchFamily="34" charset="0"/>
                <a:ea typeface="Calibri" pitchFamily="34" charset="-122"/>
                <a:cs typeface="Calibri" pitchFamily="34" charset="-120"/>
              </a:rPr>
              <a:t>Summary statistics nearly identical to original.</a:t>
            </a:r>
            <a:endParaRPr lang="en-US" sz="1300" dirty="0"/>
          </a:p>
        </p:txBody>
      </p:sp>
      <p:sp>
        <p:nvSpPr>
          <p:cNvPr id="38" name="Shape 36"/>
          <p:cNvSpPr/>
          <p:nvPr/>
        </p:nvSpPr>
        <p:spPr>
          <a:xfrm>
            <a:off x="548640" y="5852160"/>
            <a:ext cx="11064240" cy="640080"/>
          </a:xfrm>
          <a:prstGeom prst="rect">
            <a:avLst/>
          </a:prstGeom>
          <a:solidFill>
            <a:srgbClr val="F4F1E8"/>
          </a:solidFill>
          <a:ln w="12700">
            <a:solidFill>
              <a:srgbClr val="F4F1E8"/>
            </a:solidFill>
            <a:prstDash val="solid"/>
          </a:ln>
        </p:spPr>
        <p:txBody>
          <a:bodyPr/>
          <a:lstStyle/>
          <a:p>
            <a:endParaRPr lang="en-US"/>
          </a:p>
        </p:txBody>
      </p:sp>
      <p:sp>
        <p:nvSpPr>
          <p:cNvPr id="39" name="Shape 37"/>
          <p:cNvSpPr/>
          <p:nvPr/>
        </p:nvSpPr>
        <p:spPr>
          <a:xfrm>
            <a:off x="548640" y="5852160"/>
            <a:ext cx="45720" cy="640080"/>
          </a:xfrm>
          <a:prstGeom prst="rect">
            <a:avLst/>
          </a:prstGeom>
          <a:solidFill>
            <a:srgbClr val="D85A30"/>
          </a:solidFill>
          <a:ln w="12700">
            <a:solidFill>
              <a:srgbClr val="D85A30"/>
            </a:solidFill>
            <a:prstDash val="solid"/>
          </a:ln>
        </p:spPr>
        <p:txBody>
          <a:bodyPr/>
          <a:lstStyle/>
          <a:p>
            <a:endParaRPr lang="en-US"/>
          </a:p>
        </p:txBody>
      </p:sp>
      <p:sp>
        <p:nvSpPr>
          <p:cNvPr id="40" name="Text 38"/>
          <p:cNvSpPr/>
          <p:nvPr/>
        </p:nvSpPr>
        <p:spPr>
          <a:xfrm>
            <a:off x="731520" y="5897880"/>
            <a:ext cx="10789920" cy="54864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Means, medians, and variances after imputation matched the original within rounding error. Imputation handled missingness without biasing downstream clustering.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EDA · VARIABLE SELECTION &amp; SCALING</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06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Drop redundancy, standardize the rest</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Correlation analysis removed one variable. Categorical exclusion removed another variable.</a:t>
            </a:r>
            <a:endParaRPr lang="en-US" sz="1400" dirty="0"/>
          </a:p>
        </p:txBody>
      </p:sp>
      <p:sp>
        <p:nvSpPr>
          <p:cNvPr id="7" name="Text 5"/>
          <p:cNvSpPr/>
          <p:nvPr/>
        </p:nvSpPr>
        <p:spPr>
          <a:xfrm>
            <a:off x="1234440" y="2194560"/>
            <a:ext cx="411480" cy="228600"/>
          </a:xfrm>
          <a:prstGeom prst="rect">
            <a:avLst/>
          </a:prstGeom>
          <a:noFill/>
          <a:ln/>
        </p:spPr>
        <p:txBody>
          <a:bodyPr wrap="square" lIns="0" tIns="0" rIns="0" bIns="0" rtlCol="0" anchor="b"/>
          <a:lstStyle/>
          <a:p>
            <a:pPr marL="0" indent="0" algn="ctr">
              <a:buNone/>
            </a:pPr>
            <a:r>
              <a:rPr lang="en-US" sz="900" dirty="0">
                <a:solidFill>
                  <a:srgbClr val="888780"/>
                </a:solidFill>
                <a:latin typeface="Consolas" pitchFamily="34" charset="0"/>
                <a:ea typeface="Consolas" pitchFamily="34" charset="-122"/>
                <a:cs typeface="Consolas" pitchFamily="34" charset="-120"/>
              </a:rPr>
              <a:t>age</a:t>
            </a:r>
            <a:endParaRPr lang="en-US" sz="900" dirty="0"/>
          </a:p>
        </p:txBody>
      </p:sp>
      <p:sp>
        <p:nvSpPr>
          <p:cNvPr id="8" name="Text 6"/>
          <p:cNvSpPr/>
          <p:nvPr/>
        </p:nvSpPr>
        <p:spPr>
          <a:xfrm>
            <a:off x="1645920" y="2194560"/>
            <a:ext cx="411480" cy="228600"/>
          </a:xfrm>
          <a:prstGeom prst="rect">
            <a:avLst/>
          </a:prstGeom>
          <a:noFill/>
          <a:ln/>
        </p:spPr>
        <p:txBody>
          <a:bodyPr wrap="square" lIns="0" tIns="0" rIns="0" bIns="0" rtlCol="0" anchor="b"/>
          <a:lstStyle/>
          <a:p>
            <a:pPr marL="0" indent="0" algn="ctr">
              <a:buNone/>
            </a:pPr>
            <a:r>
              <a:rPr lang="en-US" sz="900" dirty="0">
                <a:solidFill>
                  <a:srgbClr val="888780"/>
                </a:solidFill>
                <a:latin typeface="Consolas" pitchFamily="34" charset="0"/>
                <a:ea typeface="Consolas" pitchFamily="34" charset="-122"/>
                <a:cs typeface="Consolas" pitchFamily="34" charset="-120"/>
              </a:rPr>
              <a:t>inc</a:t>
            </a:r>
            <a:endParaRPr lang="en-US" sz="900" dirty="0"/>
          </a:p>
        </p:txBody>
      </p:sp>
      <p:sp>
        <p:nvSpPr>
          <p:cNvPr id="9" name="Text 7"/>
          <p:cNvSpPr/>
          <p:nvPr/>
        </p:nvSpPr>
        <p:spPr>
          <a:xfrm>
            <a:off x="2057400" y="2194560"/>
            <a:ext cx="411480" cy="228600"/>
          </a:xfrm>
          <a:prstGeom prst="rect">
            <a:avLst/>
          </a:prstGeom>
          <a:noFill/>
          <a:ln/>
        </p:spPr>
        <p:txBody>
          <a:bodyPr wrap="square" lIns="0" tIns="0" rIns="0" bIns="0" rtlCol="0" anchor="b"/>
          <a:lstStyle/>
          <a:p>
            <a:pPr marL="0" indent="0" algn="ctr">
              <a:buNone/>
            </a:pPr>
            <a:r>
              <a:rPr lang="en-US" sz="900" dirty="0">
                <a:solidFill>
                  <a:srgbClr val="888780"/>
                </a:solidFill>
                <a:latin typeface="Consolas" pitchFamily="34" charset="0"/>
                <a:ea typeface="Consolas" pitchFamily="34" charset="-122"/>
                <a:cs typeface="Consolas" pitchFamily="34" charset="-120"/>
              </a:rPr>
              <a:t>bmi</a:t>
            </a:r>
            <a:endParaRPr lang="en-US" sz="900" dirty="0"/>
          </a:p>
        </p:txBody>
      </p:sp>
      <p:sp>
        <p:nvSpPr>
          <p:cNvPr id="10" name="Text 8"/>
          <p:cNvSpPr/>
          <p:nvPr/>
        </p:nvSpPr>
        <p:spPr>
          <a:xfrm>
            <a:off x="2468880" y="2194560"/>
            <a:ext cx="411480" cy="228600"/>
          </a:xfrm>
          <a:prstGeom prst="rect">
            <a:avLst/>
          </a:prstGeom>
          <a:noFill/>
          <a:ln/>
        </p:spPr>
        <p:txBody>
          <a:bodyPr wrap="square" lIns="0" tIns="0" rIns="0" bIns="0" rtlCol="0" anchor="b"/>
          <a:lstStyle/>
          <a:p>
            <a:pPr marL="0" indent="0" algn="ctr">
              <a:buNone/>
            </a:pPr>
            <a:r>
              <a:rPr lang="en-US" sz="900" dirty="0">
                <a:solidFill>
                  <a:srgbClr val="888780"/>
                </a:solidFill>
                <a:latin typeface="Consolas" pitchFamily="34" charset="0"/>
                <a:ea typeface="Consolas" pitchFamily="34" charset="-122"/>
                <a:cs typeface="Consolas" pitchFamily="34" charset="-120"/>
              </a:rPr>
              <a:t>wst</a:t>
            </a:r>
            <a:endParaRPr lang="en-US" sz="900" dirty="0"/>
          </a:p>
        </p:txBody>
      </p:sp>
      <p:sp>
        <p:nvSpPr>
          <p:cNvPr id="11" name="Text 9"/>
          <p:cNvSpPr/>
          <p:nvPr/>
        </p:nvSpPr>
        <p:spPr>
          <a:xfrm>
            <a:off x="2880360" y="2194560"/>
            <a:ext cx="411480" cy="228600"/>
          </a:xfrm>
          <a:prstGeom prst="rect">
            <a:avLst/>
          </a:prstGeom>
          <a:noFill/>
          <a:ln/>
        </p:spPr>
        <p:txBody>
          <a:bodyPr wrap="square" lIns="0" tIns="0" rIns="0" bIns="0" rtlCol="0" anchor="b"/>
          <a:lstStyle/>
          <a:p>
            <a:pPr marL="0" indent="0" algn="ctr">
              <a:buNone/>
            </a:pPr>
            <a:r>
              <a:rPr lang="en-US" sz="900" dirty="0">
                <a:solidFill>
                  <a:srgbClr val="888780"/>
                </a:solidFill>
                <a:latin typeface="Consolas" pitchFamily="34" charset="0"/>
                <a:ea typeface="Consolas" pitchFamily="34" charset="-122"/>
                <a:cs typeface="Consolas" pitchFamily="34" charset="-120"/>
              </a:rPr>
              <a:t>sys</a:t>
            </a:r>
            <a:endParaRPr lang="en-US" sz="900" dirty="0"/>
          </a:p>
        </p:txBody>
      </p:sp>
      <p:sp>
        <p:nvSpPr>
          <p:cNvPr id="12" name="Text 10"/>
          <p:cNvSpPr/>
          <p:nvPr/>
        </p:nvSpPr>
        <p:spPr>
          <a:xfrm>
            <a:off x="3291840" y="2194560"/>
            <a:ext cx="411480" cy="228600"/>
          </a:xfrm>
          <a:prstGeom prst="rect">
            <a:avLst/>
          </a:prstGeom>
          <a:noFill/>
          <a:ln/>
        </p:spPr>
        <p:txBody>
          <a:bodyPr wrap="square" lIns="0" tIns="0" rIns="0" bIns="0" rtlCol="0" anchor="b"/>
          <a:lstStyle/>
          <a:p>
            <a:pPr marL="0" indent="0" algn="ctr">
              <a:buNone/>
            </a:pPr>
            <a:r>
              <a:rPr lang="en-US" sz="900" dirty="0">
                <a:solidFill>
                  <a:srgbClr val="888780"/>
                </a:solidFill>
                <a:latin typeface="Consolas" pitchFamily="34" charset="0"/>
                <a:ea typeface="Consolas" pitchFamily="34" charset="-122"/>
                <a:cs typeface="Consolas" pitchFamily="34" charset="-120"/>
              </a:rPr>
              <a:t>dia</a:t>
            </a:r>
            <a:endParaRPr lang="en-US" sz="900" dirty="0"/>
          </a:p>
        </p:txBody>
      </p:sp>
      <p:sp>
        <p:nvSpPr>
          <p:cNvPr id="13" name="Text 11"/>
          <p:cNvSpPr/>
          <p:nvPr/>
        </p:nvSpPr>
        <p:spPr>
          <a:xfrm>
            <a:off x="3703320" y="2194560"/>
            <a:ext cx="411480" cy="228600"/>
          </a:xfrm>
          <a:prstGeom prst="rect">
            <a:avLst/>
          </a:prstGeom>
          <a:noFill/>
          <a:ln/>
        </p:spPr>
        <p:txBody>
          <a:bodyPr wrap="square" lIns="0" tIns="0" rIns="0" bIns="0" rtlCol="0" anchor="b"/>
          <a:lstStyle/>
          <a:p>
            <a:pPr marL="0" indent="0" algn="ctr">
              <a:buNone/>
            </a:pPr>
            <a:r>
              <a:rPr lang="en-US" sz="900" dirty="0">
                <a:solidFill>
                  <a:srgbClr val="888780"/>
                </a:solidFill>
                <a:latin typeface="Consolas" pitchFamily="34" charset="0"/>
                <a:ea typeface="Consolas" pitchFamily="34" charset="-122"/>
                <a:cs typeface="Consolas" pitchFamily="34" charset="-120"/>
              </a:rPr>
              <a:t>a1c</a:t>
            </a:r>
            <a:endParaRPr lang="en-US" sz="900" dirty="0"/>
          </a:p>
        </p:txBody>
      </p:sp>
      <p:sp>
        <p:nvSpPr>
          <p:cNvPr id="14" name="Text 12"/>
          <p:cNvSpPr/>
          <p:nvPr/>
        </p:nvSpPr>
        <p:spPr>
          <a:xfrm>
            <a:off x="822960" y="2468880"/>
            <a:ext cx="411480" cy="411480"/>
          </a:xfrm>
          <a:prstGeom prst="rect">
            <a:avLst/>
          </a:prstGeom>
          <a:noFill/>
          <a:ln/>
        </p:spPr>
        <p:txBody>
          <a:bodyPr wrap="square" lIns="0" tIns="0" rIns="0" bIns="0" rtlCol="0" anchor="ctr"/>
          <a:lstStyle/>
          <a:p>
            <a:pPr marL="0" indent="0" algn="r">
              <a:buNone/>
            </a:pPr>
            <a:r>
              <a:rPr lang="en-US" sz="900" dirty="0">
                <a:solidFill>
                  <a:srgbClr val="888780"/>
                </a:solidFill>
                <a:latin typeface="Consolas" pitchFamily="34" charset="0"/>
                <a:ea typeface="Consolas" pitchFamily="34" charset="-122"/>
                <a:cs typeface="Consolas" pitchFamily="34" charset="-120"/>
              </a:rPr>
              <a:t>age</a:t>
            </a:r>
            <a:endParaRPr lang="en-US" sz="900" dirty="0"/>
          </a:p>
        </p:txBody>
      </p:sp>
      <p:sp>
        <p:nvSpPr>
          <p:cNvPr id="15" name="Shape 13"/>
          <p:cNvSpPr/>
          <p:nvPr/>
        </p:nvSpPr>
        <p:spPr>
          <a:xfrm>
            <a:off x="1234440" y="2468880"/>
            <a:ext cx="374904" cy="374904"/>
          </a:xfrm>
          <a:prstGeom prst="rect">
            <a:avLst/>
          </a:prstGeom>
          <a:solidFill>
            <a:srgbClr val="8B1A0A"/>
          </a:solidFill>
          <a:ln w="6350">
            <a:solidFill>
              <a:srgbClr val="FFFFFF"/>
            </a:solidFill>
            <a:prstDash val="solid"/>
          </a:ln>
        </p:spPr>
        <p:txBody>
          <a:bodyPr/>
          <a:lstStyle/>
          <a:p>
            <a:endParaRPr lang="en-US"/>
          </a:p>
        </p:txBody>
      </p:sp>
      <p:sp>
        <p:nvSpPr>
          <p:cNvPr id="16" name="Shape 14"/>
          <p:cNvSpPr/>
          <p:nvPr/>
        </p:nvSpPr>
        <p:spPr>
          <a:xfrm>
            <a:off x="1645920" y="2468880"/>
            <a:ext cx="374904" cy="374904"/>
          </a:xfrm>
          <a:prstGeom prst="rect">
            <a:avLst/>
          </a:prstGeom>
          <a:solidFill>
            <a:srgbClr val="F0F0F0"/>
          </a:solidFill>
          <a:ln w="6350">
            <a:solidFill>
              <a:srgbClr val="FFFFFF"/>
            </a:solidFill>
            <a:prstDash val="solid"/>
          </a:ln>
        </p:spPr>
        <p:txBody>
          <a:bodyPr/>
          <a:lstStyle/>
          <a:p>
            <a:endParaRPr lang="en-US"/>
          </a:p>
        </p:txBody>
      </p:sp>
      <p:sp>
        <p:nvSpPr>
          <p:cNvPr id="17" name="Shape 15"/>
          <p:cNvSpPr/>
          <p:nvPr/>
        </p:nvSpPr>
        <p:spPr>
          <a:xfrm>
            <a:off x="2057400" y="2468880"/>
            <a:ext cx="374904" cy="374904"/>
          </a:xfrm>
          <a:prstGeom prst="rect">
            <a:avLst/>
          </a:prstGeom>
          <a:solidFill>
            <a:srgbClr val="FAD7CB"/>
          </a:solidFill>
          <a:ln w="6350">
            <a:solidFill>
              <a:srgbClr val="FFFFFF"/>
            </a:solidFill>
            <a:prstDash val="solid"/>
          </a:ln>
        </p:spPr>
        <p:txBody>
          <a:bodyPr/>
          <a:lstStyle/>
          <a:p>
            <a:endParaRPr lang="en-US"/>
          </a:p>
        </p:txBody>
      </p:sp>
      <p:sp>
        <p:nvSpPr>
          <p:cNvPr id="18" name="Shape 16"/>
          <p:cNvSpPr/>
          <p:nvPr/>
        </p:nvSpPr>
        <p:spPr>
          <a:xfrm>
            <a:off x="2468880" y="2468880"/>
            <a:ext cx="374904" cy="374904"/>
          </a:xfrm>
          <a:prstGeom prst="rect">
            <a:avLst/>
          </a:prstGeom>
          <a:solidFill>
            <a:srgbClr val="FAD7CB"/>
          </a:solidFill>
          <a:ln w="6350">
            <a:solidFill>
              <a:srgbClr val="FFFFFF"/>
            </a:solidFill>
            <a:prstDash val="solid"/>
          </a:ln>
        </p:spPr>
        <p:txBody>
          <a:bodyPr/>
          <a:lstStyle/>
          <a:p>
            <a:endParaRPr lang="en-US"/>
          </a:p>
        </p:txBody>
      </p:sp>
      <p:sp>
        <p:nvSpPr>
          <p:cNvPr id="19" name="Shape 17"/>
          <p:cNvSpPr/>
          <p:nvPr/>
        </p:nvSpPr>
        <p:spPr>
          <a:xfrm>
            <a:off x="2880360" y="2468880"/>
            <a:ext cx="374904" cy="374904"/>
          </a:xfrm>
          <a:prstGeom prst="rect">
            <a:avLst/>
          </a:prstGeom>
          <a:solidFill>
            <a:srgbClr val="E69A7E"/>
          </a:solidFill>
          <a:ln w="6350">
            <a:solidFill>
              <a:srgbClr val="FFFFFF"/>
            </a:solidFill>
            <a:prstDash val="solid"/>
          </a:ln>
        </p:spPr>
        <p:txBody>
          <a:bodyPr/>
          <a:lstStyle/>
          <a:p>
            <a:endParaRPr lang="en-US"/>
          </a:p>
        </p:txBody>
      </p:sp>
      <p:sp>
        <p:nvSpPr>
          <p:cNvPr id="20" name="Shape 18"/>
          <p:cNvSpPr/>
          <p:nvPr/>
        </p:nvSpPr>
        <p:spPr>
          <a:xfrm>
            <a:off x="3291840" y="2468880"/>
            <a:ext cx="374904" cy="374904"/>
          </a:xfrm>
          <a:prstGeom prst="rect">
            <a:avLst/>
          </a:prstGeom>
          <a:solidFill>
            <a:srgbClr val="FAD7CB"/>
          </a:solidFill>
          <a:ln w="6350">
            <a:solidFill>
              <a:srgbClr val="FFFFFF"/>
            </a:solidFill>
            <a:prstDash val="solid"/>
          </a:ln>
        </p:spPr>
        <p:txBody>
          <a:bodyPr/>
          <a:lstStyle/>
          <a:p>
            <a:endParaRPr lang="en-US"/>
          </a:p>
        </p:txBody>
      </p:sp>
      <p:sp>
        <p:nvSpPr>
          <p:cNvPr id="21" name="Shape 19"/>
          <p:cNvSpPr/>
          <p:nvPr/>
        </p:nvSpPr>
        <p:spPr>
          <a:xfrm>
            <a:off x="3703320" y="2468880"/>
            <a:ext cx="374904" cy="374904"/>
          </a:xfrm>
          <a:prstGeom prst="rect">
            <a:avLst/>
          </a:prstGeom>
          <a:solidFill>
            <a:srgbClr val="F5BBA4"/>
          </a:solidFill>
          <a:ln w="6350">
            <a:solidFill>
              <a:srgbClr val="FFFFFF"/>
            </a:solidFill>
            <a:prstDash val="solid"/>
          </a:ln>
        </p:spPr>
        <p:txBody>
          <a:bodyPr/>
          <a:lstStyle/>
          <a:p>
            <a:endParaRPr lang="en-US"/>
          </a:p>
        </p:txBody>
      </p:sp>
      <p:sp>
        <p:nvSpPr>
          <p:cNvPr id="22" name="Text 20"/>
          <p:cNvSpPr/>
          <p:nvPr/>
        </p:nvSpPr>
        <p:spPr>
          <a:xfrm>
            <a:off x="822960" y="2880360"/>
            <a:ext cx="411480" cy="411480"/>
          </a:xfrm>
          <a:prstGeom prst="rect">
            <a:avLst/>
          </a:prstGeom>
          <a:noFill/>
          <a:ln/>
        </p:spPr>
        <p:txBody>
          <a:bodyPr wrap="square" lIns="0" tIns="0" rIns="0" bIns="0" rtlCol="0" anchor="ctr"/>
          <a:lstStyle/>
          <a:p>
            <a:pPr marL="0" indent="0" algn="r">
              <a:buNone/>
            </a:pPr>
            <a:r>
              <a:rPr lang="en-US" sz="900" dirty="0">
                <a:solidFill>
                  <a:srgbClr val="888780"/>
                </a:solidFill>
                <a:latin typeface="Consolas" pitchFamily="34" charset="0"/>
                <a:ea typeface="Consolas" pitchFamily="34" charset="-122"/>
                <a:cs typeface="Consolas" pitchFamily="34" charset="-120"/>
              </a:rPr>
              <a:t>inc</a:t>
            </a:r>
            <a:endParaRPr lang="en-US" sz="900" dirty="0"/>
          </a:p>
        </p:txBody>
      </p:sp>
      <p:sp>
        <p:nvSpPr>
          <p:cNvPr id="23" name="Shape 21"/>
          <p:cNvSpPr/>
          <p:nvPr/>
        </p:nvSpPr>
        <p:spPr>
          <a:xfrm>
            <a:off x="1234440" y="2880360"/>
            <a:ext cx="374904" cy="374904"/>
          </a:xfrm>
          <a:prstGeom prst="rect">
            <a:avLst/>
          </a:prstGeom>
          <a:solidFill>
            <a:srgbClr val="F0F0F0"/>
          </a:solidFill>
          <a:ln w="6350">
            <a:solidFill>
              <a:srgbClr val="FFFFFF"/>
            </a:solidFill>
            <a:prstDash val="solid"/>
          </a:ln>
        </p:spPr>
        <p:txBody>
          <a:bodyPr/>
          <a:lstStyle/>
          <a:p>
            <a:endParaRPr lang="en-US"/>
          </a:p>
        </p:txBody>
      </p:sp>
      <p:sp>
        <p:nvSpPr>
          <p:cNvPr id="24" name="Shape 22"/>
          <p:cNvSpPr/>
          <p:nvPr/>
        </p:nvSpPr>
        <p:spPr>
          <a:xfrm>
            <a:off x="1645920" y="2880360"/>
            <a:ext cx="374904" cy="374904"/>
          </a:xfrm>
          <a:prstGeom prst="rect">
            <a:avLst/>
          </a:prstGeom>
          <a:solidFill>
            <a:srgbClr val="8B1A0A"/>
          </a:solidFill>
          <a:ln w="6350">
            <a:solidFill>
              <a:srgbClr val="FFFFFF"/>
            </a:solidFill>
            <a:prstDash val="solid"/>
          </a:ln>
        </p:spPr>
        <p:txBody>
          <a:bodyPr/>
          <a:lstStyle/>
          <a:p>
            <a:endParaRPr lang="en-US"/>
          </a:p>
        </p:txBody>
      </p:sp>
      <p:sp>
        <p:nvSpPr>
          <p:cNvPr id="25" name="Shape 23"/>
          <p:cNvSpPr/>
          <p:nvPr/>
        </p:nvSpPr>
        <p:spPr>
          <a:xfrm>
            <a:off x="2057400" y="2880360"/>
            <a:ext cx="374904" cy="374904"/>
          </a:xfrm>
          <a:prstGeom prst="rect">
            <a:avLst/>
          </a:prstGeom>
          <a:solidFill>
            <a:srgbClr val="F0F0F0"/>
          </a:solidFill>
          <a:ln w="6350">
            <a:solidFill>
              <a:srgbClr val="FFFFFF"/>
            </a:solidFill>
            <a:prstDash val="solid"/>
          </a:ln>
        </p:spPr>
        <p:txBody>
          <a:bodyPr/>
          <a:lstStyle/>
          <a:p>
            <a:endParaRPr lang="en-US"/>
          </a:p>
        </p:txBody>
      </p:sp>
      <p:sp>
        <p:nvSpPr>
          <p:cNvPr id="26" name="Shape 24"/>
          <p:cNvSpPr/>
          <p:nvPr/>
        </p:nvSpPr>
        <p:spPr>
          <a:xfrm>
            <a:off x="2468880" y="2880360"/>
            <a:ext cx="374904" cy="374904"/>
          </a:xfrm>
          <a:prstGeom prst="rect">
            <a:avLst/>
          </a:prstGeom>
          <a:solidFill>
            <a:srgbClr val="F0F0F0"/>
          </a:solidFill>
          <a:ln w="6350">
            <a:solidFill>
              <a:srgbClr val="FFFFFF"/>
            </a:solidFill>
            <a:prstDash val="solid"/>
          </a:ln>
        </p:spPr>
        <p:txBody>
          <a:bodyPr/>
          <a:lstStyle/>
          <a:p>
            <a:endParaRPr lang="en-US"/>
          </a:p>
        </p:txBody>
      </p:sp>
      <p:sp>
        <p:nvSpPr>
          <p:cNvPr id="27" name="Shape 25"/>
          <p:cNvSpPr/>
          <p:nvPr/>
        </p:nvSpPr>
        <p:spPr>
          <a:xfrm>
            <a:off x="2880360" y="2880360"/>
            <a:ext cx="374904" cy="374904"/>
          </a:xfrm>
          <a:prstGeom prst="rect">
            <a:avLst/>
          </a:prstGeom>
          <a:solidFill>
            <a:srgbClr val="F0F0F0"/>
          </a:solidFill>
          <a:ln w="6350">
            <a:solidFill>
              <a:srgbClr val="FFFFFF"/>
            </a:solidFill>
            <a:prstDash val="solid"/>
          </a:ln>
        </p:spPr>
        <p:txBody>
          <a:bodyPr/>
          <a:lstStyle/>
          <a:p>
            <a:endParaRPr lang="en-US"/>
          </a:p>
        </p:txBody>
      </p:sp>
      <p:sp>
        <p:nvSpPr>
          <p:cNvPr id="28" name="Shape 26"/>
          <p:cNvSpPr/>
          <p:nvPr/>
        </p:nvSpPr>
        <p:spPr>
          <a:xfrm>
            <a:off x="3291840" y="2880360"/>
            <a:ext cx="374904" cy="374904"/>
          </a:xfrm>
          <a:prstGeom prst="rect">
            <a:avLst/>
          </a:prstGeom>
          <a:solidFill>
            <a:srgbClr val="F0F0F0"/>
          </a:solidFill>
          <a:ln w="6350">
            <a:solidFill>
              <a:srgbClr val="FFFFFF"/>
            </a:solidFill>
            <a:prstDash val="solid"/>
          </a:ln>
        </p:spPr>
        <p:txBody>
          <a:bodyPr/>
          <a:lstStyle/>
          <a:p>
            <a:endParaRPr lang="en-US"/>
          </a:p>
        </p:txBody>
      </p:sp>
      <p:sp>
        <p:nvSpPr>
          <p:cNvPr id="29" name="Shape 27"/>
          <p:cNvSpPr/>
          <p:nvPr/>
        </p:nvSpPr>
        <p:spPr>
          <a:xfrm>
            <a:off x="3703320" y="2880360"/>
            <a:ext cx="374904" cy="374904"/>
          </a:xfrm>
          <a:prstGeom prst="rect">
            <a:avLst/>
          </a:prstGeom>
          <a:solidFill>
            <a:srgbClr val="F0F0F0"/>
          </a:solidFill>
          <a:ln w="6350">
            <a:solidFill>
              <a:srgbClr val="FFFFFF"/>
            </a:solidFill>
            <a:prstDash val="solid"/>
          </a:ln>
        </p:spPr>
        <p:txBody>
          <a:bodyPr/>
          <a:lstStyle/>
          <a:p>
            <a:endParaRPr lang="en-US"/>
          </a:p>
        </p:txBody>
      </p:sp>
      <p:sp>
        <p:nvSpPr>
          <p:cNvPr id="30" name="Text 28"/>
          <p:cNvSpPr/>
          <p:nvPr/>
        </p:nvSpPr>
        <p:spPr>
          <a:xfrm>
            <a:off x="822960" y="3291840"/>
            <a:ext cx="411480" cy="411480"/>
          </a:xfrm>
          <a:prstGeom prst="rect">
            <a:avLst/>
          </a:prstGeom>
          <a:noFill/>
          <a:ln/>
        </p:spPr>
        <p:txBody>
          <a:bodyPr wrap="square" lIns="0" tIns="0" rIns="0" bIns="0" rtlCol="0" anchor="ctr"/>
          <a:lstStyle/>
          <a:p>
            <a:pPr marL="0" indent="0" algn="r">
              <a:buNone/>
            </a:pPr>
            <a:r>
              <a:rPr lang="en-US" sz="900" dirty="0">
                <a:solidFill>
                  <a:srgbClr val="888780"/>
                </a:solidFill>
                <a:latin typeface="Consolas" pitchFamily="34" charset="0"/>
                <a:ea typeface="Consolas" pitchFamily="34" charset="-122"/>
                <a:cs typeface="Consolas" pitchFamily="34" charset="-120"/>
              </a:rPr>
              <a:t>bmi</a:t>
            </a:r>
            <a:endParaRPr lang="en-US" sz="900" dirty="0"/>
          </a:p>
        </p:txBody>
      </p:sp>
      <p:sp>
        <p:nvSpPr>
          <p:cNvPr id="31" name="Shape 29"/>
          <p:cNvSpPr/>
          <p:nvPr/>
        </p:nvSpPr>
        <p:spPr>
          <a:xfrm>
            <a:off x="1234440" y="3291840"/>
            <a:ext cx="374904" cy="374904"/>
          </a:xfrm>
          <a:prstGeom prst="rect">
            <a:avLst/>
          </a:prstGeom>
          <a:solidFill>
            <a:srgbClr val="FAD7CB"/>
          </a:solidFill>
          <a:ln w="6350">
            <a:solidFill>
              <a:srgbClr val="FFFFFF"/>
            </a:solidFill>
            <a:prstDash val="solid"/>
          </a:ln>
        </p:spPr>
        <p:txBody>
          <a:bodyPr/>
          <a:lstStyle/>
          <a:p>
            <a:endParaRPr lang="en-US"/>
          </a:p>
        </p:txBody>
      </p:sp>
      <p:sp>
        <p:nvSpPr>
          <p:cNvPr id="32" name="Shape 30"/>
          <p:cNvSpPr/>
          <p:nvPr/>
        </p:nvSpPr>
        <p:spPr>
          <a:xfrm>
            <a:off x="1645920" y="3291840"/>
            <a:ext cx="374904" cy="374904"/>
          </a:xfrm>
          <a:prstGeom prst="rect">
            <a:avLst/>
          </a:prstGeom>
          <a:solidFill>
            <a:srgbClr val="F0F0F0"/>
          </a:solidFill>
          <a:ln w="6350">
            <a:solidFill>
              <a:srgbClr val="FFFFFF"/>
            </a:solidFill>
            <a:prstDash val="solid"/>
          </a:ln>
        </p:spPr>
        <p:txBody>
          <a:bodyPr/>
          <a:lstStyle/>
          <a:p>
            <a:endParaRPr lang="en-US"/>
          </a:p>
        </p:txBody>
      </p:sp>
      <p:sp>
        <p:nvSpPr>
          <p:cNvPr id="33" name="Shape 31"/>
          <p:cNvSpPr/>
          <p:nvPr/>
        </p:nvSpPr>
        <p:spPr>
          <a:xfrm>
            <a:off x="2057400" y="3291840"/>
            <a:ext cx="374904" cy="374904"/>
          </a:xfrm>
          <a:prstGeom prst="rect">
            <a:avLst/>
          </a:prstGeom>
          <a:solidFill>
            <a:srgbClr val="8B1A0A"/>
          </a:solidFill>
          <a:ln w="6350">
            <a:solidFill>
              <a:srgbClr val="FFFFFF"/>
            </a:solidFill>
            <a:prstDash val="solid"/>
          </a:ln>
        </p:spPr>
        <p:txBody>
          <a:bodyPr/>
          <a:lstStyle/>
          <a:p>
            <a:endParaRPr lang="en-US"/>
          </a:p>
        </p:txBody>
      </p:sp>
      <p:sp>
        <p:nvSpPr>
          <p:cNvPr id="34" name="Shape 32"/>
          <p:cNvSpPr/>
          <p:nvPr/>
        </p:nvSpPr>
        <p:spPr>
          <a:xfrm>
            <a:off x="2468880" y="3291840"/>
            <a:ext cx="374904" cy="374904"/>
          </a:xfrm>
          <a:prstGeom prst="rect">
            <a:avLst/>
          </a:prstGeom>
          <a:solidFill>
            <a:srgbClr val="B8351E"/>
          </a:solidFill>
          <a:ln w="19050">
            <a:solidFill>
              <a:srgbClr val="1C1C1A"/>
            </a:solidFill>
            <a:prstDash val="solid"/>
          </a:ln>
        </p:spPr>
        <p:txBody>
          <a:bodyPr/>
          <a:lstStyle/>
          <a:p>
            <a:endParaRPr lang="en-US"/>
          </a:p>
        </p:txBody>
      </p:sp>
      <p:sp>
        <p:nvSpPr>
          <p:cNvPr id="35" name="Shape 33"/>
          <p:cNvSpPr/>
          <p:nvPr/>
        </p:nvSpPr>
        <p:spPr>
          <a:xfrm>
            <a:off x="2880360" y="3291840"/>
            <a:ext cx="374904" cy="374904"/>
          </a:xfrm>
          <a:prstGeom prst="rect">
            <a:avLst/>
          </a:prstGeom>
          <a:solidFill>
            <a:srgbClr val="F5BBA4"/>
          </a:solidFill>
          <a:ln w="6350">
            <a:solidFill>
              <a:srgbClr val="FFFFFF"/>
            </a:solidFill>
            <a:prstDash val="solid"/>
          </a:ln>
        </p:spPr>
        <p:txBody>
          <a:bodyPr/>
          <a:lstStyle/>
          <a:p>
            <a:endParaRPr lang="en-US"/>
          </a:p>
        </p:txBody>
      </p:sp>
      <p:sp>
        <p:nvSpPr>
          <p:cNvPr id="36" name="Shape 34"/>
          <p:cNvSpPr/>
          <p:nvPr/>
        </p:nvSpPr>
        <p:spPr>
          <a:xfrm>
            <a:off x="3291840" y="3291840"/>
            <a:ext cx="374904" cy="374904"/>
          </a:xfrm>
          <a:prstGeom prst="rect">
            <a:avLst/>
          </a:prstGeom>
          <a:solidFill>
            <a:srgbClr val="F5BBA4"/>
          </a:solidFill>
          <a:ln w="6350">
            <a:solidFill>
              <a:srgbClr val="FFFFFF"/>
            </a:solidFill>
            <a:prstDash val="solid"/>
          </a:ln>
        </p:spPr>
        <p:txBody>
          <a:bodyPr/>
          <a:lstStyle/>
          <a:p>
            <a:endParaRPr lang="en-US"/>
          </a:p>
        </p:txBody>
      </p:sp>
      <p:sp>
        <p:nvSpPr>
          <p:cNvPr id="37" name="Shape 35"/>
          <p:cNvSpPr/>
          <p:nvPr/>
        </p:nvSpPr>
        <p:spPr>
          <a:xfrm>
            <a:off x="3703320" y="3291840"/>
            <a:ext cx="374904" cy="374904"/>
          </a:xfrm>
          <a:prstGeom prst="rect">
            <a:avLst/>
          </a:prstGeom>
          <a:solidFill>
            <a:srgbClr val="F5BBA4"/>
          </a:solidFill>
          <a:ln w="6350">
            <a:solidFill>
              <a:srgbClr val="FFFFFF"/>
            </a:solidFill>
            <a:prstDash val="solid"/>
          </a:ln>
        </p:spPr>
        <p:txBody>
          <a:bodyPr/>
          <a:lstStyle/>
          <a:p>
            <a:endParaRPr lang="en-US"/>
          </a:p>
        </p:txBody>
      </p:sp>
      <p:sp>
        <p:nvSpPr>
          <p:cNvPr id="38" name="Text 36"/>
          <p:cNvSpPr/>
          <p:nvPr/>
        </p:nvSpPr>
        <p:spPr>
          <a:xfrm>
            <a:off x="822960" y="3703320"/>
            <a:ext cx="411480" cy="411480"/>
          </a:xfrm>
          <a:prstGeom prst="rect">
            <a:avLst/>
          </a:prstGeom>
          <a:noFill/>
          <a:ln/>
        </p:spPr>
        <p:txBody>
          <a:bodyPr wrap="square" lIns="0" tIns="0" rIns="0" bIns="0" rtlCol="0" anchor="ctr"/>
          <a:lstStyle/>
          <a:p>
            <a:pPr marL="0" indent="0" algn="r">
              <a:buNone/>
            </a:pPr>
            <a:r>
              <a:rPr lang="en-US" sz="900" dirty="0">
                <a:solidFill>
                  <a:srgbClr val="888780"/>
                </a:solidFill>
                <a:latin typeface="Consolas" pitchFamily="34" charset="0"/>
                <a:ea typeface="Consolas" pitchFamily="34" charset="-122"/>
                <a:cs typeface="Consolas" pitchFamily="34" charset="-120"/>
              </a:rPr>
              <a:t>wst</a:t>
            </a:r>
            <a:endParaRPr lang="en-US" sz="900" dirty="0"/>
          </a:p>
        </p:txBody>
      </p:sp>
      <p:sp>
        <p:nvSpPr>
          <p:cNvPr id="39" name="Shape 37"/>
          <p:cNvSpPr/>
          <p:nvPr/>
        </p:nvSpPr>
        <p:spPr>
          <a:xfrm>
            <a:off x="1234440" y="3703320"/>
            <a:ext cx="374904" cy="374904"/>
          </a:xfrm>
          <a:prstGeom prst="rect">
            <a:avLst/>
          </a:prstGeom>
          <a:solidFill>
            <a:srgbClr val="FAD7CB"/>
          </a:solidFill>
          <a:ln w="6350">
            <a:solidFill>
              <a:srgbClr val="FFFFFF"/>
            </a:solidFill>
            <a:prstDash val="solid"/>
          </a:ln>
        </p:spPr>
        <p:txBody>
          <a:bodyPr/>
          <a:lstStyle/>
          <a:p>
            <a:endParaRPr lang="en-US"/>
          </a:p>
        </p:txBody>
      </p:sp>
      <p:sp>
        <p:nvSpPr>
          <p:cNvPr id="40" name="Shape 38"/>
          <p:cNvSpPr/>
          <p:nvPr/>
        </p:nvSpPr>
        <p:spPr>
          <a:xfrm>
            <a:off x="1645920" y="3703320"/>
            <a:ext cx="374904" cy="374904"/>
          </a:xfrm>
          <a:prstGeom prst="rect">
            <a:avLst/>
          </a:prstGeom>
          <a:solidFill>
            <a:srgbClr val="F0F0F0"/>
          </a:solidFill>
          <a:ln w="6350">
            <a:solidFill>
              <a:srgbClr val="FFFFFF"/>
            </a:solidFill>
            <a:prstDash val="solid"/>
          </a:ln>
        </p:spPr>
        <p:txBody>
          <a:bodyPr/>
          <a:lstStyle/>
          <a:p>
            <a:endParaRPr lang="en-US"/>
          </a:p>
        </p:txBody>
      </p:sp>
      <p:sp>
        <p:nvSpPr>
          <p:cNvPr id="41" name="Shape 39"/>
          <p:cNvSpPr/>
          <p:nvPr/>
        </p:nvSpPr>
        <p:spPr>
          <a:xfrm>
            <a:off x="2057400" y="3703320"/>
            <a:ext cx="374904" cy="374904"/>
          </a:xfrm>
          <a:prstGeom prst="rect">
            <a:avLst/>
          </a:prstGeom>
          <a:solidFill>
            <a:srgbClr val="B8351E"/>
          </a:solidFill>
          <a:ln w="19050">
            <a:solidFill>
              <a:srgbClr val="1C1C1A"/>
            </a:solidFill>
            <a:prstDash val="solid"/>
          </a:ln>
        </p:spPr>
        <p:txBody>
          <a:bodyPr/>
          <a:lstStyle/>
          <a:p>
            <a:endParaRPr lang="en-US"/>
          </a:p>
        </p:txBody>
      </p:sp>
      <p:sp>
        <p:nvSpPr>
          <p:cNvPr id="42" name="Shape 40"/>
          <p:cNvSpPr/>
          <p:nvPr/>
        </p:nvSpPr>
        <p:spPr>
          <a:xfrm>
            <a:off x="2468880" y="3703320"/>
            <a:ext cx="374904" cy="374904"/>
          </a:xfrm>
          <a:prstGeom prst="rect">
            <a:avLst/>
          </a:prstGeom>
          <a:solidFill>
            <a:srgbClr val="8B1A0A"/>
          </a:solidFill>
          <a:ln w="6350">
            <a:solidFill>
              <a:srgbClr val="FFFFFF"/>
            </a:solidFill>
            <a:prstDash val="solid"/>
          </a:ln>
        </p:spPr>
        <p:txBody>
          <a:bodyPr/>
          <a:lstStyle/>
          <a:p>
            <a:endParaRPr lang="en-US"/>
          </a:p>
        </p:txBody>
      </p:sp>
      <p:sp>
        <p:nvSpPr>
          <p:cNvPr id="43" name="Shape 41"/>
          <p:cNvSpPr/>
          <p:nvPr/>
        </p:nvSpPr>
        <p:spPr>
          <a:xfrm>
            <a:off x="2880360" y="3703320"/>
            <a:ext cx="374904" cy="374904"/>
          </a:xfrm>
          <a:prstGeom prst="rect">
            <a:avLst/>
          </a:prstGeom>
          <a:solidFill>
            <a:srgbClr val="F5BBA4"/>
          </a:solidFill>
          <a:ln w="6350">
            <a:solidFill>
              <a:srgbClr val="FFFFFF"/>
            </a:solidFill>
            <a:prstDash val="solid"/>
          </a:ln>
        </p:spPr>
        <p:txBody>
          <a:bodyPr/>
          <a:lstStyle/>
          <a:p>
            <a:endParaRPr lang="en-US"/>
          </a:p>
        </p:txBody>
      </p:sp>
      <p:sp>
        <p:nvSpPr>
          <p:cNvPr id="44" name="Shape 42"/>
          <p:cNvSpPr/>
          <p:nvPr/>
        </p:nvSpPr>
        <p:spPr>
          <a:xfrm>
            <a:off x="3291840" y="3703320"/>
            <a:ext cx="374904" cy="374904"/>
          </a:xfrm>
          <a:prstGeom prst="rect">
            <a:avLst/>
          </a:prstGeom>
          <a:solidFill>
            <a:srgbClr val="F5BBA4"/>
          </a:solidFill>
          <a:ln w="6350">
            <a:solidFill>
              <a:srgbClr val="FFFFFF"/>
            </a:solidFill>
            <a:prstDash val="solid"/>
          </a:ln>
        </p:spPr>
        <p:txBody>
          <a:bodyPr/>
          <a:lstStyle/>
          <a:p>
            <a:endParaRPr lang="en-US"/>
          </a:p>
        </p:txBody>
      </p:sp>
      <p:sp>
        <p:nvSpPr>
          <p:cNvPr id="45" name="Shape 43"/>
          <p:cNvSpPr/>
          <p:nvPr/>
        </p:nvSpPr>
        <p:spPr>
          <a:xfrm>
            <a:off x="3703320" y="3703320"/>
            <a:ext cx="374904" cy="374904"/>
          </a:xfrm>
          <a:prstGeom prst="rect">
            <a:avLst/>
          </a:prstGeom>
          <a:solidFill>
            <a:srgbClr val="F5BBA4"/>
          </a:solidFill>
          <a:ln w="6350">
            <a:solidFill>
              <a:srgbClr val="FFFFFF"/>
            </a:solidFill>
            <a:prstDash val="solid"/>
          </a:ln>
        </p:spPr>
        <p:txBody>
          <a:bodyPr/>
          <a:lstStyle/>
          <a:p>
            <a:endParaRPr lang="en-US"/>
          </a:p>
        </p:txBody>
      </p:sp>
      <p:sp>
        <p:nvSpPr>
          <p:cNvPr id="46" name="Text 44"/>
          <p:cNvSpPr/>
          <p:nvPr/>
        </p:nvSpPr>
        <p:spPr>
          <a:xfrm>
            <a:off x="822960" y="4114800"/>
            <a:ext cx="411480" cy="411480"/>
          </a:xfrm>
          <a:prstGeom prst="rect">
            <a:avLst/>
          </a:prstGeom>
          <a:noFill/>
          <a:ln/>
        </p:spPr>
        <p:txBody>
          <a:bodyPr wrap="square" lIns="0" tIns="0" rIns="0" bIns="0" rtlCol="0" anchor="ctr"/>
          <a:lstStyle/>
          <a:p>
            <a:pPr marL="0" indent="0" algn="r">
              <a:buNone/>
            </a:pPr>
            <a:r>
              <a:rPr lang="en-US" sz="900" dirty="0">
                <a:solidFill>
                  <a:srgbClr val="888780"/>
                </a:solidFill>
                <a:latin typeface="Consolas" pitchFamily="34" charset="0"/>
                <a:ea typeface="Consolas" pitchFamily="34" charset="-122"/>
                <a:cs typeface="Consolas" pitchFamily="34" charset="-120"/>
              </a:rPr>
              <a:t>sys</a:t>
            </a:r>
            <a:endParaRPr lang="en-US" sz="900" dirty="0"/>
          </a:p>
        </p:txBody>
      </p:sp>
      <p:sp>
        <p:nvSpPr>
          <p:cNvPr id="47" name="Shape 45"/>
          <p:cNvSpPr/>
          <p:nvPr/>
        </p:nvSpPr>
        <p:spPr>
          <a:xfrm>
            <a:off x="1234440" y="4114800"/>
            <a:ext cx="374904" cy="374904"/>
          </a:xfrm>
          <a:prstGeom prst="rect">
            <a:avLst/>
          </a:prstGeom>
          <a:solidFill>
            <a:srgbClr val="E69A7E"/>
          </a:solidFill>
          <a:ln w="6350">
            <a:solidFill>
              <a:srgbClr val="FFFFFF"/>
            </a:solidFill>
            <a:prstDash val="solid"/>
          </a:ln>
        </p:spPr>
        <p:txBody>
          <a:bodyPr/>
          <a:lstStyle/>
          <a:p>
            <a:endParaRPr lang="en-US"/>
          </a:p>
        </p:txBody>
      </p:sp>
      <p:sp>
        <p:nvSpPr>
          <p:cNvPr id="48" name="Shape 46"/>
          <p:cNvSpPr/>
          <p:nvPr/>
        </p:nvSpPr>
        <p:spPr>
          <a:xfrm>
            <a:off x="1645920" y="4114800"/>
            <a:ext cx="374904" cy="374904"/>
          </a:xfrm>
          <a:prstGeom prst="rect">
            <a:avLst/>
          </a:prstGeom>
          <a:solidFill>
            <a:srgbClr val="F0F0F0"/>
          </a:solidFill>
          <a:ln w="6350">
            <a:solidFill>
              <a:srgbClr val="FFFFFF"/>
            </a:solidFill>
            <a:prstDash val="solid"/>
          </a:ln>
        </p:spPr>
        <p:txBody>
          <a:bodyPr/>
          <a:lstStyle/>
          <a:p>
            <a:endParaRPr lang="en-US"/>
          </a:p>
        </p:txBody>
      </p:sp>
      <p:sp>
        <p:nvSpPr>
          <p:cNvPr id="49" name="Shape 47"/>
          <p:cNvSpPr/>
          <p:nvPr/>
        </p:nvSpPr>
        <p:spPr>
          <a:xfrm>
            <a:off x="2057400" y="4114800"/>
            <a:ext cx="374904" cy="374904"/>
          </a:xfrm>
          <a:prstGeom prst="rect">
            <a:avLst/>
          </a:prstGeom>
          <a:solidFill>
            <a:srgbClr val="F5BBA4"/>
          </a:solidFill>
          <a:ln w="6350">
            <a:solidFill>
              <a:srgbClr val="FFFFFF"/>
            </a:solidFill>
            <a:prstDash val="solid"/>
          </a:ln>
        </p:spPr>
        <p:txBody>
          <a:bodyPr/>
          <a:lstStyle/>
          <a:p>
            <a:endParaRPr lang="en-US"/>
          </a:p>
        </p:txBody>
      </p:sp>
      <p:sp>
        <p:nvSpPr>
          <p:cNvPr id="50" name="Shape 48"/>
          <p:cNvSpPr/>
          <p:nvPr/>
        </p:nvSpPr>
        <p:spPr>
          <a:xfrm>
            <a:off x="2468880" y="4114800"/>
            <a:ext cx="374904" cy="374904"/>
          </a:xfrm>
          <a:prstGeom prst="rect">
            <a:avLst/>
          </a:prstGeom>
          <a:solidFill>
            <a:srgbClr val="F5BBA4"/>
          </a:solidFill>
          <a:ln w="6350">
            <a:solidFill>
              <a:srgbClr val="FFFFFF"/>
            </a:solidFill>
            <a:prstDash val="solid"/>
          </a:ln>
        </p:spPr>
        <p:txBody>
          <a:bodyPr/>
          <a:lstStyle/>
          <a:p>
            <a:endParaRPr lang="en-US"/>
          </a:p>
        </p:txBody>
      </p:sp>
      <p:sp>
        <p:nvSpPr>
          <p:cNvPr id="51" name="Shape 49"/>
          <p:cNvSpPr/>
          <p:nvPr/>
        </p:nvSpPr>
        <p:spPr>
          <a:xfrm>
            <a:off x="2880360" y="4114800"/>
            <a:ext cx="374904" cy="374904"/>
          </a:xfrm>
          <a:prstGeom prst="rect">
            <a:avLst/>
          </a:prstGeom>
          <a:solidFill>
            <a:srgbClr val="8B1A0A"/>
          </a:solidFill>
          <a:ln w="6350">
            <a:solidFill>
              <a:srgbClr val="FFFFFF"/>
            </a:solidFill>
            <a:prstDash val="solid"/>
          </a:ln>
        </p:spPr>
        <p:txBody>
          <a:bodyPr/>
          <a:lstStyle/>
          <a:p>
            <a:endParaRPr lang="en-US"/>
          </a:p>
        </p:txBody>
      </p:sp>
      <p:sp>
        <p:nvSpPr>
          <p:cNvPr id="52" name="Shape 50"/>
          <p:cNvSpPr/>
          <p:nvPr/>
        </p:nvSpPr>
        <p:spPr>
          <a:xfrm>
            <a:off x="3291840" y="4114800"/>
            <a:ext cx="374904" cy="374904"/>
          </a:xfrm>
          <a:prstGeom prst="rect">
            <a:avLst/>
          </a:prstGeom>
          <a:solidFill>
            <a:srgbClr val="E69A7E"/>
          </a:solidFill>
          <a:ln w="6350">
            <a:solidFill>
              <a:srgbClr val="FFFFFF"/>
            </a:solidFill>
            <a:prstDash val="solid"/>
          </a:ln>
        </p:spPr>
        <p:txBody>
          <a:bodyPr/>
          <a:lstStyle/>
          <a:p>
            <a:endParaRPr lang="en-US"/>
          </a:p>
        </p:txBody>
      </p:sp>
      <p:sp>
        <p:nvSpPr>
          <p:cNvPr id="53" name="Shape 51"/>
          <p:cNvSpPr/>
          <p:nvPr/>
        </p:nvSpPr>
        <p:spPr>
          <a:xfrm>
            <a:off x="3703320" y="4114800"/>
            <a:ext cx="374904" cy="374904"/>
          </a:xfrm>
          <a:prstGeom prst="rect">
            <a:avLst/>
          </a:prstGeom>
          <a:solidFill>
            <a:srgbClr val="F5BBA4"/>
          </a:solidFill>
          <a:ln w="6350">
            <a:solidFill>
              <a:srgbClr val="FFFFFF"/>
            </a:solidFill>
            <a:prstDash val="solid"/>
          </a:ln>
        </p:spPr>
        <p:txBody>
          <a:bodyPr/>
          <a:lstStyle/>
          <a:p>
            <a:endParaRPr lang="en-US"/>
          </a:p>
        </p:txBody>
      </p:sp>
      <p:sp>
        <p:nvSpPr>
          <p:cNvPr id="54" name="Text 52"/>
          <p:cNvSpPr/>
          <p:nvPr/>
        </p:nvSpPr>
        <p:spPr>
          <a:xfrm>
            <a:off x="822960" y="4526280"/>
            <a:ext cx="411480" cy="411480"/>
          </a:xfrm>
          <a:prstGeom prst="rect">
            <a:avLst/>
          </a:prstGeom>
          <a:noFill/>
          <a:ln/>
        </p:spPr>
        <p:txBody>
          <a:bodyPr wrap="square" lIns="0" tIns="0" rIns="0" bIns="0" rtlCol="0" anchor="ctr"/>
          <a:lstStyle/>
          <a:p>
            <a:pPr marL="0" indent="0" algn="r">
              <a:buNone/>
            </a:pPr>
            <a:r>
              <a:rPr lang="en-US" sz="900" dirty="0">
                <a:solidFill>
                  <a:srgbClr val="888780"/>
                </a:solidFill>
                <a:latin typeface="Consolas" pitchFamily="34" charset="0"/>
                <a:ea typeface="Consolas" pitchFamily="34" charset="-122"/>
                <a:cs typeface="Consolas" pitchFamily="34" charset="-120"/>
              </a:rPr>
              <a:t>dia</a:t>
            </a:r>
            <a:endParaRPr lang="en-US" sz="900" dirty="0"/>
          </a:p>
        </p:txBody>
      </p:sp>
      <p:sp>
        <p:nvSpPr>
          <p:cNvPr id="55" name="Shape 53"/>
          <p:cNvSpPr/>
          <p:nvPr/>
        </p:nvSpPr>
        <p:spPr>
          <a:xfrm>
            <a:off x="1234440" y="4526280"/>
            <a:ext cx="374904" cy="374904"/>
          </a:xfrm>
          <a:prstGeom prst="rect">
            <a:avLst/>
          </a:prstGeom>
          <a:solidFill>
            <a:srgbClr val="FAD7CB"/>
          </a:solidFill>
          <a:ln w="6350">
            <a:solidFill>
              <a:srgbClr val="FFFFFF"/>
            </a:solidFill>
            <a:prstDash val="solid"/>
          </a:ln>
        </p:spPr>
        <p:txBody>
          <a:bodyPr/>
          <a:lstStyle/>
          <a:p>
            <a:endParaRPr lang="en-US"/>
          </a:p>
        </p:txBody>
      </p:sp>
      <p:sp>
        <p:nvSpPr>
          <p:cNvPr id="56" name="Shape 54"/>
          <p:cNvSpPr/>
          <p:nvPr/>
        </p:nvSpPr>
        <p:spPr>
          <a:xfrm>
            <a:off x="1645920" y="4526280"/>
            <a:ext cx="374904" cy="374904"/>
          </a:xfrm>
          <a:prstGeom prst="rect">
            <a:avLst/>
          </a:prstGeom>
          <a:solidFill>
            <a:srgbClr val="F0F0F0"/>
          </a:solidFill>
          <a:ln w="6350">
            <a:solidFill>
              <a:srgbClr val="FFFFFF"/>
            </a:solidFill>
            <a:prstDash val="solid"/>
          </a:ln>
        </p:spPr>
        <p:txBody>
          <a:bodyPr/>
          <a:lstStyle/>
          <a:p>
            <a:endParaRPr lang="en-US"/>
          </a:p>
        </p:txBody>
      </p:sp>
      <p:sp>
        <p:nvSpPr>
          <p:cNvPr id="57" name="Shape 55"/>
          <p:cNvSpPr/>
          <p:nvPr/>
        </p:nvSpPr>
        <p:spPr>
          <a:xfrm>
            <a:off x="2057400" y="4526280"/>
            <a:ext cx="374904" cy="374904"/>
          </a:xfrm>
          <a:prstGeom prst="rect">
            <a:avLst/>
          </a:prstGeom>
          <a:solidFill>
            <a:srgbClr val="F5BBA4"/>
          </a:solidFill>
          <a:ln w="6350">
            <a:solidFill>
              <a:srgbClr val="FFFFFF"/>
            </a:solidFill>
            <a:prstDash val="solid"/>
          </a:ln>
        </p:spPr>
        <p:txBody>
          <a:bodyPr/>
          <a:lstStyle/>
          <a:p>
            <a:endParaRPr lang="en-US"/>
          </a:p>
        </p:txBody>
      </p:sp>
      <p:sp>
        <p:nvSpPr>
          <p:cNvPr id="58" name="Shape 56"/>
          <p:cNvSpPr/>
          <p:nvPr/>
        </p:nvSpPr>
        <p:spPr>
          <a:xfrm>
            <a:off x="2468880" y="4526280"/>
            <a:ext cx="374904" cy="374904"/>
          </a:xfrm>
          <a:prstGeom prst="rect">
            <a:avLst/>
          </a:prstGeom>
          <a:solidFill>
            <a:srgbClr val="F5BBA4"/>
          </a:solidFill>
          <a:ln w="6350">
            <a:solidFill>
              <a:srgbClr val="FFFFFF"/>
            </a:solidFill>
            <a:prstDash val="solid"/>
          </a:ln>
        </p:spPr>
        <p:txBody>
          <a:bodyPr/>
          <a:lstStyle/>
          <a:p>
            <a:endParaRPr lang="en-US"/>
          </a:p>
        </p:txBody>
      </p:sp>
      <p:sp>
        <p:nvSpPr>
          <p:cNvPr id="59" name="Shape 57"/>
          <p:cNvSpPr/>
          <p:nvPr/>
        </p:nvSpPr>
        <p:spPr>
          <a:xfrm>
            <a:off x="2880360" y="4526280"/>
            <a:ext cx="374904" cy="374904"/>
          </a:xfrm>
          <a:prstGeom prst="rect">
            <a:avLst/>
          </a:prstGeom>
          <a:solidFill>
            <a:srgbClr val="E69A7E"/>
          </a:solidFill>
          <a:ln w="6350">
            <a:solidFill>
              <a:srgbClr val="FFFFFF"/>
            </a:solidFill>
            <a:prstDash val="solid"/>
          </a:ln>
        </p:spPr>
        <p:txBody>
          <a:bodyPr/>
          <a:lstStyle/>
          <a:p>
            <a:endParaRPr lang="en-US"/>
          </a:p>
        </p:txBody>
      </p:sp>
      <p:sp>
        <p:nvSpPr>
          <p:cNvPr id="60" name="Shape 58"/>
          <p:cNvSpPr/>
          <p:nvPr/>
        </p:nvSpPr>
        <p:spPr>
          <a:xfrm>
            <a:off x="3291840" y="4526280"/>
            <a:ext cx="374904" cy="374904"/>
          </a:xfrm>
          <a:prstGeom prst="rect">
            <a:avLst/>
          </a:prstGeom>
          <a:solidFill>
            <a:srgbClr val="8B1A0A"/>
          </a:solidFill>
          <a:ln w="6350">
            <a:solidFill>
              <a:srgbClr val="FFFFFF"/>
            </a:solidFill>
            <a:prstDash val="solid"/>
          </a:ln>
        </p:spPr>
        <p:txBody>
          <a:bodyPr/>
          <a:lstStyle/>
          <a:p>
            <a:endParaRPr lang="en-US"/>
          </a:p>
        </p:txBody>
      </p:sp>
      <p:sp>
        <p:nvSpPr>
          <p:cNvPr id="61" name="Shape 59"/>
          <p:cNvSpPr/>
          <p:nvPr/>
        </p:nvSpPr>
        <p:spPr>
          <a:xfrm>
            <a:off x="3703320" y="4526280"/>
            <a:ext cx="374904" cy="374904"/>
          </a:xfrm>
          <a:prstGeom prst="rect">
            <a:avLst/>
          </a:prstGeom>
          <a:solidFill>
            <a:srgbClr val="FAD7CB"/>
          </a:solidFill>
          <a:ln w="6350">
            <a:solidFill>
              <a:srgbClr val="FFFFFF"/>
            </a:solidFill>
            <a:prstDash val="solid"/>
          </a:ln>
        </p:spPr>
        <p:txBody>
          <a:bodyPr/>
          <a:lstStyle/>
          <a:p>
            <a:endParaRPr lang="en-US"/>
          </a:p>
        </p:txBody>
      </p:sp>
      <p:sp>
        <p:nvSpPr>
          <p:cNvPr id="62" name="Text 60"/>
          <p:cNvSpPr/>
          <p:nvPr/>
        </p:nvSpPr>
        <p:spPr>
          <a:xfrm>
            <a:off x="822960" y="4937760"/>
            <a:ext cx="411480" cy="411480"/>
          </a:xfrm>
          <a:prstGeom prst="rect">
            <a:avLst/>
          </a:prstGeom>
          <a:noFill/>
          <a:ln/>
        </p:spPr>
        <p:txBody>
          <a:bodyPr wrap="square" lIns="0" tIns="0" rIns="0" bIns="0" rtlCol="0" anchor="ctr"/>
          <a:lstStyle/>
          <a:p>
            <a:pPr marL="0" indent="0" algn="r">
              <a:buNone/>
            </a:pPr>
            <a:r>
              <a:rPr lang="en-US" sz="900" dirty="0">
                <a:solidFill>
                  <a:srgbClr val="888780"/>
                </a:solidFill>
                <a:latin typeface="Consolas" pitchFamily="34" charset="0"/>
                <a:ea typeface="Consolas" pitchFamily="34" charset="-122"/>
                <a:cs typeface="Consolas" pitchFamily="34" charset="-120"/>
              </a:rPr>
              <a:t>a1c</a:t>
            </a:r>
            <a:endParaRPr lang="en-US" sz="900" dirty="0"/>
          </a:p>
        </p:txBody>
      </p:sp>
      <p:sp>
        <p:nvSpPr>
          <p:cNvPr id="63" name="Shape 61"/>
          <p:cNvSpPr/>
          <p:nvPr/>
        </p:nvSpPr>
        <p:spPr>
          <a:xfrm>
            <a:off x="1234440" y="4937760"/>
            <a:ext cx="374904" cy="374904"/>
          </a:xfrm>
          <a:prstGeom prst="rect">
            <a:avLst/>
          </a:prstGeom>
          <a:solidFill>
            <a:srgbClr val="F5BBA4"/>
          </a:solidFill>
          <a:ln w="6350">
            <a:solidFill>
              <a:srgbClr val="FFFFFF"/>
            </a:solidFill>
            <a:prstDash val="solid"/>
          </a:ln>
        </p:spPr>
        <p:txBody>
          <a:bodyPr/>
          <a:lstStyle/>
          <a:p>
            <a:endParaRPr lang="en-US"/>
          </a:p>
        </p:txBody>
      </p:sp>
      <p:sp>
        <p:nvSpPr>
          <p:cNvPr id="64" name="Shape 62"/>
          <p:cNvSpPr/>
          <p:nvPr/>
        </p:nvSpPr>
        <p:spPr>
          <a:xfrm>
            <a:off x="1645920" y="4937760"/>
            <a:ext cx="374904" cy="374904"/>
          </a:xfrm>
          <a:prstGeom prst="rect">
            <a:avLst/>
          </a:prstGeom>
          <a:solidFill>
            <a:srgbClr val="F0F0F0"/>
          </a:solidFill>
          <a:ln w="6350">
            <a:solidFill>
              <a:srgbClr val="FFFFFF"/>
            </a:solidFill>
            <a:prstDash val="solid"/>
          </a:ln>
        </p:spPr>
        <p:txBody>
          <a:bodyPr/>
          <a:lstStyle/>
          <a:p>
            <a:endParaRPr lang="en-US"/>
          </a:p>
        </p:txBody>
      </p:sp>
      <p:sp>
        <p:nvSpPr>
          <p:cNvPr id="65" name="Shape 63"/>
          <p:cNvSpPr/>
          <p:nvPr/>
        </p:nvSpPr>
        <p:spPr>
          <a:xfrm>
            <a:off x="2057400" y="4937760"/>
            <a:ext cx="374904" cy="374904"/>
          </a:xfrm>
          <a:prstGeom prst="rect">
            <a:avLst/>
          </a:prstGeom>
          <a:solidFill>
            <a:srgbClr val="F5BBA4"/>
          </a:solidFill>
          <a:ln w="6350">
            <a:solidFill>
              <a:srgbClr val="FFFFFF"/>
            </a:solidFill>
            <a:prstDash val="solid"/>
          </a:ln>
        </p:spPr>
        <p:txBody>
          <a:bodyPr/>
          <a:lstStyle/>
          <a:p>
            <a:endParaRPr lang="en-US"/>
          </a:p>
        </p:txBody>
      </p:sp>
      <p:sp>
        <p:nvSpPr>
          <p:cNvPr id="66" name="Shape 64"/>
          <p:cNvSpPr/>
          <p:nvPr/>
        </p:nvSpPr>
        <p:spPr>
          <a:xfrm>
            <a:off x="2468880" y="4937760"/>
            <a:ext cx="374904" cy="374904"/>
          </a:xfrm>
          <a:prstGeom prst="rect">
            <a:avLst/>
          </a:prstGeom>
          <a:solidFill>
            <a:srgbClr val="F5BBA4"/>
          </a:solidFill>
          <a:ln w="6350">
            <a:solidFill>
              <a:srgbClr val="FFFFFF"/>
            </a:solidFill>
            <a:prstDash val="solid"/>
          </a:ln>
        </p:spPr>
        <p:txBody>
          <a:bodyPr/>
          <a:lstStyle/>
          <a:p>
            <a:endParaRPr lang="en-US"/>
          </a:p>
        </p:txBody>
      </p:sp>
      <p:sp>
        <p:nvSpPr>
          <p:cNvPr id="67" name="Shape 65"/>
          <p:cNvSpPr/>
          <p:nvPr/>
        </p:nvSpPr>
        <p:spPr>
          <a:xfrm>
            <a:off x="2880360" y="4937760"/>
            <a:ext cx="374904" cy="374904"/>
          </a:xfrm>
          <a:prstGeom prst="rect">
            <a:avLst/>
          </a:prstGeom>
          <a:solidFill>
            <a:srgbClr val="F5BBA4"/>
          </a:solidFill>
          <a:ln w="6350">
            <a:solidFill>
              <a:srgbClr val="FFFFFF"/>
            </a:solidFill>
            <a:prstDash val="solid"/>
          </a:ln>
        </p:spPr>
        <p:txBody>
          <a:bodyPr/>
          <a:lstStyle/>
          <a:p>
            <a:endParaRPr lang="en-US"/>
          </a:p>
        </p:txBody>
      </p:sp>
      <p:sp>
        <p:nvSpPr>
          <p:cNvPr id="68" name="Shape 66"/>
          <p:cNvSpPr/>
          <p:nvPr/>
        </p:nvSpPr>
        <p:spPr>
          <a:xfrm>
            <a:off x="3291840" y="4937760"/>
            <a:ext cx="374904" cy="374904"/>
          </a:xfrm>
          <a:prstGeom prst="rect">
            <a:avLst/>
          </a:prstGeom>
          <a:solidFill>
            <a:srgbClr val="FAD7CB"/>
          </a:solidFill>
          <a:ln w="6350">
            <a:solidFill>
              <a:srgbClr val="FFFFFF"/>
            </a:solidFill>
            <a:prstDash val="solid"/>
          </a:ln>
        </p:spPr>
        <p:txBody>
          <a:bodyPr/>
          <a:lstStyle/>
          <a:p>
            <a:endParaRPr lang="en-US"/>
          </a:p>
        </p:txBody>
      </p:sp>
      <p:sp>
        <p:nvSpPr>
          <p:cNvPr id="69" name="Shape 67"/>
          <p:cNvSpPr/>
          <p:nvPr/>
        </p:nvSpPr>
        <p:spPr>
          <a:xfrm>
            <a:off x="3703320" y="4937760"/>
            <a:ext cx="374904" cy="374904"/>
          </a:xfrm>
          <a:prstGeom prst="rect">
            <a:avLst/>
          </a:prstGeom>
          <a:solidFill>
            <a:srgbClr val="8B1A0A"/>
          </a:solidFill>
          <a:ln w="6350">
            <a:solidFill>
              <a:srgbClr val="FFFFFF"/>
            </a:solidFill>
            <a:prstDash val="solid"/>
          </a:ln>
        </p:spPr>
        <p:txBody>
          <a:bodyPr/>
          <a:lstStyle/>
          <a:p>
            <a:endParaRPr lang="en-US"/>
          </a:p>
        </p:txBody>
      </p:sp>
      <p:sp>
        <p:nvSpPr>
          <p:cNvPr id="70" name="Text 68"/>
          <p:cNvSpPr/>
          <p:nvPr/>
        </p:nvSpPr>
        <p:spPr>
          <a:xfrm>
            <a:off x="3063240" y="3168396"/>
            <a:ext cx="1280160" cy="228600"/>
          </a:xfrm>
          <a:prstGeom prst="rect">
            <a:avLst/>
          </a:prstGeom>
          <a:noFill/>
          <a:ln/>
        </p:spPr>
        <p:txBody>
          <a:bodyPr wrap="square" lIns="0" tIns="0" rIns="0" bIns="0" rtlCol="0" anchor="ctr"/>
          <a:lstStyle/>
          <a:p>
            <a:pPr marL="0" indent="0">
              <a:buNone/>
            </a:pPr>
            <a:r>
              <a:rPr lang="en-US" sz="1000" b="1" dirty="0">
                <a:solidFill>
                  <a:srgbClr val="1C1C1A"/>
                </a:solidFill>
                <a:latin typeface="Calibri" pitchFamily="34" charset="0"/>
                <a:ea typeface="Calibri" pitchFamily="34" charset="-122"/>
                <a:cs typeface="Calibri" pitchFamily="34" charset="-120"/>
              </a:rPr>
              <a:t>bmi × waist</a:t>
            </a:r>
            <a:endParaRPr lang="en-US" sz="1000" dirty="0"/>
          </a:p>
        </p:txBody>
      </p:sp>
      <p:sp>
        <p:nvSpPr>
          <p:cNvPr id="71" name="Text 69"/>
          <p:cNvSpPr/>
          <p:nvPr/>
        </p:nvSpPr>
        <p:spPr>
          <a:xfrm>
            <a:off x="3063240" y="3291840"/>
            <a:ext cx="1280160" cy="228600"/>
          </a:xfrm>
          <a:prstGeom prst="rect">
            <a:avLst/>
          </a:prstGeom>
          <a:noFill/>
          <a:ln/>
        </p:spPr>
        <p:txBody>
          <a:bodyPr wrap="square" lIns="0" tIns="0" rIns="0" bIns="0" rtlCol="0" anchor="ctr"/>
          <a:lstStyle/>
          <a:p>
            <a:pPr marL="0" indent="0">
              <a:buNone/>
            </a:pPr>
            <a:r>
              <a:rPr lang="en-US" sz="1000" dirty="0">
                <a:solidFill>
                  <a:srgbClr val="888780"/>
                </a:solidFill>
                <a:latin typeface="Calibri" pitchFamily="34" charset="0"/>
                <a:ea typeface="Calibri" pitchFamily="34" charset="-122"/>
                <a:cs typeface="Calibri" pitchFamily="34" charset="-120"/>
              </a:rPr>
              <a:t>r ≈ 0.90</a:t>
            </a:r>
            <a:endParaRPr lang="en-US" sz="1000" dirty="0"/>
          </a:p>
        </p:txBody>
      </p:sp>
      <p:sp>
        <p:nvSpPr>
          <p:cNvPr id="72" name="Text 70"/>
          <p:cNvSpPr/>
          <p:nvPr/>
        </p:nvSpPr>
        <p:spPr>
          <a:xfrm>
            <a:off x="7315200" y="2194560"/>
            <a:ext cx="457200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DECISIONS MADE</a:t>
            </a:r>
            <a:endParaRPr lang="en-US" sz="1100" dirty="0"/>
          </a:p>
        </p:txBody>
      </p:sp>
      <p:sp>
        <p:nvSpPr>
          <p:cNvPr id="73" name="Shape 71"/>
          <p:cNvSpPr/>
          <p:nvPr/>
        </p:nvSpPr>
        <p:spPr>
          <a:xfrm>
            <a:off x="7315200" y="2606040"/>
            <a:ext cx="365760" cy="365760"/>
          </a:xfrm>
          <a:prstGeom prst="ellipse">
            <a:avLst/>
          </a:prstGeom>
          <a:solidFill>
            <a:srgbClr val="D85A30"/>
          </a:solidFill>
          <a:ln w="12700">
            <a:solidFill>
              <a:srgbClr val="D85A30"/>
            </a:solidFill>
            <a:prstDash val="solid"/>
          </a:ln>
        </p:spPr>
        <p:txBody>
          <a:bodyPr/>
          <a:lstStyle/>
          <a:p>
            <a:endParaRPr lang="en-US"/>
          </a:p>
        </p:txBody>
      </p:sp>
      <p:sp>
        <p:nvSpPr>
          <p:cNvPr id="74" name="Text 72"/>
          <p:cNvSpPr/>
          <p:nvPr/>
        </p:nvSpPr>
        <p:spPr>
          <a:xfrm>
            <a:off x="7315200" y="26060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75" name="Text 73"/>
          <p:cNvSpPr/>
          <p:nvPr/>
        </p:nvSpPr>
        <p:spPr>
          <a:xfrm>
            <a:off x="7818120" y="2606040"/>
            <a:ext cx="4114800" cy="640080"/>
          </a:xfrm>
          <a:prstGeom prst="rect">
            <a:avLst/>
          </a:prstGeom>
          <a:noFill/>
          <a:ln/>
        </p:spPr>
        <p:txBody>
          <a:bodyPr wrap="square" lIns="0" tIns="0" rIns="0" bIns="0" rtlCol="0" anchor="t"/>
          <a:lstStyle/>
          <a:p>
            <a:pPr marL="0" indent="0">
              <a:buNone/>
            </a:pPr>
            <a:r>
              <a:rPr lang="en-US" sz="1200" b="1" dirty="0">
                <a:solidFill>
                  <a:srgbClr val="1C1C1A"/>
                </a:solidFill>
                <a:latin typeface="Calibri" pitchFamily="34" charset="0"/>
                <a:ea typeface="Calibri" pitchFamily="34" charset="-122"/>
                <a:cs typeface="Calibri" pitchFamily="34" charset="-120"/>
              </a:rPr>
              <a:t>Drop waist  </a:t>
            </a:r>
            <a:r>
              <a:rPr lang="en-US" sz="1200" dirty="0">
                <a:solidFill>
                  <a:srgbClr val="4A4842"/>
                </a:solidFill>
                <a:latin typeface="Calibri" pitchFamily="34" charset="0"/>
                <a:ea typeface="Calibri" pitchFamily="34" charset="-122"/>
                <a:cs typeface="Calibri" pitchFamily="34" charset="-120"/>
              </a:rPr>
              <a:t>Highly correlated with BMI (r ≈ 0.90). Keep one to avoid redundancy.</a:t>
            </a:r>
            <a:endParaRPr lang="en-US" sz="1200" dirty="0"/>
          </a:p>
        </p:txBody>
      </p:sp>
      <p:sp>
        <p:nvSpPr>
          <p:cNvPr id="76" name="Shape 74"/>
          <p:cNvSpPr/>
          <p:nvPr/>
        </p:nvSpPr>
        <p:spPr>
          <a:xfrm>
            <a:off x="7315200" y="3383280"/>
            <a:ext cx="365760" cy="365760"/>
          </a:xfrm>
          <a:prstGeom prst="ellipse">
            <a:avLst/>
          </a:prstGeom>
          <a:solidFill>
            <a:srgbClr val="D85A30"/>
          </a:solidFill>
          <a:ln w="12700">
            <a:solidFill>
              <a:srgbClr val="D85A30"/>
            </a:solidFill>
            <a:prstDash val="solid"/>
          </a:ln>
        </p:spPr>
        <p:txBody>
          <a:bodyPr/>
          <a:lstStyle/>
          <a:p>
            <a:endParaRPr lang="en-US"/>
          </a:p>
        </p:txBody>
      </p:sp>
      <p:sp>
        <p:nvSpPr>
          <p:cNvPr id="77" name="Text 75"/>
          <p:cNvSpPr/>
          <p:nvPr/>
        </p:nvSpPr>
        <p:spPr>
          <a:xfrm>
            <a:off x="7315200" y="3383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78" name="Text 76"/>
          <p:cNvSpPr/>
          <p:nvPr/>
        </p:nvSpPr>
        <p:spPr>
          <a:xfrm>
            <a:off x="7818120" y="3383280"/>
            <a:ext cx="4114800" cy="640080"/>
          </a:xfrm>
          <a:prstGeom prst="rect">
            <a:avLst/>
          </a:prstGeom>
          <a:noFill/>
          <a:ln/>
        </p:spPr>
        <p:txBody>
          <a:bodyPr wrap="square" lIns="0" tIns="0" rIns="0" bIns="0" rtlCol="0" anchor="t"/>
          <a:lstStyle/>
          <a:p>
            <a:pPr marL="0" indent="0">
              <a:buNone/>
            </a:pPr>
            <a:r>
              <a:rPr lang="en-US" sz="1200" b="1" dirty="0">
                <a:solidFill>
                  <a:srgbClr val="1C1C1A"/>
                </a:solidFill>
                <a:latin typeface="Calibri" pitchFamily="34" charset="0"/>
                <a:ea typeface="Calibri" pitchFamily="34" charset="-122"/>
                <a:cs typeface="Calibri" pitchFamily="34" charset="-120"/>
              </a:rPr>
              <a:t>Drop sex  </a:t>
            </a:r>
            <a:r>
              <a:rPr lang="en-US" sz="1200" dirty="0">
                <a:solidFill>
                  <a:srgbClr val="4A4842"/>
                </a:solidFill>
                <a:latin typeface="Calibri" pitchFamily="34" charset="0"/>
                <a:ea typeface="Calibri" pitchFamily="34" charset="-122"/>
                <a:cs typeface="Calibri" pitchFamily="34" charset="-120"/>
              </a:rPr>
              <a:t>Categorical, not appropriate for distance-based clustering. Saved for profiling.</a:t>
            </a:r>
            <a:endParaRPr lang="en-US" sz="1200" dirty="0"/>
          </a:p>
        </p:txBody>
      </p:sp>
      <p:sp>
        <p:nvSpPr>
          <p:cNvPr id="79" name="Shape 77"/>
          <p:cNvSpPr/>
          <p:nvPr/>
        </p:nvSpPr>
        <p:spPr>
          <a:xfrm>
            <a:off x="7315200" y="4160520"/>
            <a:ext cx="365760" cy="365760"/>
          </a:xfrm>
          <a:prstGeom prst="ellipse">
            <a:avLst/>
          </a:prstGeom>
          <a:solidFill>
            <a:srgbClr val="D85A30"/>
          </a:solidFill>
          <a:ln w="12700">
            <a:solidFill>
              <a:srgbClr val="D85A30"/>
            </a:solidFill>
            <a:prstDash val="solid"/>
          </a:ln>
        </p:spPr>
        <p:txBody>
          <a:bodyPr/>
          <a:lstStyle/>
          <a:p>
            <a:endParaRPr lang="en-US"/>
          </a:p>
        </p:txBody>
      </p:sp>
      <p:sp>
        <p:nvSpPr>
          <p:cNvPr id="80" name="Text 78"/>
          <p:cNvSpPr/>
          <p:nvPr/>
        </p:nvSpPr>
        <p:spPr>
          <a:xfrm>
            <a:off x="7315200" y="4160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81" name="Text 79"/>
          <p:cNvSpPr/>
          <p:nvPr/>
        </p:nvSpPr>
        <p:spPr>
          <a:xfrm>
            <a:off x="7818120" y="4160520"/>
            <a:ext cx="4114800" cy="640080"/>
          </a:xfrm>
          <a:prstGeom prst="rect">
            <a:avLst/>
          </a:prstGeom>
          <a:noFill/>
          <a:ln/>
        </p:spPr>
        <p:txBody>
          <a:bodyPr wrap="square" lIns="0" tIns="0" rIns="0" bIns="0" rtlCol="0" anchor="t"/>
          <a:lstStyle/>
          <a:p>
            <a:pPr marL="0" indent="0">
              <a:buNone/>
            </a:pPr>
            <a:r>
              <a:rPr lang="en-US" sz="1200" b="1" dirty="0">
                <a:solidFill>
                  <a:srgbClr val="1C1C1A"/>
                </a:solidFill>
                <a:latin typeface="Calibri" pitchFamily="34" charset="0"/>
                <a:ea typeface="Calibri" pitchFamily="34" charset="-122"/>
                <a:cs typeface="Calibri" pitchFamily="34" charset="-120"/>
              </a:rPr>
              <a:t>Standardize  </a:t>
            </a:r>
            <a:r>
              <a:rPr lang="en-US" sz="1200" dirty="0">
                <a:solidFill>
                  <a:srgbClr val="4A4842"/>
                </a:solidFill>
                <a:latin typeface="Calibri" pitchFamily="34" charset="0"/>
                <a:ea typeface="Calibri" pitchFamily="34" charset="-122"/>
                <a:cs typeface="Calibri" pitchFamily="34" charset="-120"/>
              </a:rPr>
              <a:t>Remaining six variables to mean 0, sd 1.</a:t>
            </a:r>
            <a:endParaRPr lang="en-US" sz="1200" dirty="0"/>
          </a:p>
        </p:txBody>
      </p:sp>
      <p:sp>
        <p:nvSpPr>
          <p:cNvPr id="82" name="Shape 80"/>
          <p:cNvSpPr/>
          <p:nvPr/>
        </p:nvSpPr>
        <p:spPr>
          <a:xfrm>
            <a:off x="7315200" y="4937760"/>
            <a:ext cx="365760" cy="365760"/>
          </a:xfrm>
          <a:prstGeom prst="ellipse">
            <a:avLst/>
          </a:prstGeom>
          <a:solidFill>
            <a:srgbClr val="D85A30"/>
          </a:solidFill>
          <a:ln w="12700">
            <a:solidFill>
              <a:srgbClr val="D85A30"/>
            </a:solidFill>
            <a:prstDash val="solid"/>
          </a:ln>
        </p:spPr>
        <p:txBody>
          <a:bodyPr/>
          <a:lstStyle/>
          <a:p>
            <a:endParaRPr lang="en-US"/>
          </a:p>
        </p:txBody>
      </p:sp>
      <p:sp>
        <p:nvSpPr>
          <p:cNvPr id="83" name="Text 81"/>
          <p:cNvSpPr/>
          <p:nvPr/>
        </p:nvSpPr>
        <p:spPr>
          <a:xfrm>
            <a:off x="7315200" y="49377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84" name="Text 82"/>
          <p:cNvSpPr/>
          <p:nvPr/>
        </p:nvSpPr>
        <p:spPr>
          <a:xfrm>
            <a:off x="7818120" y="4937760"/>
            <a:ext cx="4114800" cy="640080"/>
          </a:xfrm>
          <a:prstGeom prst="rect">
            <a:avLst/>
          </a:prstGeom>
          <a:noFill/>
          <a:ln/>
        </p:spPr>
        <p:txBody>
          <a:bodyPr wrap="square" lIns="0" tIns="0" rIns="0" bIns="0" rtlCol="0" anchor="t"/>
          <a:lstStyle/>
          <a:p>
            <a:pPr marL="0" indent="0">
              <a:buNone/>
            </a:pPr>
            <a:r>
              <a:rPr lang="en-US" sz="1200" b="1" dirty="0">
                <a:solidFill>
                  <a:srgbClr val="1C1C1A"/>
                </a:solidFill>
                <a:latin typeface="Calibri" pitchFamily="34" charset="0"/>
                <a:ea typeface="Calibri" pitchFamily="34" charset="-122"/>
                <a:cs typeface="Calibri" pitchFamily="34" charset="-120"/>
              </a:rPr>
              <a:t>Result  </a:t>
            </a:r>
            <a:r>
              <a:rPr lang="en-US" sz="1200" dirty="0">
                <a:solidFill>
                  <a:srgbClr val="4A4842"/>
                </a:solidFill>
                <a:latin typeface="Calibri" pitchFamily="34" charset="0"/>
                <a:ea typeface="Calibri" pitchFamily="34" charset="-122"/>
                <a:cs typeface="Calibri" pitchFamily="34" charset="-120"/>
              </a:rPr>
              <a:t>All variables contribute equally; no variable dominates by scale.</a:t>
            </a:r>
            <a:endParaRPr lang="en-US" sz="1200" dirty="0"/>
          </a:p>
        </p:txBody>
      </p:sp>
      <p:sp>
        <p:nvSpPr>
          <p:cNvPr id="85" name="Shape 83"/>
          <p:cNvSpPr/>
          <p:nvPr/>
        </p:nvSpPr>
        <p:spPr>
          <a:xfrm>
            <a:off x="548640" y="5852160"/>
            <a:ext cx="11064240" cy="640080"/>
          </a:xfrm>
          <a:prstGeom prst="rect">
            <a:avLst/>
          </a:prstGeom>
          <a:solidFill>
            <a:srgbClr val="F4F1E8"/>
          </a:solidFill>
          <a:ln w="12700">
            <a:solidFill>
              <a:srgbClr val="F4F1E8"/>
            </a:solidFill>
            <a:prstDash val="solid"/>
          </a:ln>
        </p:spPr>
        <p:txBody>
          <a:bodyPr/>
          <a:lstStyle/>
          <a:p>
            <a:endParaRPr lang="en-US"/>
          </a:p>
        </p:txBody>
      </p:sp>
      <p:sp>
        <p:nvSpPr>
          <p:cNvPr id="86" name="Shape 84"/>
          <p:cNvSpPr/>
          <p:nvPr/>
        </p:nvSpPr>
        <p:spPr>
          <a:xfrm>
            <a:off x="548640" y="5852160"/>
            <a:ext cx="45720" cy="640080"/>
          </a:xfrm>
          <a:prstGeom prst="rect">
            <a:avLst/>
          </a:prstGeom>
          <a:solidFill>
            <a:srgbClr val="D85A30"/>
          </a:solidFill>
          <a:ln w="12700">
            <a:solidFill>
              <a:srgbClr val="D85A30"/>
            </a:solidFill>
            <a:prstDash val="solid"/>
          </a:ln>
        </p:spPr>
        <p:txBody>
          <a:bodyPr/>
          <a:lstStyle/>
          <a:p>
            <a:endParaRPr lang="en-US"/>
          </a:p>
        </p:txBody>
      </p:sp>
      <p:sp>
        <p:nvSpPr>
          <p:cNvPr id="87" name="Text 85"/>
          <p:cNvSpPr/>
          <p:nvPr/>
        </p:nvSpPr>
        <p:spPr>
          <a:xfrm>
            <a:off x="731520" y="5897880"/>
            <a:ext cx="10789920" cy="54864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Six variables move on to clustering: age, income_pir, BMI, sys_bp, dia_bp, HbA1c.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EDA · PRE-CLUSTERING VISUALIZATION</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07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PCA and UMAP suggest continuous structure</a:t>
            </a:r>
            <a:endParaRPr lang="en-US" sz="3200" dirty="0"/>
          </a:p>
        </p:txBody>
      </p:sp>
      <p:sp>
        <p:nvSpPr>
          <p:cNvPr id="7" name="Shape 5"/>
          <p:cNvSpPr/>
          <p:nvPr/>
        </p:nvSpPr>
        <p:spPr>
          <a:xfrm>
            <a:off x="395865" y="1620616"/>
            <a:ext cx="5586085" cy="4630879"/>
          </a:xfrm>
          <a:prstGeom prst="rect">
            <a:avLst/>
          </a:prstGeom>
          <a:solidFill>
            <a:srgbClr val="F4F1E8"/>
          </a:solidFill>
          <a:ln w="12700">
            <a:solidFill>
              <a:srgbClr val="F4F1E8"/>
            </a:solidFill>
            <a:prstDash val="solid"/>
          </a:ln>
        </p:spPr>
        <p:txBody>
          <a:bodyPr/>
          <a:lstStyle/>
          <a:p>
            <a:endParaRPr lang="en-US" dirty="0"/>
          </a:p>
        </p:txBody>
      </p:sp>
      <p:sp>
        <p:nvSpPr>
          <p:cNvPr id="112" name="Shape 110"/>
          <p:cNvSpPr/>
          <p:nvPr/>
        </p:nvSpPr>
        <p:spPr>
          <a:xfrm>
            <a:off x="6172200" y="1620617"/>
            <a:ext cx="5242560" cy="4664860"/>
          </a:xfrm>
          <a:prstGeom prst="rect">
            <a:avLst/>
          </a:prstGeom>
          <a:solidFill>
            <a:srgbClr val="F4F1E8"/>
          </a:solidFill>
          <a:ln w="12700">
            <a:solidFill>
              <a:srgbClr val="F4F1E8"/>
            </a:solidFill>
            <a:prstDash val="solid"/>
          </a:ln>
        </p:spPr>
        <p:txBody>
          <a:bodyPr/>
          <a:lstStyle/>
          <a:p>
            <a:endParaRPr lang="en-US"/>
          </a:p>
        </p:txBody>
      </p:sp>
      <p:sp>
        <p:nvSpPr>
          <p:cNvPr id="8" name="Text 6"/>
          <p:cNvSpPr/>
          <p:nvPr/>
        </p:nvSpPr>
        <p:spPr>
          <a:xfrm>
            <a:off x="548640" y="1839476"/>
            <a:ext cx="4937760" cy="320040"/>
          </a:xfrm>
          <a:prstGeom prst="rect">
            <a:avLst/>
          </a:prstGeom>
          <a:noFill/>
          <a:ln/>
        </p:spPr>
        <p:txBody>
          <a:bodyPr wrap="square" lIns="0" tIns="0" rIns="0" bIns="0" rtlCol="0" anchor="ctr"/>
          <a:lstStyle/>
          <a:p>
            <a:pPr marL="0" indent="0">
              <a:buNone/>
            </a:pPr>
            <a:r>
              <a:rPr lang="en-US" sz="1600" b="1" dirty="0">
                <a:solidFill>
                  <a:srgbClr val="1C1C1A"/>
                </a:solidFill>
                <a:latin typeface="Georgia" pitchFamily="34" charset="0"/>
                <a:ea typeface="Georgia" pitchFamily="34" charset="-122"/>
                <a:cs typeface="Georgia" pitchFamily="34" charset="-120"/>
              </a:rPr>
              <a:t>PCA projection</a:t>
            </a:r>
            <a:endParaRPr lang="en-US" sz="1600" dirty="0"/>
          </a:p>
        </p:txBody>
      </p:sp>
      <p:sp>
        <p:nvSpPr>
          <p:cNvPr id="9" name="Text 7"/>
          <p:cNvSpPr/>
          <p:nvPr/>
        </p:nvSpPr>
        <p:spPr>
          <a:xfrm>
            <a:off x="720028" y="2044193"/>
            <a:ext cx="4937760" cy="274320"/>
          </a:xfrm>
          <a:prstGeom prst="rect">
            <a:avLst/>
          </a:prstGeom>
          <a:noFill/>
          <a:ln/>
        </p:spPr>
        <p:txBody>
          <a:bodyPr wrap="square" lIns="0" tIns="0" rIns="0" bIns="0" rtlCol="0" anchor="ctr"/>
          <a:lstStyle/>
          <a:p>
            <a:pPr marL="0" indent="0">
              <a:buNone/>
            </a:pPr>
            <a:r>
              <a:rPr lang="en-US" sz="1100" i="1" dirty="0">
                <a:solidFill>
                  <a:srgbClr val="888780"/>
                </a:solidFill>
                <a:latin typeface="Calibri" pitchFamily="34" charset="0"/>
                <a:ea typeface="Calibri" pitchFamily="34" charset="-122"/>
                <a:cs typeface="Calibri" pitchFamily="34" charset="-120"/>
              </a:rPr>
              <a:t>Two principal components, scaled data</a:t>
            </a:r>
            <a:endParaRPr lang="en-US" sz="1100" dirty="0"/>
          </a:p>
        </p:txBody>
      </p:sp>
      <p:sp>
        <p:nvSpPr>
          <p:cNvPr id="113" name="Text 111"/>
          <p:cNvSpPr/>
          <p:nvPr/>
        </p:nvSpPr>
        <p:spPr>
          <a:xfrm>
            <a:off x="6537960" y="1872322"/>
            <a:ext cx="4937760" cy="320040"/>
          </a:xfrm>
          <a:prstGeom prst="rect">
            <a:avLst/>
          </a:prstGeom>
          <a:noFill/>
          <a:ln/>
        </p:spPr>
        <p:txBody>
          <a:bodyPr wrap="square" lIns="0" tIns="0" rIns="0" bIns="0" rtlCol="0" anchor="ctr"/>
          <a:lstStyle/>
          <a:p>
            <a:pPr marL="0" indent="0">
              <a:buNone/>
            </a:pPr>
            <a:r>
              <a:rPr lang="en-US" sz="1600" b="1" dirty="0">
                <a:solidFill>
                  <a:srgbClr val="1C1C1A"/>
                </a:solidFill>
                <a:latin typeface="Georgia" pitchFamily="34" charset="0"/>
                <a:ea typeface="Georgia" pitchFamily="34" charset="-122"/>
                <a:cs typeface="Georgia" pitchFamily="34" charset="-120"/>
              </a:rPr>
              <a:t>UMAP projection</a:t>
            </a:r>
            <a:endParaRPr lang="en-US" sz="1600" dirty="0"/>
          </a:p>
        </p:txBody>
      </p:sp>
      <p:sp>
        <p:nvSpPr>
          <p:cNvPr id="114" name="Text 112"/>
          <p:cNvSpPr/>
          <p:nvPr/>
        </p:nvSpPr>
        <p:spPr>
          <a:xfrm>
            <a:off x="6537960" y="2043443"/>
            <a:ext cx="4937760" cy="274320"/>
          </a:xfrm>
          <a:prstGeom prst="rect">
            <a:avLst/>
          </a:prstGeom>
          <a:noFill/>
          <a:ln/>
        </p:spPr>
        <p:txBody>
          <a:bodyPr wrap="square" lIns="0" tIns="0" rIns="0" bIns="0" rtlCol="0" anchor="ctr"/>
          <a:lstStyle/>
          <a:p>
            <a:pPr marL="0" indent="0">
              <a:buNone/>
            </a:pPr>
            <a:r>
              <a:rPr lang="en-US" sz="1100" i="1" dirty="0">
                <a:solidFill>
                  <a:srgbClr val="888780"/>
                </a:solidFill>
                <a:latin typeface="Calibri" pitchFamily="34" charset="0"/>
                <a:ea typeface="Calibri" pitchFamily="34" charset="-122"/>
                <a:cs typeface="Calibri" pitchFamily="34" charset="-120"/>
              </a:rPr>
              <a:t>Nonlinear two-dimensional embedding</a:t>
            </a:r>
            <a:endParaRPr lang="en-US" sz="1100" dirty="0"/>
          </a:p>
        </p:txBody>
      </p:sp>
      <p:pic>
        <p:nvPicPr>
          <p:cNvPr id="205" name="Picture 204">
            <a:extLst>
              <a:ext uri="{FF2B5EF4-FFF2-40B4-BE49-F238E27FC236}">
                <a16:creationId xmlns:a16="http://schemas.microsoft.com/office/drawing/2014/main" id="{6E5FB355-1653-5CFD-341D-7451FCA6AEAF}"/>
              </a:ext>
            </a:extLst>
          </p:cNvPr>
          <p:cNvPicPr>
            <a:picLocks noChangeAspect="1"/>
          </p:cNvPicPr>
          <p:nvPr/>
        </p:nvPicPr>
        <p:blipFill>
          <a:blip r:embed="rId3"/>
          <a:srcRect l="-625" t="23159" r="51156" b="8416"/>
          <a:stretch>
            <a:fillRect/>
          </a:stretch>
        </p:blipFill>
        <p:spPr>
          <a:xfrm>
            <a:off x="624839" y="2555514"/>
            <a:ext cx="5010595" cy="3230689"/>
          </a:xfrm>
          <a:prstGeom prst="rect">
            <a:avLst/>
          </a:prstGeom>
        </p:spPr>
      </p:pic>
      <p:pic>
        <p:nvPicPr>
          <p:cNvPr id="207" name="Picture 206">
            <a:extLst>
              <a:ext uri="{FF2B5EF4-FFF2-40B4-BE49-F238E27FC236}">
                <a16:creationId xmlns:a16="http://schemas.microsoft.com/office/drawing/2014/main" id="{CDFB0D1C-3A2F-7CA6-BE65-5C38075FA850}"/>
              </a:ext>
            </a:extLst>
          </p:cNvPr>
          <p:cNvPicPr>
            <a:picLocks noChangeAspect="1"/>
          </p:cNvPicPr>
          <p:nvPr/>
        </p:nvPicPr>
        <p:blipFill>
          <a:blip r:embed="rId3"/>
          <a:srcRect l="49064" t="17268" b="6667"/>
          <a:stretch>
            <a:fillRect/>
          </a:stretch>
        </p:blipFill>
        <p:spPr>
          <a:xfrm>
            <a:off x="6439150" y="2523806"/>
            <a:ext cx="4623591" cy="32623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DBSCAN · METHOD SELECTION</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08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Why DBSCAN for health data</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Density-based clustering with explicit handling of outliers.</a:t>
            </a:r>
            <a:endParaRPr lang="en-US" sz="1400" dirty="0"/>
          </a:p>
        </p:txBody>
      </p:sp>
      <p:sp>
        <p:nvSpPr>
          <p:cNvPr id="7" name="Shape 5"/>
          <p:cNvSpPr/>
          <p:nvPr/>
        </p:nvSpPr>
        <p:spPr>
          <a:xfrm>
            <a:off x="548640" y="2286000"/>
            <a:ext cx="3505200" cy="2377440"/>
          </a:xfrm>
          <a:prstGeom prst="rect">
            <a:avLst/>
          </a:prstGeom>
          <a:solidFill>
            <a:srgbClr val="F4F1E8"/>
          </a:solidFill>
          <a:ln w="12700">
            <a:solidFill>
              <a:srgbClr val="F4F1E8"/>
            </a:solidFill>
            <a:prstDash val="solid"/>
          </a:ln>
        </p:spPr>
        <p:txBody>
          <a:bodyPr/>
          <a:lstStyle/>
          <a:p>
            <a:endParaRPr lang="en-US"/>
          </a:p>
        </p:txBody>
      </p:sp>
      <p:sp>
        <p:nvSpPr>
          <p:cNvPr id="8" name="Shape 6"/>
          <p:cNvSpPr/>
          <p:nvPr/>
        </p:nvSpPr>
        <p:spPr>
          <a:xfrm>
            <a:off x="548640" y="2286000"/>
            <a:ext cx="3505200" cy="45720"/>
          </a:xfrm>
          <a:prstGeom prst="rect">
            <a:avLst/>
          </a:prstGeom>
          <a:solidFill>
            <a:srgbClr val="D85A30"/>
          </a:solidFill>
          <a:ln w="12700">
            <a:solidFill>
              <a:srgbClr val="D85A30"/>
            </a:solidFill>
            <a:prstDash val="solid"/>
          </a:ln>
        </p:spPr>
        <p:txBody>
          <a:bodyPr/>
          <a:lstStyle/>
          <a:p>
            <a:endParaRPr lang="en-US"/>
          </a:p>
        </p:txBody>
      </p:sp>
      <p:sp>
        <p:nvSpPr>
          <p:cNvPr id="9" name="Text 7"/>
          <p:cNvSpPr/>
          <p:nvPr/>
        </p:nvSpPr>
        <p:spPr>
          <a:xfrm>
            <a:off x="822960" y="2468880"/>
            <a:ext cx="914400" cy="365760"/>
          </a:xfrm>
          <a:prstGeom prst="rect">
            <a:avLst/>
          </a:prstGeom>
          <a:noFill/>
          <a:ln/>
        </p:spPr>
        <p:txBody>
          <a:bodyPr wrap="square" lIns="0" tIns="0" rIns="0" bIns="0" rtlCol="0" anchor="ctr"/>
          <a:lstStyle/>
          <a:p>
            <a:pPr marL="0" indent="0">
              <a:buNone/>
            </a:pPr>
            <a:r>
              <a:rPr lang="en-US" sz="1400" b="1" dirty="0">
                <a:solidFill>
                  <a:srgbClr val="D85A30"/>
                </a:solidFill>
                <a:latin typeface="Consolas" pitchFamily="34" charset="0"/>
                <a:ea typeface="Consolas" pitchFamily="34" charset="-122"/>
                <a:cs typeface="Consolas" pitchFamily="34" charset="-120"/>
              </a:rPr>
              <a:t>01</a:t>
            </a:r>
            <a:endParaRPr lang="en-US" sz="1400" dirty="0"/>
          </a:p>
        </p:txBody>
      </p:sp>
      <p:sp>
        <p:nvSpPr>
          <p:cNvPr id="10" name="Text 8"/>
          <p:cNvSpPr/>
          <p:nvPr/>
        </p:nvSpPr>
        <p:spPr>
          <a:xfrm>
            <a:off x="822960" y="2880360"/>
            <a:ext cx="2956560" cy="411480"/>
          </a:xfrm>
          <a:prstGeom prst="rect">
            <a:avLst/>
          </a:prstGeom>
          <a:noFill/>
          <a:ln/>
        </p:spPr>
        <p:txBody>
          <a:bodyPr wrap="square" lIns="0" tIns="0" rIns="0" bIns="0" rtlCol="0" anchor="ctr"/>
          <a:lstStyle/>
          <a:p>
            <a:pPr marL="0" indent="0">
              <a:buNone/>
            </a:pPr>
            <a:r>
              <a:rPr lang="en-US" sz="2000" b="1" dirty="0">
                <a:solidFill>
                  <a:srgbClr val="1C1C1A"/>
                </a:solidFill>
                <a:latin typeface="Georgia" pitchFamily="34" charset="0"/>
                <a:ea typeface="Georgia" pitchFamily="34" charset="-122"/>
                <a:cs typeface="Georgia" pitchFamily="34" charset="-120"/>
              </a:rPr>
              <a:t>No K required</a:t>
            </a:r>
            <a:endParaRPr lang="en-US" sz="2000" dirty="0"/>
          </a:p>
        </p:txBody>
      </p:sp>
      <p:sp>
        <p:nvSpPr>
          <p:cNvPr id="11" name="Text 9"/>
          <p:cNvSpPr/>
          <p:nvPr/>
        </p:nvSpPr>
        <p:spPr>
          <a:xfrm>
            <a:off x="822960" y="3383280"/>
            <a:ext cx="2956560" cy="1188720"/>
          </a:xfrm>
          <a:prstGeom prst="rect">
            <a:avLst/>
          </a:prstGeom>
          <a:noFill/>
          <a:ln/>
        </p:spPr>
        <p:txBody>
          <a:bodyPr wrap="square" lIns="0" tIns="0" rIns="0" bIns="0" rtlCol="0" anchor="ctr"/>
          <a:lstStyle/>
          <a:p>
            <a:pPr marL="0" indent="0">
              <a:buNone/>
            </a:pPr>
            <a:r>
              <a:rPr lang="en-US" sz="1300" dirty="0">
                <a:solidFill>
                  <a:srgbClr val="4A4842"/>
                </a:solidFill>
                <a:latin typeface="Calibri" pitchFamily="34" charset="0"/>
                <a:ea typeface="Calibri" pitchFamily="34" charset="-122"/>
                <a:cs typeface="Calibri" pitchFamily="34" charset="-120"/>
              </a:rPr>
              <a:t>DBSCAN doesn't ask us to specify the number of clusters in advance. It finds them based on regions of high density.</a:t>
            </a:r>
            <a:endParaRPr lang="en-US" sz="1300" dirty="0"/>
          </a:p>
        </p:txBody>
      </p:sp>
      <p:sp>
        <p:nvSpPr>
          <p:cNvPr id="12" name="Shape 10"/>
          <p:cNvSpPr/>
          <p:nvPr/>
        </p:nvSpPr>
        <p:spPr>
          <a:xfrm>
            <a:off x="4328160" y="2286000"/>
            <a:ext cx="3505200" cy="2377440"/>
          </a:xfrm>
          <a:prstGeom prst="rect">
            <a:avLst/>
          </a:prstGeom>
          <a:solidFill>
            <a:srgbClr val="F4F1E8"/>
          </a:solidFill>
          <a:ln w="12700">
            <a:solidFill>
              <a:srgbClr val="F4F1E8"/>
            </a:solidFill>
            <a:prstDash val="solid"/>
          </a:ln>
        </p:spPr>
        <p:txBody>
          <a:bodyPr/>
          <a:lstStyle/>
          <a:p>
            <a:endParaRPr lang="en-US"/>
          </a:p>
        </p:txBody>
      </p:sp>
      <p:sp>
        <p:nvSpPr>
          <p:cNvPr id="13" name="Shape 11"/>
          <p:cNvSpPr/>
          <p:nvPr/>
        </p:nvSpPr>
        <p:spPr>
          <a:xfrm>
            <a:off x="4328160" y="2286000"/>
            <a:ext cx="3505200" cy="45720"/>
          </a:xfrm>
          <a:prstGeom prst="rect">
            <a:avLst/>
          </a:prstGeom>
          <a:solidFill>
            <a:srgbClr val="D85A30"/>
          </a:solidFill>
          <a:ln w="12700">
            <a:solidFill>
              <a:srgbClr val="D85A30"/>
            </a:solidFill>
            <a:prstDash val="solid"/>
          </a:ln>
        </p:spPr>
        <p:txBody>
          <a:bodyPr/>
          <a:lstStyle/>
          <a:p>
            <a:endParaRPr lang="en-US"/>
          </a:p>
        </p:txBody>
      </p:sp>
      <p:sp>
        <p:nvSpPr>
          <p:cNvPr id="14" name="Text 12"/>
          <p:cNvSpPr/>
          <p:nvPr/>
        </p:nvSpPr>
        <p:spPr>
          <a:xfrm>
            <a:off x="4602480" y="2468880"/>
            <a:ext cx="914400" cy="365760"/>
          </a:xfrm>
          <a:prstGeom prst="rect">
            <a:avLst/>
          </a:prstGeom>
          <a:noFill/>
          <a:ln/>
        </p:spPr>
        <p:txBody>
          <a:bodyPr wrap="square" lIns="0" tIns="0" rIns="0" bIns="0" rtlCol="0" anchor="ctr"/>
          <a:lstStyle/>
          <a:p>
            <a:pPr marL="0" indent="0">
              <a:buNone/>
            </a:pPr>
            <a:r>
              <a:rPr lang="en-US" sz="1400" b="1" dirty="0">
                <a:solidFill>
                  <a:srgbClr val="D85A30"/>
                </a:solidFill>
                <a:latin typeface="Consolas" pitchFamily="34" charset="0"/>
                <a:ea typeface="Consolas" pitchFamily="34" charset="-122"/>
                <a:cs typeface="Consolas" pitchFamily="34" charset="-120"/>
              </a:rPr>
              <a:t>02</a:t>
            </a:r>
            <a:endParaRPr lang="en-US" sz="1400" dirty="0"/>
          </a:p>
        </p:txBody>
      </p:sp>
      <p:sp>
        <p:nvSpPr>
          <p:cNvPr id="15" name="Text 13"/>
          <p:cNvSpPr/>
          <p:nvPr/>
        </p:nvSpPr>
        <p:spPr>
          <a:xfrm>
            <a:off x="4602480" y="2880360"/>
            <a:ext cx="2956560" cy="411480"/>
          </a:xfrm>
          <a:prstGeom prst="rect">
            <a:avLst/>
          </a:prstGeom>
          <a:noFill/>
          <a:ln/>
        </p:spPr>
        <p:txBody>
          <a:bodyPr wrap="square" lIns="0" tIns="0" rIns="0" bIns="0" rtlCol="0" anchor="ctr"/>
          <a:lstStyle/>
          <a:p>
            <a:pPr marL="0" indent="0">
              <a:buNone/>
            </a:pPr>
            <a:r>
              <a:rPr lang="en-US" sz="2000" b="1" dirty="0">
                <a:solidFill>
                  <a:srgbClr val="1C1C1A"/>
                </a:solidFill>
                <a:latin typeface="Georgia" pitchFamily="34" charset="0"/>
                <a:ea typeface="Georgia" pitchFamily="34" charset="-122"/>
                <a:cs typeface="Georgia" pitchFamily="34" charset="-120"/>
              </a:rPr>
              <a:t>Noise is explicit</a:t>
            </a:r>
            <a:endParaRPr lang="en-US" sz="2000" dirty="0"/>
          </a:p>
        </p:txBody>
      </p:sp>
      <p:sp>
        <p:nvSpPr>
          <p:cNvPr id="16" name="Text 14"/>
          <p:cNvSpPr/>
          <p:nvPr/>
        </p:nvSpPr>
        <p:spPr>
          <a:xfrm>
            <a:off x="4602480" y="3383280"/>
            <a:ext cx="2956560" cy="1188720"/>
          </a:xfrm>
          <a:prstGeom prst="rect">
            <a:avLst/>
          </a:prstGeom>
          <a:noFill/>
          <a:ln/>
        </p:spPr>
        <p:txBody>
          <a:bodyPr wrap="square" lIns="0" tIns="0" rIns="0" bIns="0" rtlCol="0" anchor="ctr"/>
          <a:lstStyle/>
          <a:p>
            <a:pPr marL="0" indent="0">
              <a:buNone/>
            </a:pPr>
            <a:r>
              <a:rPr lang="en-US" sz="1300" dirty="0">
                <a:solidFill>
                  <a:srgbClr val="4A4842"/>
                </a:solidFill>
                <a:latin typeface="Calibri" pitchFamily="34" charset="0"/>
                <a:ea typeface="Calibri" pitchFamily="34" charset="-122"/>
                <a:cs typeface="Calibri" pitchFamily="34" charset="-120"/>
              </a:rPr>
              <a:t>Low-density points are labeled as noise rather than forced into a cluster. In health data, that matters: extreme cases shouldn't be lumped with typical ones.</a:t>
            </a:r>
            <a:endParaRPr lang="en-US" sz="1300" dirty="0"/>
          </a:p>
        </p:txBody>
      </p:sp>
      <p:sp>
        <p:nvSpPr>
          <p:cNvPr id="17" name="Shape 15"/>
          <p:cNvSpPr/>
          <p:nvPr/>
        </p:nvSpPr>
        <p:spPr>
          <a:xfrm>
            <a:off x="8107680" y="2286000"/>
            <a:ext cx="3505200" cy="2377440"/>
          </a:xfrm>
          <a:prstGeom prst="rect">
            <a:avLst/>
          </a:prstGeom>
          <a:solidFill>
            <a:srgbClr val="F4F1E8"/>
          </a:solidFill>
          <a:ln w="12700">
            <a:solidFill>
              <a:srgbClr val="F4F1E8"/>
            </a:solidFill>
            <a:prstDash val="solid"/>
          </a:ln>
        </p:spPr>
        <p:txBody>
          <a:bodyPr/>
          <a:lstStyle/>
          <a:p>
            <a:endParaRPr lang="en-US"/>
          </a:p>
        </p:txBody>
      </p:sp>
      <p:sp>
        <p:nvSpPr>
          <p:cNvPr id="18" name="Shape 16"/>
          <p:cNvSpPr/>
          <p:nvPr/>
        </p:nvSpPr>
        <p:spPr>
          <a:xfrm>
            <a:off x="8107680" y="2286000"/>
            <a:ext cx="3505200" cy="45720"/>
          </a:xfrm>
          <a:prstGeom prst="rect">
            <a:avLst/>
          </a:prstGeom>
          <a:solidFill>
            <a:srgbClr val="D85A30"/>
          </a:solidFill>
          <a:ln w="12700">
            <a:solidFill>
              <a:srgbClr val="D85A30"/>
            </a:solidFill>
            <a:prstDash val="solid"/>
          </a:ln>
        </p:spPr>
        <p:txBody>
          <a:bodyPr/>
          <a:lstStyle/>
          <a:p>
            <a:endParaRPr lang="en-US"/>
          </a:p>
        </p:txBody>
      </p:sp>
      <p:sp>
        <p:nvSpPr>
          <p:cNvPr id="19" name="Text 17"/>
          <p:cNvSpPr/>
          <p:nvPr/>
        </p:nvSpPr>
        <p:spPr>
          <a:xfrm>
            <a:off x="8382000" y="2468880"/>
            <a:ext cx="914400" cy="365760"/>
          </a:xfrm>
          <a:prstGeom prst="rect">
            <a:avLst/>
          </a:prstGeom>
          <a:noFill/>
          <a:ln/>
        </p:spPr>
        <p:txBody>
          <a:bodyPr wrap="square" lIns="0" tIns="0" rIns="0" bIns="0" rtlCol="0" anchor="ctr"/>
          <a:lstStyle/>
          <a:p>
            <a:pPr marL="0" indent="0">
              <a:buNone/>
            </a:pPr>
            <a:r>
              <a:rPr lang="en-US" sz="1400" b="1" dirty="0">
                <a:solidFill>
                  <a:srgbClr val="D85A30"/>
                </a:solidFill>
                <a:latin typeface="Consolas" pitchFamily="34" charset="0"/>
                <a:ea typeface="Consolas" pitchFamily="34" charset="-122"/>
                <a:cs typeface="Consolas" pitchFamily="34" charset="-120"/>
              </a:rPr>
              <a:t>03</a:t>
            </a:r>
            <a:endParaRPr lang="en-US" sz="1400" dirty="0"/>
          </a:p>
        </p:txBody>
      </p:sp>
      <p:sp>
        <p:nvSpPr>
          <p:cNvPr id="20" name="Text 18"/>
          <p:cNvSpPr/>
          <p:nvPr/>
        </p:nvSpPr>
        <p:spPr>
          <a:xfrm>
            <a:off x="8382000" y="2880360"/>
            <a:ext cx="2956560" cy="411480"/>
          </a:xfrm>
          <a:prstGeom prst="rect">
            <a:avLst/>
          </a:prstGeom>
          <a:noFill/>
          <a:ln/>
        </p:spPr>
        <p:txBody>
          <a:bodyPr wrap="square" lIns="0" tIns="0" rIns="0" bIns="0" rtlCol="0" anchor="ctr"/>
          <a:lstStyle/>
          <a:p>
            <a:pPr marL="0" indent="0">
              <a:buNone/>
            </a:pPr>
            <a:r>
              <a:rPr lang="en-US" sz="2000" b="1" dirty="0">
                <a:solidFill>
                  <a:srgbClr val="1C1C1A"/>
                </a:solidFill>
                <a:latin typeface="Georgia" pitchFamily="34" charset="0"/>
                <a:ea typeface="Georgia" pitchFamily="34" charset="-122"/>
                <a:cs typeface="Georgia" pitchFamily="34" charset="-120"/>
              </a:rPr>
              <a:t>Two parameters</a:t>
            </a:r>
            <a:endParaRPr lang="en-US" sz="2000" dirty="0"/>
          </a:p>
        </p:txBody>
      </p:sp>
      <p:sp>
        <p:nvSpPr>
          <p:cNvPr id="21" name="Text 19"/>
          <p:cNvSpPr/>
          <p:nvPr/>
        </p:nvSpPr>
        <p:spPr>
          <a:xfrm>
            <a:off x="8382000" y="3383280"/>
            <a:ext cx="2956560" cy="1188720"/>
          </a:xfrm>
          <a:prstGeom prst="rect">
            <a:avLst/>
          </a:prstGeom>
          <a:noFill/>
          <a:ln/>
        </p:spPr>
        <p:txBody>
          <a:bodyPr wrap="square" lIns="0" tIns="0" rIns="0" bIns="0" rtlCol="0" anchor="ctr"/>
          <a:lstStyle/>
          <a:p>
            <a:pPr marL="0" indent="0">
              <a:buNone/>
            </a:pPr>
            <a:r>
              <a:rPr lang="en-US" sz="1300" dirty="0">
                <a:solidFill>
                  <a:srgbClr val="4A4842"/>
                </a:solidFill>
                <a:latin typeface="Calibri" pitchFamily="34" charset="0"/>
                <a:ea typeface="Calibri" pitchFamily="34" charset="-122"/>
                <a:cs typeface="Calibri" pitchFamily="34" charset="-120"/>
              </a:rPr>
              <a:t>eps — radius of the neighborhood around each point.</a:t>
            </a:r>
            <a:endParaRPr lang="en-US" sz="1300" dirty="0"/>
          </a:p>
          <a:p>
            <a:pPr marL="0" indent="0">
              <a:buNone/>
            </a:pPr>
            <a:endParaRPr lang="en-US" sz="1300" dirty="0"/>
          </a:p>
          <a:p>
            <a:pPr marL="0" indent="0">
              <a:buNone/>
            </a:pPr>
            <a:r>
              <a:rPr lang="en-US" sz="1300" dirty="0">
                <a:solidFill>
                  <a:srgbClr val="4A4842"/>
                </a:solidFill>
                <a:latin typeface="Calibri" pitchFamily="34" charset="0"/>
                <a:ea typeface="Calibri" pitchFamily="34" charset="-122"/>
                <a:cs typeface="Calibri" pitchFamily="34" charset="-120"/>
              </a:rPr>
              <a:t>minPts — minimum number of points required to form a dense region.</a:t>
            </a:r>
            <a:endParaRPr lang="en-US" sz="1300" dirty="0"/>
          </a:p>
        </p:txBody>
      </p:sp>
      <p:sp>
        <p:nvSpPr>
          <p:cNvPr id="22" name="Shape 20"/>
          <p:cNvSpPr/>
          <p:nvPr/>
        </p:nvSpPr>
        <p:spPr>
          <a:xfrm>
            <a:off x="548640" y="5029200"/>
            <a:ext cx="11064240" cy="731520"/>
          </a:xfrm>
          <a:prstGeom prst="rect">
            <a:avLst/>
          </a:prstGeom>
          <a:solidFill>
            <a:srgbClr val="FDF1EB"/>
          </a:solidFill>
          <a:ln w="12700">
            <a:solidFill>
              <a:srgbClr val="FDF1EB"/>
            </a:solidFill>
            <a:prstDash val="solid"/>
          </a:ln>
        </p:spPr>
        <p:txBody>
          <a:bodyPr/>
          <a:lstStyle/>
          <a:p>
            <a:endParaRPr lang="en-US"/>
          </a:p>
        </p:txBody>
      </p:sp>
      <p:sp>
        <p:nvSpPr>
          <p:cNvPr id="23" name="Text 21"/>
          <p:cNvSpPr/>
          <p:nvPr/>
        </p:nvSpPr>
        <p:spPr>
          <a:xfrm>
            <a:off x="822960" y="5074920"/>
            <a:ext cx="10515600" cy="640080"/>
          </a:xfrm>
          <a:prstGeom prst="rect">
            <a:avLst/>
          </a:prstGeom>
          <a:noFill/>
          <a:ln/>
        </p:spPr>
        <p:txBody>
          <a:bodyPr wrap="square" lIns="0" tIns="0" rIns="0" bIns="0" rtlCol="0" anchor="ctr"/>
          <a:lstStyle/>
          <a:p>
            <a:pPr marL="0" indent="0">
              <a:buNone/>
            </a:pPr>
            <a:r>
              <a:rPr lang="en-US" sz="1300" dirty="0">
                <a:solidFill>
                  <a:srgbClr val="4A4842"/>
                </a:solidFill>
                <a:latin typeface="Calibri" pitchFamily="34" charset="0"/>
                <a:ea typeface="Calibri" pitchFamily="34" charset="-122"/>
                <a:cs typeface="Calibri" pitchFamily="34" charset="-120"/>
              </a:rPr>
              <a:t>DBSCAN can detect unusual observations and find arbitrarily shaped clusters, but it is sensitive to parameter choice and struggles when clusters have very different densities.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DBSCAN · CHOOSING EPSILON</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09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The k-NN distance plot points to ε ≈ 1.5</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Tested at two values of k to confirm the elbow isn't an artifact.</a:t>
            </a:r>
            <a:endParaRPr lang="en-US" sz="1400" dirty="0"/>
          </a:p>
        </p:txBody>
      </p:sp>
      <p:sp>
        <p:nvSpPr>
          <p:cNvPr id="7" name="Shape 5"/>
          <p:cNvSpPr/>
          <p:nvPr/>
        </p:nvSpPr>
        <p:spPr>
          <a:xfrm>
            <a:off x="853440" y="1943100"/>
            <a:ext cx="4235632" cy="3768167"/>
          </a:xfrm>
          <a:prstGeom prst="rect">
            <a:avLst/>
          </a:prstGeom>
          <a:solidFill>
            <a:srgbClr val="F4F1E8"/>
          </a:solidFill>
          <a:ln w="12700">
            <a:solidFill>
              <a:srgbClr val="F4F1E8"/>
            </a:solidFill>
            <a:prstDash val="solid"/>
          </a:ln>
        </p:spPr>
        <p:txBody>
          <a:bodyPr/>
          <a:lstStyle/>
          <a:p>
            <a:endParaRPr lang="en-US"/>
          </a:p>
        </p:txBody>
      </p:sp>
      <p:sp>
        <p:nvSpPr>
          <p:cNvPr id="9" name="Text 7"/>
          <p:cNvSpPr/>
          <p:nvPr/>
        </p:nvSpPr>
        <p:spPr>
          <a:xfrm>
            <a:off x="1464906" y="5436948"/>
            <a:ext cx="4892040" cy="274320"/>
          </a:xfrm>
          <a:prstGeom prst="rect">
            <a:avLst/>
          </a:prstGeom>
          <a:noFill/>
          <a:ln/>
        </p:spPr>
        <p:txBody>
          <a:bodyPr wrap="square" lIns="0" tIns="0" rIns="0" bIns="0" rtlCol="0" anchor="ctr"/>
          <a:lstStyle/>
          <a:p>
            <a:pPr marL="0" indent="0">
              <a:buNone/>
            </a:pPr>
            <a:r>
              <a:rPr lang="en-US" sz="1100" i="1" dirty="0">
                <a:solidFill>
                  <a:srgbClr val="888780"/>
                </a:solidFill>
                <a:latin typeface="Calibri" pitchFamily="34" charset="0"/>
                <a:ea typeface="Calibri" pitchFamily="34" charset="-122"/>
                <a:cs typeface="Calibri" pitchFamily="34" charset="-120"/>
              </a:rPr>
              <a:t>Distance to 4th nearest neighbor, sorted</a:t>
            </a:r>
            <a:endParaRPr lang="en-US" sz="1100" dirty="0"/>
          </a:p>
        </p:txBody>
      </p:sp>
      <p:sp>
        <p:nvSpPr>
          <p:cNvPr id="15" name="Shape 11"/>
          <p:cNvSpPr/>
          <p:nvPr/>
        </p:nvSpPr>
        <p:spPr>
          <a:xfrm>
            <a:off x="548640" y="5852160"/>
            <a:ext cx="11064240" cy="640080"/>
          </a:xfrm>
          <a:prstGeom prst="rect">
            <a:avLst/>
          </a:prstGeom>
          <a:solidFill>
            <a:srgbClr val="F4F1E8"/>
          </a:solidFill>
          <a:ln w="12700">
            <a:solidFill>
              <a:srgbClr val="F4F1E8"/>
            </a:solidFill>
            <a:prstDash val="solid"/>
          </a:ln>
        </p:spPr>
        <p:txBody>
          <a:bodyPr/>
          <a:lstStyle/>
          <a:p>
            <a:endParaRPr lang="en-US"/>
          </a:p>
        </p:txBody>
      </p:sp>
      <p:sp>
        <p:nvSpPr>
          <p:cNvPr id="16" name="Shape 12"/>
          <p:cNvSpPr/>
          <p:nvPr/>
        </p:nvSpPr>
        <p:spPr>
          <a:xfrm>
            <a:off x="548640" y="5852160"/>
            <a:ext cx="45720" cy="640080"/>
          </a:xfrm>
          <a:prstGeom prst="rect">
            <a:avLst/>
          </a:prstGeom>
          <a:solidFill>
            <a:srgbClr val="D85A30"/>
          </a:solidFill>
          <a:ln w="12700">
            <a:solidFill>
              <a:srgbClr val="D85A30"/>
            </a:solidFill>
            <a:prstDash val="solid"/>
          </a:ln>
        </p:spPr>
        <p:txBody>
          <a:bodyPr/>
          <a:lstStyle/>
          <a:p>
            <a:endParaRPr lang="en-US"/>
          </a:p>
        </p:txBody>
      </p:sp>
      <p:sp>
        <p:nvSpPr>
          <p:cNvPr id="17" name="Text 13"/>
          <p:cNvSpPr/>
          <p:nvPr/>
        </p:nvSpPr>
        <p:spPr>
          <a:xfrm>
            <a:off x="731520" y="5897880"/>
            <a:ext cx="10789920" cy="54864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Both curves elbow in the same place (ε ≈ 1.5). The consistency across k values means the density threshold is a property of the data, not a parameter artifact. ε = 1.5 becomes our starting point for the grid search.</a:t>
            </a:r>
            <a:endParaRPr lang="en-US" sz="1200" dirty="0"/>
          </a:p>
        </p:txBody>
      </p:sp>
      <p:pic>
        <p:nvPicPr>
          <p:cNvPr id="19" name="Picture 18">
            <a:extLst>
              <a:ext uri="{FF2B5EF4-FFF2-40B4-BE49-F238E27FC236}">
                <a16:creationId xmlns:a16="http://schemas.microsoft.com/office/drawing/2014/main" id="{1BE3E3C4-E0FF-4FDC-1A3A-DC7839C06EA4}"/>
              </a:ext>
            </a:extLst>
          </p:cNvPr>
          <p:cNvPicPr>
            <a:picLocks noChangeAspect="1"/>
          </p:cNvPicPr>
          <p:nvPr/>
        </p:nvPicPr>
        <p:blipFill>
          <a:blip r:embed="rId3"/>
          <a:stretch>
            <a:fillRect/>
          </a:stretch>
        </p:blipFill>
        <p:spPr>
          <a:xfrm>
            <a:off x="1429647" y="2045183"/>
            <a:ext cx="2776593" cy="3409493"/>
          </a:xfrm>
          <a:prstGeom prst="rect">
            <a:avLst/>
          </a:prstGeom>
        </p:spPr>
      </p:pic>
      <p:sp>
        <p:nvSpPr>
          <p:cNvPr id="20" name="Shape 5">
            <a:extLst>
              <a:ext uri="{FF2B5EF4-FFF2-40B4-BE49-F238E27FC236}">
                <a16:creationId xmlns:a16="http://schemas.microsoft.com/office/drawing/2014/main" id="{4FC3B1F7-C489-9DEB-2A2F-96B9A1002E7D}"/>
              </a:ext>
            </a:extLst>
          </p:cNvPr>
          <p:cNvSpPr/>
          <p:nvPr/>
        </p:nvSpPr>
        <p:spPr>
          <a:xfrm>
            <a:off x="6616803" y="1943099"/>
            <a:ext cx="4235632" cy="3768167"/>
          </a:xfrm>
          <a:prstGeom prst="rect">
            <a:avLst/>
          </a:prstGeom>
          <a:solidFill>
            <a:srgbClr val="F4F1E8"/>
          </a:solidFill>
          <a:ln w="12700">
            <a:solidFill>
              <a:srgbClr val="F4F1E8"/>
            </a:solidFill>
            <a:prstDash val="solid"/>
          </a:ln>
        </p:spPr>
        <p:txBody>
          <a:bodyPr/>
          <a:lstStyle/>
          <a:p>
            <a:endParaRPr lang="en-US"/>
          </a:p>
        </p:txBody>
      </p:sp>
      <p:sp>
        <p:nvSpPr>
          <p:cNvPr id="13" name="Text 10"/>
          <p:cNvSpPr/>
          <p:nvPr/>
        </p:nvSpPr>
        <p:spPr>
          <a:xfrm>
            <a:off x="7488126" y="5417820"/>
            <a:ext cx="4892040" cy="274320"/>
          </a:xfrm>
          <a:prstGeom prst="rect">
            <a:avLst/>
          </a:prstGeom>
          <a:noFill/>
          <a:ln/>
        </p:spPr>
        <p:txBody>
          <a:bodyPr wrap="square" lIns="0" tIns="0" rIns="0" bIns="0" rtlCol="0" anchor="ctr"/>
          <a:lstStyle/>
          <a:p>
            <a:pPr marL="0" indent="0">
              <a:buNone/>
            </a:pPr>
            <a:r>
              <a:rPr lang="en-US" sz="1100" i="1" dirty="0">
                <a:solidFill>
                  <a:srgbClr val="888780"/>
                </a:solidFill>
                <a:latin typeface="Calibri" pitchFamily="34" charset="0"/>
                <a:ea typeface="Calibri" pitchFamily="34" charset="-122"/>
                <a:cs typeface="Calibri" pitchFamily="34" charset="-120"/>
              </a:rPr>
              <a:t>Sensitivity check at a different k value</a:t>
            </a:r>
            <a:endParaRPr lang="en-US" sz="1100" dirty="0"/>
          </a:p>
        </p:txBody>
      </p:sp>
      <p:pic>
        <p:nvPicPr>
          <p:cNvPr id="22" name="Picture 21">
            <a:extLst>
              <a:ext uri="{FF2B5EF4-FFF2-40B4-BE49-F238E27FC236}">
                <a16:creationId xmlns:a16="http://schemas.microsoft.com/office/drawing/2014/main" id="{7A081EB5-8159-75D6-BB05-47337905931D}"/>
              </a:ext>
            </a:extLst>
          </p:cNvPr>
          <p:cNvPicPr>
            <a:picLocks noChangeAspect="1"/>
          </p:cNvPicPr>
          <p:nvPr/>
        </p:nvPicPr>
        <p:blipFill>
          <a:blip r:embed="rId4"/>
          <a:stretch>
            <a:fillRect/>
          </a:stretch>
        </p:blipFill>
        <p:spPr>
          <a:xfrm>
            <a:off x="7488982" y="2026221"/>
            <a:ext cx="2640563" cy="34107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DBSCAN · GRID SEARCH</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10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30 combinations tested — one stable solution</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eps ∈ [1.2, 1.7] × minPts ∈ [3, 7] → ε = 1.5, minPts = 5.</a:t>
            </a:r>
            <a:endParaRPr lang="en-US" sz="1400" dirty="0"/>
          </a:p>
        </p:txBody>
      </p:sp>
      <p:sp>
        <p:nvSpPr>
          <p:cNvPr id="7" name="Text 5"/>
          <p:cNvSpPr/>
          <p:nvPr/>
        </p:nvSpPr>
        <p:spPr>
          <a:xfrm>
            <a:off x="548640" y="2103120"/>
            <a:ext cx="4572000" cy="274320"/>
          </a:xfrm>
          <a:prstGeom prst="rect">
            <a:avLst/>
          </a:prstGeom>
          <a:noFill/>
          <a:ln/>
        </p:spPr>
        <p:txBody>
          <a:bodyPr wrap="square" lIns="0" tIns="0" rIns="0" bIns="0" rtlCol="0" anchor="ctr"/>
          <a:lstStyle/>
          <a:p>
            <a:pPr marL="0" indent="0">
              <a:buNone/>
            </a:pPr>
            <a:r>
              <a:rPr lang="en-US" sz="1200" b="1" dirty="0">
                <a:solidFill>
                  <a:srgbClr val="1C1C1A"/>
                </a:solidFill>
                <a:latin typeface="Calibri" pitchFamily="34" charset="0"/>
                <a:ea typeface="Calibri" pitchFamily="34" charset="-122"/>
                <a:cs typeface="Calibri" pitchFamily="34" charset="-120"/>
              </a:rPr>
              <a:t>Number of clusters by parameter combination</a:t>
            </a:r>
            <a:endParaRPr lang="en-US" sz="1200" dirty="0"/>
          </a:p>
        </p:txBody>
      </p:sp>
      <p:sp>
        <p:nvSpPr>
          <p:cNvPr id="8" name="Text 6"/>
          <p:cNvSpPr/>
          <p:nvPr/>
        </p:nvSpPr>
        <p:spPr>
          <a:xfrm>
            <a:off x="1371600" y="2468880"/>
            <a:ext cx="502920" cy="228600"/>
          </a:xfrm>
          <a:prstGeom prst="rect">
            <a:avLst/>
          </a:prstGeom>
          <a:noFill/>
          <a:ln/>
        </p:spPr>
        <p:txBody>
          <a:bodyPr wrap="square" lIns="0" tIns="0" rIns="0" bIns="0" rtlCol="0" anchor="ctr"/>
          <a:lstStyle/>
          <a:p>
            <a:pPr marL="0" indent="0" algn="ctr">
              <a:buNone/>
            </a:pPr>
            <a:r>
              <a:rPr lang="en-US" sz="1000" dirty="0">
                <a:solidFill>
                  <a:srgbClr val="888780"/>
                </a:solidFill>
                <a:latin typeface="Consolas" pitchFamily="34" charset="0"/>
                <a:ea typeface="Consolas" pitchFamily="34" charset="-122"/>
                <a:cs typeface="Consolas" pitchFamily="34" charset="-120"/>
              </a:rPr>
              <a:t>1.2</a:t>
            </a:r>
            <a:endParaRPr lang="en-US" sz="1000" dirty="0"/>
          </a:p>
        </p:txBody>
      </p:sp>
      <p:sp>
        <p:nvSpPr>
          <p:cNvPr id="9" name="Text 7"/>
          <p:cNvSpPr/>
          <p:nvPr/>
        </p:nvSpPr>
        <p:spPr>
          <a:xfrm>
            <a:off x="1874520" y="2468880"/>
            <a:ext cx="502920" cy="228600"/>
          </a:xfrm>
          <a:prstGeom prst="rect">
            <a:avLst/>
          </a:prstGeom>
          <a:noFill/>
          <a:ln/>
        </p:spPr>
        <p:txBody>
          <a:bodyPr wrap="square" lIns="0" tIns="0" rIns="0" bIns="0" rtlCol="0" anchor="ctr"/>
          <a:lstStyle/>
          <a:p>
            <a:pPr marL="0" indent="0" algn="ctr">
              <a:buNone/>
            </a:pPr>
            <a:r>
              <a:rPr lang="en-US" sz="1000" dirty="0">
                <a:solidFill>
                  <a:srgbClr val="888780"/>
                </a:solidFill>
                <a:latin typeface="Consolas" pitchFamily="34" charset="0"/>
                <a:ea typeface="Consolas" pitchFamily="34" charset="-122"/>
                <a:cs typeface="Consolas" pitchFamily="34" charset="-120"/>
              </a:rPr>
              <a:t>1.3</a:t>
            </a:r>
            <a:endParaRPr lang="en-US" sz="1000" dirty="0"/>
          </a:p>
        </p:txBody>
      </p:sp>
      <p:sp>
        <p:nvSpPr>
          <p:cNvPr id="10" name="Text 8"/>
          <p:cNvSpPr/>
          <p:nvPr/>
        </p:nvSpPr>
        <p:spPr>
          <a:xfrm>
            <a:off x="2377440" y="2468880"/>
            <a:ext cx="502920" cy="228600"/>
          </a:xfrm>
          <a:prstGeom prst="rect">
            <a:avLst/>
          </a:prstGeom>
          <a:noFill/>
          <a:ln/>
        </p:spPr>
        <p:txBody>
          <a:bodyPr wrap="square" lIns="0" tIns="0" rIns="0" bIns="0" rtlCol="0" anchor="ctr"/>
          <a:lstStyle/>
          <a:p>
            <a:pPr marL="0" indent="0" algn="ctr">
              <a:buNone/>
            </a:pPr>
            <a:r>
              <a:rPr lang="en-US" sz="1000" dirty="0">
                <a:solidFill>
                  <a:srgbClr val="888780"/>
                </a:solidFill>
                <a:latin typeface="Consolas" pitchFamily="34" charset="0"/>
                <a:ea typeface="Consolas" pitchFamily="34" charset="-122"/>
                <a:cs typeface="Consolas" pitchFamily="34" charset="-120"/>
              </a:rPr>
              <a:t>1.4</a:t>
            </a:r>
            <a:endParaRPr lang="en-US" sz="1000" dirty="0"/>
          </a:p>
        </p:txBody>
      </p:sp>
      <p:sp>
        <p:nvSpPr>
          <p:cNvPr id="11" name="Text 9"/>
          <p:cNvSpPr/>
          <p:nvPr/>
        </p:nvSpPr>
        <p:spPr>
          <a:xfrm>
            <a:off x="2880360" y="2468880"/>
            <a:ext cx="502920" cy="228600"/>
          </a:xfrm>
          <a:prstGeom prst="rect">
            <a:avLst/>
          </a:prstGeom>
          <a:noFill/>
          <a:ln/>
        </p:spPr>
        <p:txBody>
          <a:bodyPr wrap="square" lIns="0" tIns="0" rIns="0" bIns="0" rtlCol="0" anchor="ctr"/>
          <a:lstStyle/>
          <a:p>
            <a:pPr marL="0" indent="0" algn="ctr">
              <a:buNone/>
            </a:pPr>
            <a:r>
              <a:rPr lang="en-US" sz="1000" dirty="0">
                <a:solidFill>
                  <a:srgbClr val="888780"/>
                </a:solidFill>
                <a:latin typeface="Consolas" pitchFamily="34" charset="0"/>
                <a:ea typeface="Consolas" pitchFamily="34" charset="-122"/>
                <a:cs typeface="Consolas" pitchFamily="34" charset="-120"/>
              </a:rPr>
              <a:t>1.5</a:t>
            </a:r>
            <a:endParaRPr lang="en-US" sz="1000" dirty="0"/>
          </a:p>
        </p:txBody>
      </p:sp>
      <p:sp>
        <p:nvSpPr>
          <p:cNvPr id="12" name="Text 10"/>
          <p:cNvSpPr/>
          <p:nvPr/>
        </p:nvSpPr>
        <p:spPr>
          <a:xfrm>
            <a:off x="3383280" y="2468880"/>
            <a:ext cx="502920" cy="228600"/>
          </a:xfrm>
          <a:prstGeom prst="rect">
            <a:avLst/>
          </a:prstGeom>
          <a:noFill/>
          <a:ln/>
        </p:spPr>
        <p:txBody>
          <a:bodyPr wrap="square" lIns="0" tIns="0" rIns="0" bIns="0" rtlCol="0" anchor="ctr"/>
          <a:lstStyle/>
          <a:p>
            <a:pPr marL="0" indent="0" algn="ctr">
              <a:buNone/>
            </a:pPr>
            <a:r>
              <a:rPr lang="en-US" sz="1000" dirty="0">
                <a:solidFill>
                  <a:srgbClr val="888780"/>
                </a:solidFill>
                <a:latin typeface="Consolas" pitchFamily="34" charset="0"/>
                <a:ea typeface="Consolas" pitchFamily="34" charset="-122"/>
                <a:cs typeface="Consolas" pitchFamily="34" charset="-120"/>
              </a:rPr>
              <a:t>1.6</a:t>
            </a:r>
            <a:endParaRPr lang="en-US" sz="1000" dirty="0"/>
          </a:p>
        </p:txBody>
      </p:sp>
      <p:sp>
        <p:nvSpPr>
          <p:cNvPr id="13" name="Text 11"/>
          <p:cNvSpPr/>
          <p:nvPr/>
        </p:nvSpPr>
        <p:spPr>
          <a:xfrm>
            <a:off x="3886200" y="2468880"/>
            <a:ext cx="502920" cy="228600"/>
          </a:xfrm>
          <a:prstGeom prst="rect">
            <a:avLst/>
          </a:prstGeom>
          <a:noFill/>
          <a:ln/>
        </p:spPr>
        <p:txBody>
          <a:bodyPr wrap="square" lIns="0" tIns="0" rIns="0" bIns="0" rtlCol="0" anchor="ctr"/>
          <a:lstStyle/>
          <a:p>
            <a:pPr marL="0" indent="0" algn="ctr">
              <a:buNone/>
            </a:pPr>
            <a:r>
              <a:rPr lang="en-US" sz="1000" dirty="0">
                <a:solidFill>
                  <a:srgbClr val="888780"/>
                </a:solidFill>
                <a:latin typeface="Consolas" pitchFamily="34" charset="0"/>
                <a:ea typeface="Consolas" pitchFamily="34" charset="-122"/>
                <a:cs typeface="Consolas" pitchFamily="34" charset="-120"/>
              </a:rPr>
              <a:t>1.7</a:t>
            </a:r>
            <a:endParaRPr lang="en-US" sz="1000" dirty="0"/>
          </a:p>
        </p:txBody>
      </p:sp>
      <p:sp>
        <p:nvSpPr>
          <p:cNvPr id="14" name="Text 12"/>
          <p:cNvSpPr/>
          <p:nvPr/>
        </p:nvSpPr>
        <p:spPr>
          <a:xfrm>
            <a:off x="822960" y="2743200"/>
            <a:ext cx="457200" cy="502920"/>
          </a:xfrm>
          <a:prstGeom prst="rect">
            <a:avLst/>
          </a:prstGeom>
          <a:noFill/>
          <a:ln/>
        </p:spPr>
        <p:txBody>
          <a:bodyPr wrap="square" lIns="0" tIns="0" rIns="0" bIns="0" rtlCol="0" anchor="ctr"/>
          <a:lstStyle/>
          <a:p>
            <a:pPr marL="0" indent="0" algn="r">
              <a:buNone/>
            </a:pPr>
            <a:r>
              <a:rPr lang="en-US" sz="1000" dirty="0">
                <a:solidFill>
                  <a:srgbClr val="888780"/>
                </a:solidFill>
                <a:latin typeface="Consolas" pitchFamily="34" charset="0"/>
                <a:ea typeface="Consolas" pitchFamily="34" charset="-122"/>
                <a:cs typeface="Consolas" pitchFamily="34" charset="-120"/>
              </a:rPr>
              <a:t>3</a:t>
            </a:r>
            <a:endParaRPr lang="en-US" sz="1000" dirty="0"/>
          </a:p>
        </p:txBody>
      </p:sp>
      <p:sp>
        <p:nvSpPr>
          <p:cNvPr id="15" name="Shape 13"/>
          <p:cNvSpPr/>
          <p:nvPr/>
        </p:nvSpPr>
        <p:spPr>
          <a:xfrm>
            <a:off x="1371600" y="2743200"/>
            <a:ext cx="466344" cy="466344"/>
          </a:xfrm>
          <a:prstGeom prst="rect">
            <a:avLst/>
          </a:prstGeom>
          <a:solidFill>
            <a:srgbClr val="F0EE51"/>
          </a:solidFill>
          <a:ln w="6350">
            <a:solidFill>
              <a:srgbClr val="FFFFFF"/>
            </a:solidFill>
            <a:prstDash val="solid"/>
          </a:ln>
        </p:spPr>
        <p:txBody>
          <a:bodyPr/>
          <a:lstStyle/>
          <a:p>
            <a:endParaRPr lang="en-US"/>
          </a:p>
        </p:txBody>
      </p:sp>
      <p:sp>
        <p:nvSpPr>
          <p:cNvPr id="16" name="Text 14"/>
          <p:cNvSpPr/>
          <p:nvPr/>
        </p:nvSpPr>
        <p:spPr>
          <a:xfrm>
            <a:off x="1371600" y="2743200"/>
            <a:ext cx="2980944" cy="2478024"/>
          </a:xfrm>
          <a:prstGeom prst="rect">
            <a:avLst/>
          </a:prstGeom>
          <a:noFill/>
          <a:ln/>
        </p:spPr>
        <p:txBody>
          <a:bodyPr wrap="square" lIns="0" tIns="0" rIns="0" bIns="0" rtlCol="0" anchor="ctr"/>
          <a:lstStyle/>
          <a:p>
            <a:pPr marL="0" indent="0" algn="ctr">
              <a:buNone/>
            </a:pPr>
            <a:r>
              <a:rPr lang="en-US" sz="1100" dirty="0">
                <a:solidFill>
                  <a:srgbClr val="1C1C1A"/>
                </a:solidFill>
                <a:latin typeface="Calibri" pitchFamily="34" charset="0"/>
                <a:ea typeface="Calibri" pitchFamily="34" charset="-122"/>
                <a:cs typeface="Calibri" pitchFamily="34" charset="-120"/>
              </a:rPr>
              <a:t>10</a:t>
            </a:r>
            <a:endParaRPr lang="en-US" sz="1100" dirty="0"/>
          </a:p>
        </p:txBody>
      </p:sp>
      <p:sp>
        <p:nvSpPr>
          <p:cNvPr id="17" name="Shape 15"/>
          <p:cNvSpPr/>
          <p:nvPr/>
        </p:nvSpPr>
        <p:spPr>
          <a:xfrm>
            <a:off x="1874520" y="2743200"/>
            <a:ext cx="466344" cy="466344"/>
          </a:xfrm>
          <a:prstGeom prst="rect">
            <a:avLst/>
          </a:prstGeom>
          <a:solidFill>
            <a:srgbClr val="F08D45"/>
          </a:solidFill>
          <a:ln w="6350">
            <a:solidFill>
              <a:srgbClr val="FFFFFF"/>
            </a:solidFill>
            <a:prstDash val="solid"/>
          </a:ln>
        </p:spPr>
        <p:txBody>
          <a:bodyPr/>
          <a:lstStyle/>
          <a:p>
            <a:endParaRPr lang="en-US"/>
          </a:p>
        </p:txBody>
      </p:sp>
      <p:sp>
        <p:nvSpPr>
          <p:cNvPr id="18" name="Text 16"/>
          <p:cNvSpPr/>
          <p:nvPr/>
        </p:nvSpPr>
        <p:spPr>
          <a:xfrm>
            <a:off x="1874520" y="2743200"/>
            <a:ext cx="466344" cy="466344"/>
          </a:xfrm>
          <a:prstGeom prst="rect">
            <a:avLst/>
          </a:prstGeom>
          <a:noFill/>
          <a:ln/>
        </p:spPr>
        <p:txBody>
          <a:bodyPr wrap="square" lIns="0" tIns="0" rIns="0" bIns="0" rtlCol="0" anchor="ctr"/>
          <a:lstStyle/>
          <a:p>
            <a:pPr marL="0" indent="0" algn="ctr">
              <a:buNone/>
            </a:pPr>
            <a:r>
              <a:rPr lang="en-US" sz="1100" dirty="0">
                <a:solidFill>
                  <a:srgbClr val="1C1C1A"/>
                </a:solidFill>
                <a:latin typeface="Calibri" pitchFamily="34" charset="0"/>
                <a:ea typeface="Calibri" pitchFamily="34" charset="-122"/>
                <a:cs typeface="Calibri" pitchFamily="34" charset="-120"/>
              </a:rPr>
              <a:t>7</a:t>
            </a:r>
            <a:endParaRPr lang="en-US" sz="1100" dirty="0"/>
          </a:p>
        </p:txBody>
      </p:sp>
      <p:sp>
        <p:nvSpPr>
          <p:cNvPr id="19" name="Shape 17"/>
          <p:cNvSpPr/>
          <p:nvPr/>
        </p:nvSpPr>
        <p:spPr>
          <a:xfrm>
            <a:off x="2377440" y="2743200"/>
            <a:ext cx="466344" cy="466344"/>
          </a:xfrm>
          <a:prstGeom prst="rect">
            <a:avLst/>
          </a:prstGeom>
          <a:solidFill>
            <a:srgbClr val="CB4778"/>
          </a:solidFill>
          <a:ln w="6350">
            <a:solidFill>
              <a:srgbClr val="FFFFFF"/>
            </a:solidFill>
            <a:prstDash val="solid"/>
          </a:ln>
        </p:spPr>
        <p:txBody>
          <a:bodyPr/>
          <a:lstStyle/>
          <a:p>
            <a:endParaRPr lang="en-US"/>
          </a:p>
        </p:txBody>
      </p:sp>
      <p:sp>
        <p:nvSpPr>
          <p:cNvPr id="20" name="Text 18"/>
          <p:cNvSpPr/>
          <p:nvPr/>
        </p:nvSpPr>
        <p:spPr>
          <a:xfrm>
            <a:off x="2377440" y="2743200"/>
            <a:ext cx="466344" cy="466344"/>
          </a:xfrm>
          <a:prstGeom prst="rect">
            <a:avLst/>
          </a:prstGeom>
          <a:noFill/>
          <a:ln/>
        </p:spPr>
        <p:txBody>
          <a:bodyPr wrap="square" lIns="0" tIns="0" rIns="0" bIns="0" rtlCol="0" anchor="ctr"/>
          <a:lstStyle/>
          <a:p>
            <a:pPr marL="0" indent="0" algn="ctr">
              <a:buNone/>
            </a:pPr>
            <a:r>
              <a:rPr lang="en-US" sz="1100" dirty="0">
                <a:solidFill>
                  <a:srgbClr val="1C1C1A"/>
                </a:solidFill>
                <a:latin typeface="Calibri" pitchFamily="34" charset="0"/>
                <a:ea typeface="Calibri" pitchFamily="34" charset="-122"/>
                <a:cs typeface="Calibri" pitchFamily="34" charset="-120"/>
              </a:rPr>
              <a:t>5</a:t>
            </a:r>
            <a:endParaRPr lang="en-US" sz="1100" dirty="0"/>
          </a:p>
        </p:txBody>
      </p:sp>
      <p:sp>
        <p:nvSpPr>
          <p:cNvPr id="21" name="Shape 19"/>
          <p:cNvSpPr/>
          <p:nvPr/>
        </p:nvSpPr>
        <p:spPr>
          <a:xfrm>
            <a:off x="2880360" y="2743200"/>
            <a:ext cx="466344" cy="466344"/>
          </a:xfrm>
          <a:prstGeom prst="rect">
            <a:avLst/>
          </a:prstGeom>
          <a:solidFill>
            <a:srgbClr val="9C179E"/>
          </a:solidFill>
          <a:ln w="6350">
            <a:solidFill>
              <a:srgbClr val="FFFFFF"/>
            </a:solidFill>
            <a:prstDash val="solid"/>
          </a:ln>
        </p:spPr>
        <p:txBody>
          <a:bodyPr/>
          <a:lstStyle/>
          <a:p>
            <a:endParaRPr lang="en-US"/>
          </a:p>
        </p:txBody>
      </p:sp>
      <p:sp>
        <p:nvSpPr>
          <p:cNvPr id="22" name="Text 20"/>
          <p:cNvSpPr/>
          <p:nvPr/>
        </p:nvSpPr>
        <p:spPr>
          <a:xfrm>
            <a:off x="2880360" y="274320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23" name="Shape 21"/>
          <p:cNvSpPr/>
          <p:nvPr/>
        </p:nvSpPr>
        <p:spPr>
          <a:xfrm>
            <a:off x="3383280" y="2743200"/>
            <a:ext cx="466344" cy="466344"/>
          </a:xfrm>
          <a:prstGeom prst="rect">
            <a:avLst/>
          </a:prstGeom>
          <a:solidFill>
            <a:srgbClr val="9C179E"/>
          </a:solidFill>
          <a:ln w="6350">
            <a:solidFill>
              <a:srgbClr val="FFFFFF"/>
            </a:solidFill>
            <a:prstDash val="solid"/>
          </a:ln>
        </p:spPr>
        <p:txBody>
          <a:bodyPr/>
          <a:lstStyle/>
          <a:p>
            <a:endParaRPr lang="en-US"/>
          </a:p>
        </p:txBody>
      </p:sp>
      <p:sp>
        <p:nvSpPr>
          <p:cNvPr id="24" name="Text 22"/>
          <p:cNvSpPr/>
          <p:nvPr/>
        </p:nvSpPr>
        <p:spPr>
          <a:xfrm>
            <a:off x="3383280" y="274320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25" name="Shape 23"/>
          <p:cNvSpPr/>
          <p:nvPr/>
        </p:nvSpPr>
        <p:spPr>
          <a:xfrm>
            <a:off x="3886200" y="2743200"/>
            <a:ext cx="466344" cy="466344"/>
          </a:xfrm>
          <a:prstGeom prst="rect">
            <a:avLst/>
          </a:prstGeom>
          <a:solidFill>
            <a:srgbClr val="9C179E"/>
          </a:solidFill>
          <a:ln w="6350">
            <a:solidFill>
              <a:srgbClr val="FFFFFF"/>
            </a:solidFill>
            <a:prstDash val="solid"/>
          </a:ln>
        </p:spPr>
        <p:txBody>
          <a:bodyPr/>
          <a:lstStyle/>
          <a:p>
            <a:endParaRPr lang="en-US"/>
          </a:p>
        </p:txBody>
      </p:sp>
      <p:sp>
        <p:nvSpPr>
          <p:cNvPr id="26" name="Text 24"/>
          <p:cNvSpPr/>
          <p:nvPr/>
        </p:nvSpPr>
        <p:spPr>
          <a:xfrm>
            <a:off x="3886200" y="274320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822960" y="3246120"/>
            <a:ext cx="457200" cy="502920"/>
          </a:xfrm>
          <a:prstGeom prst="rect">
            <a:avLst/>
          </a:prstGeom>
          <a:noFill/>
          <a:ln/>
        </p:spPr>
        <p:txBody>
          <a:bodyPr wrap="square" lIns="0" tIns="0" rIns="0" bIns="0" rtlCol="0" anchor="ctr"/>
          <a:lstStyle/>
          <a:p>
            <a:pPr marL="0" indent="0" algn="r">
              <a:buNone/>
            </a:pPr>
            <a:r>
              <a:rPr lang="en-US" sz="1000" dirty="0">
                <a:solidFill>
                  <a:srgbClr val="888780"/>
                </a:solidFill>
                <a:latin typeface="Consolas" pitchFamily="34" charset="0"/>
                <a:ea typeface="Consolas" pitchFamily="34" charset="-122"/>
                <a:cs typeface="Consolas" pitchFamily="34" charset="-120"/>
              </a:rPr>
              <a:t>4</a:t>
            </a:r>
            <a:endParaRPr lang="en-US" sz="1000" dirty="0"/>
          </a:p>
        </p:txBody>
      </p:sp>
      <p:sp>
        <p:nvSpPr>
          <p:cNvPr id="28" name="Shape 26"/>
          <p:cNvSpPr/>
          <p:nvPr/>
        </p:nvSpPr>
        <p:spPr>
          <a:xfrm>
            <a:off x="1371600" y="3246120"/>
            <a:ext cx="466344" cy="466344"/>
          </a:xfrm>
          <a:prstGeom prst="rect">
            <a:avLst/>
          </a:prstGeom>
          <a:solidFill>
            <a:srgbClr val="F08D45"/>
          </a:solidFill>
          <a:ln w="6350">
            <a:solidFill>
              <a:srgbClr val="FFFFFF"/>
            </a:solidFill>
            <a:prstDash val="solid"/>
          </a:ln>
        </p:spPr>
        <p:txBody>
          <a:bodyPr/>
          <a:lstStyle/>
          <a:p>
            <a:endParaRPr lang="en-US"/>
          </a:p>
        </p:txBody>
      </p:sp>
      <p:sp>
        <p:nvSpPr>
          <p:cNvPr id="29" name="Text 27"/>
          <p:cNvSpPr/>
          <p:nvPr/>
        </p:nvSpPr>
        <p:spPr>
          <a:xfrm>
            <a:off x="1371600" y="3246120"/>
            <a:ext cx="466344" cy="466344"/>
          </a:xfrm>
          <a:prstGeom prst="rect">
            <a:avLst/>
          </a:prstGeom>
          <a:noFill/>
          <a:ln/>
        </p:spPr>
        <p:txBody>
          <a:bodyPr wrap="square" lIns="0" tIns="0" rIns="0" bIns="0" rtlCol="0" anchor="ctr"/>
          <a:lstStyle/>
          <a:p>
            <a:pPr marL="0" indent="0" algn="ctr">
              <a:buNone/>
            </a:pPr>
            <a:r>
              <a:rPr lang="en-US" sz="1100" dirty="0">
                <a:solidFill>
                  <a:srgbClr val="1C1C1A"/>
                </a:solidFill>
                <a:latin typeface="Calibri" pitchFamily="34" charset="0"/>
                <a:ea typeface="Calibri" pitchFamily="34" charset="-122"/>
                <a:cs typeface="Calibri" pitchFamily="34" charset="-120"/>
              </a:rPr>
              <a:t>7</a:t>
            </a:r>
            <a:endParaRPr lang="en-US" sz="1100" dirty="0"/>
          </a:p>
        </p:txBody>
      </p:sp>
      <p:sp>
        <p:nvSpPr>
          <p:cNvPr id="30" name="Shape 28"/>
          <p:cNvSpPr/>
          <p:nvPr/>
        </p:nvSpPr>
        <p:spPr>
          <a:xfrm>
            <a:off x="1874520" y="3246120"/>
            <a:ext cx="466344" cy="466344"/>
          </a:xfrm>
          <a:prstGeom prst="rect">
            <a:avLst/>
          </a:prstGeom>
          <a:solidFill>
            <a:srgbClr val="F08D45"/>
          </a:solidFill>
          <a:ln w="6350">
            <a:solidFill>
              <a:srgbClr val="FFFFFF"/>
            </a:solidFill>
            <a:prstDash val="solid"/>
          </a:ln>
        </p:spPr>
        <p:txBody>
          <a:bodyPr/>
          <a:lstStyle/>
          <a:p>
            <a:endParaRPr lang="en-US"/>
          </a:p>
        </p:txBody>
      </p:sp>
      <p:sp>
        <p:nvSpPr>
          <p:cNvPr id="31" name="Text 29"/>
          <p:cNvSpPr/>
          <p:nvPr/>
        </p:nvSpPr>
        <p:spPr>
          <a:xfrm>
            <a:off x="1874520" y="3246120"/>
            <a:ext cx="466344" cy="466344"/>
          </a:xfrm>
          <a:prstGeom prst="rect">
            <a:avLst/>
          </a:prstGeom>
          <a:noFill/>
          <a:ln/>
        </p:spPr>
        <p:txBody>
          <a:bodyPr wrap="square" lIns="0" tIns="0" rIns="0" bIns="0" rtlCol="0" anchor="ctr"/>
          <a:lstStyle/>
          <a:p>
            <a:pPr marL="0" indent="0" algn="ctr">
              <a:buNone/>
            </a:pPr>
            <a:r>
              <a:rPr lang="en-US" sz="1100" dirty="0">
                <a:solidFill>
                  <a:srgbClr val="1C1C1A"/>
                </a:solidFill>
                <a:latin typeface="Calibri" pitchFamily="34" charset="0"/>
                <a:ea typeface="Calibri" pitchFamily="34" charset="-122"/>
                <a:cs typeface="Calibri" pitchFamily="34" charset="-120"/>
              </a:rPr>
              <a:t>7</a:t>
            </a:r>
            <a:endParaRPr lang="en-US" sz="1100" dirty="0"/>
          </a:p>
        </p:txBody>
      </p:sp>
      <p:sp>
        <p:nvSpPr>
          <p:cNvPr id="32" name="Shape 30"/>
          <p:cNvSpPr/>
          <p:nvPr/>
        </p:nvSpPr>
        <p:spPr>
          <a:xfrm>
            <a:off x="2377440" y="3246120"/>
            <a:ext cx="466344" cy="466344"/>
          </a:xfrm>
          <a:prstGeom prst="rect">
            <a:avLst/>
          </a:prstGeom>
          <a:solidFill>
            <a:srgbClr val="F08D45"/>
          </a:solidFill>
          <a:ln w="6350">
            <a:solidFill>
              <a:srgbClr val="FFFFFF"/>
            </a:solidFill>
            <a:prstDash val="solid"/>
          </a:ln>
        </p:spPr>
        <p:txBody>
          <a:bodyPr/>
          <a:lstStyle/>
          <a:p>
            <a:endParaRPr lang="en-US"/>
          </a:p>
        </p:txBody>
      </p:sp>
      <p:sp>
        <p:nvSpPr>
          <p:cNvPr id="33" name="Text 31"/>
          <p:cNvSpPr/>
          <p:nvPr/>
        </p:nvSpPr>
        <p:spPr>
          <a:xfrm>
            <a:off x="2377440" y="3246120"/>
            <a:ext cx="466344" cy="466344"/>
          </a:xfrm>
          <a:prstGeom prst="rect">
            <a:avLst/>
          </a:prstGeom>
          <a:noFill/>
          <a:ln/>
        </p:spPr>
        <p:txBody>
          <a:bodyPr wrap="square" lIns="0" tIns="0" rIns="0" bIns="0" rtlCol="0" anchor="ctr"/>
          <a:lstStyle/>
          <a:p>
            <a:pPr marL="0" indent="0" algn="ctr">
              <a:buNone/>
            </a:pPr>
            <a:r>
              <a:rPr lang="en-US" sz="1100" dirty="0">
                <a:solidFill>
                  <a:srgbClr val="1C1C1A"/>
                </a:solidFill>
                <a:latin typeface="Calibri" pitchFamily="34" charset="0"/>
                <a:ea typeface="Calibri" pitchFamily="34" charset="-122"/>
                <a:cs typeface="Calibri" pitchFamily="34" charset="-120"/>
              </a:rPr>
              <a:t>7</a:t>
            </a:r>
            <a:endParaRPr lang="en-US" sz="1100" dirty="0"/>
          </a:p>
        </p:txBody>
      </p:sp>
      <p:sp>
        <p:nvSpPr>
          <p:cNvPr id="34" name="Shape 32"/>
          <p:cNvSpPr/>
          <p:nvPr/>
        </p:nvSpPr>
        <p:spPr>
          <a:xfrm>
            <a:off x="2880360" y="3246120"/>
            <a:ext cx="466344" cy="466344"/>
          </a:xfrm>
          <a:prstGeom prst="rect">
            <a:avLst/>
          </a:prstGeom>
          <a:solidFill>
            <a:srgbClr val="9C179E"/>
          </a:solidFill>
          <a:ln w="6350">
            <a:solidFill>
              <a:srgbClr val="FFFFFF"/>
            </a:solidFill>
            <a:prstDash val="solid"/>
          </a:ln>
        </p:spPr>
        <p:txBody>
          <a:bodyPr/>
          <a:lstStyle/>
          <a:p>
            <a:endParaRPr lang="en-US"/>
          </a:p>
        </p:txBody>
      </p:sp>
      <p:sp>
        <p:nvSpPr>
          <p:cNvPr id="35" name="Text 33"/>
          <p:cNvSpPr/>
          <p:nvPr/>
        </p:nvSpPr>
        <p:spPr>
          <a:xfrm>
            <a:off x="2880360" y="324612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36" name="Shape 34"/>
          <p:cNvSpPr/>
          <p:nvPr/>
        </p:nvSpPr>
        <p:spPr>
          <a:xfrm>
            <a:off x="3383280" y="3246120"/>
            <a:ext cx="466344" cy="466344"/>
          </a:xfrm>
          <a:prstGeom prst="rect">
            <a:avLst/>
          </a:prstGeom>
          <a:solidFill>
            <a:srgbClr val="9C179E"/>
          </a:solidFill>
          <a:ln w="6350">
            <a:solidFill>
              <a:srgbClr val="FFFFFF"/>
            </a:solidFill>
            <a:prstDash val="solid"/>
          </a:ln>
        </p:spPr>
        <p:txBody>
          <a:bodyPr/>
          <a:lstStyle/>
          <a:p>
            <a:endParaRPr lang="en-US"/>
          </a:p>
        </p:txBody>
      </p:sp>
      <p:sp>
        <p:nvSpPr>
          <p:cNvPr id="37" name="Text 35"/>
          <p:cNvSpPr/>
          <p:nvPr/>
        </p:nvSpPr>
        <p:spPr>
          <a:xfrm>
            <a:off x="3383280" y="324612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38" name="Shape 36"/>
          <p:cNvSpPr/>
          <p:nvPr/>
        </p:nvSpPr>
        <p:spPr>
          <a:xfrm>
            <a:off x="3886200" y="3246120"/>
            <a:ext cx="466344" cy="466344"/>
          </a:xfrm>
          <a:prstGeom prst="rect">
            <a:avLst/>
          </a:prstGeom>
          <a:solidFill>
            <a:srgbClr val="9C179E"/>
          </a:solidFill>
          <a:ln w="6350">
            <a:solidFill>
              <a:srgbClr val="FFFFFF"/>
            </a:solidFill>
            <a:prstDash val="solid"/>
          </a:ln>
        </p:spPr>
        <p:txBody>
          <a:bodyPr/>
          <a:lstStyle/>
          <a:p>
            <a:endParaRPr lang="en-US"/>
          </a:p>
        </p:txBody>
      </p:sp>
      <p:sp>
        <p:nvSpPr>
          <p:cNvPr id="39" name="Text 37"/>
          <p:cNvSpPr/>
          <p:nvPr/>
        </p:nvSpPr>
        <p:spPr>
          <a:xfrm>
            <a:off x="3886200" y="324612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40" name="Text 38"/>
          <p:cNvSpPr/>
          <p:nvPr/>
        </p:nvSpPr>
        <p:spPr>
          <a:xfrm>
            <a:off x="822960" y="3749040"/>
            <a:ext cx="457200" cy="502920"/>
          </a:xfrm>
          <a:prstGeom prst="rect">
            <a:avLst/>
          </a:prstGeom>
          <a:noFill/>
          <a:ln/>
        </p:spPr>
        <p:txBody>
          <a:bodyPr wrap="square" lIns="0" tIns="0" rIns="0" bIns="0" rtlCol="0" anchor="ctr"/>
          <a:lstStyle/>
          <a:p>
            <a:pPr marL="0" indent="0" algn="r">
              <a:buNone/>
            </a:pPr>
            <a:r>
              <a:rPr lang="en-US" sz="1000" dirty="0">
                <a:solidFill>
                  <a:srgbClr val="888780"/>
                </a:solidFill>
                <a:latin typeface="Consolas" pitchFamily="34" charset="0"/>
                <a:ea typeface="Consolas" pitchFamily="34" charset="-122"/>
                <a:cs typeface="Consolas" pitchFamily="34" charset="-120"/>
              </a:rPr>
              <a:t>5</a:t>
            </a:r>
            <a:endParaRPr lang="en-US" sz="1000" dirty="0"/>
          </a:p>
        </p:txBody>
      </p:sp>
      <p:sp>
        <p:nvSpPr>
          <p:cNvPr id="41" name="Shape 39"/>
          <p:cNvSpPr/>
          <p:nvPr/>
        </p:nvSpPr>
        <p:spPr>
          <a:xfrm>
            <a:off x="1371600" y="3749040"/>
            <a:ext cx="466344" cy="466344"/>
          </a:xfrm>
          <a:prstGeom prst="rect">
            <a:avLst/>
          </a:prstGeom>
          <a:solidFill>
            <a:srgbClr val="5302A3"/>
          </a:solidFill>
          <a:ln w="6350">
            <a:solidFill>
              <a:srgbClr val="FFFFFF"/>
            </a:solidFill>
            <a:prstDash val="solid"/>
          </a:ln>
        </p:spPr>
        <p:txBody>
          <a:bodyPr/>
          <a:lstStyle/>
          <a:p>
            <a:endParaRPr lang="en-US"/>
          </a:p>
        </p:txBody>
      </p:sp>
      <p:sp>
        <p:nvSpPr>
          <p:cNvPr id="42" name="Text 40"/>
          <p:cNvSpPr/>
          <p:nvPr/>
        </p:nvSpPr>
        <p:spPr>
          <a:xfrm>
            <a:off x="1371600" y="374904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43" name="Shape 41"/>
          <p:cNvSpPr/>
          <p:nvPr/>
        </p:nvSpPr>
        <p:spPr>
          <a:xfrm>
            <a:off x="1874520" y="3749040"/>
            <a:ext cx="466344" cy="466344"/>
          </a:xfrm>
          <a:prstGeom prst="rect">
            <a:avLst/>
          </a:prstGeom>
          <a:solidFill>
            <a:srgbClr val="9C179E"/>
          </a:solidFill>
          <a:ln w="6350">
            <a:solidFill>
              <a:srgbClr val="FFFFFF"/>
            </a:solidFill>
            <a:prstDash val="solid"/>
          </a:ln>
        </p:spPr>
        <p:txBody>
          <a:bodyPr/>
          <a:lstStyle/>
          <a:p>
            <a:endParaRPr lang="en-US"/>
          </a:p>
        </p:txBody>
      </p:sp>
      <p:sp>
        <p:nvSpPr>
          <p:cNvPr id="44" name="Text 42"/>
          <p:cNvSpPr/>
          <p:nvPr/>
        </p:nvSpPr>
        <p:spPr>
          <a:xfrm>
            <a:off x="1874520" y="374904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43"/>
          <p:cNvSpPr/>
          <p:nvPr/>
        </p:nvSpPr>
        <p:spPr>
          <a:xfrm>
            <a:off x="2377440" y="3749040"/>
            <a:ext cx="466344" cy="466344"/>
          </a:xfrm>
          <a:prstGeom prst="rect">
            <a:avLst/>
          </a:prstGeom>
          <a:solidFill>
            <a:srgbClr val="7E03A8"/>
          </a:solidFill>
          <a:ln w="6350">
            <a:solidFill>
              <a:srgbClr val="FFFFFF"/>
            </a:solidFill>
            <a:prstDash val="solid"/>
          </a:ln>
        </p:spPr>
        <p:txBody>
          <a:bodyPr/>
          <a:lstStyle/>
          <a:p>
            <a:endParaRPr lang="en-US"/>
          </a:p>
        </p:txBody>
      </p:sp>
      <p:sp>
        <p:nvSpPr>
          <p:cNvPr id="46" name="Text 44"/>
          <p:cNvSpPr/>
          <p:nvPr/>
        </p:nvSpPr>
        <p:spPr>
          <a:xfrm>
            <a:off x="2377440" y="374904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3</a:t>
            </a:r>
            <a:endParaRPr lang="en-US" sz="1100" dirty="0"/>
          </a:p>
        </p:txBody>
      </p:sp>
      <p:sp>
        <p:nvSpPr>
          <p:cNvPr id="47" name="Shape 45"/>
          <p:cNvSpPr/>
          <p:nvPr/>
        </p:nvSpPr>
        <p:spPr>
          <a:xfrm>
            <a:off x="2880360" y="3749040"/>
            <a:ext cx="466344" cy="466344"/>
          </a:xfrm>
          <a:prstGeom prst="rect">
            <a:avLst/>
          </a:prstGeom>
          <a:solidFill>
            <a:srgbClr val="7E03A8"/>
          </a:solidFill>
          <a:ln w="31750">
            <a:solidFill>
              <a:srgbClr val="1C1C1A"/>
            </a:solidFill>
            <a:prstDash val="solid"/>
          </a:ln>
        </p:spPr>
        <p:txBody>
          <a:bodyPr/>
          <a:lstStyle/>
          <a:p>
            <a:endParaRPr lang="en-US"/>
          </a:p>
        </p:txBody>
      </p:sp>
      <p:sp>
        <p:nvSpPr>
          <p:cNvPr id="48" name="Text 46"/>
          <p:cNvSpPr/>
          <p:nvPr/>
        </p:nvSpPr>
        <p:spPr>
          <a:xfrm>
            <a:off x="2880360" y="3749040"/>
            <a:ext cx="466344" cy="4663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Shape 47"/>
          <p:cNvSpPr/>
          <p:nvPr/>
        </p:nvSpPr>
        <p:spPr>
          <a:xfrm>
            <a:off x="3383280" y="3749040"/>
            <a:ext cx="466344" cy="466344"/>
          </a:xfrm>
          <a:prstGeom prst="rect">
            <a:avLst/>
          </a:prstGeom>
          <a:solidFill>
            <a:srgbClr val="7E03A8"/>
          </a:solidFill>
          <a:ln w="6350">
            <a:solidFill>
              <a:srgbClr val="FFFFFF"/>
            </a:solidFill>
            <a:prstDash val="solid"/>
          </a:ln>
        </p:spPr>
        <p:txBody>
          <a:bodyPr/>
          <a:lstStyle/>
          <a:p>
            <a:endParaRPr lang="en-US"/>
          </a:p>
        </p:txBody>
      </p:sp>
      <p:sp>
        <p:nvSpPr>
          <p:cNvPr id="50" name="Text 48"/>
          <p:cNvSpPr/>
          <p:nvPr/>
        </p:nvSpPr>
        <p:spPr>
          <a:xfrm>
            <a:off x="3383280" y="374904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3</a:t>
            </a:r>
            <a:endParaRPr lang="en-US" sz="1100" dirty="0"/>
          </a:p>
        </p:txBody>
      </p:sp>
      <p:sp>
        <p:nvSpPr>
          <p:cNvPr id="51" name="Shape 49"/>
          <p:cNvSpPr/>
          <p:nvPr/>
        </p:nvSpPr>
        <p:spPr>
          <a:xfrm>
            <a:off x="3886200" y="3749040"/>
            <a:ext cx="466344" cy="466344"/>
          </a:xfrm>
          <a:prstGeom prst="rect">
            <a:avLst/>
          </a:prstGeom>
          <a:solidFill>
            <a:srgbClr val="9C179E"/>
          </a:solidFill>
          <a:ln w="6350">
            <a:solidFill>
              <a:srgbClr val="FFFFFF"/>
            </a:solidFill>
            <a:prstDash val="solid"/>
          </a:ln>
        </p:spPr>
        <p:txBody>
          <a:bodyPr/>
          <a:lstStyle/>
          <a:p>
            <a:endParaRPr lang="en-US"/>
          </a:p>
        </p:txBody>
      </p:sp>
      <p:sp>
        <p:nvSpPr>
          <p:cNvPr id="52" name="Text 50"/>
          <p:cNvSpPr/>
          <p:nvPr/>
        </p:nvSpPr>
        <p:spPr>
          <a:xfrm>
            <a:off x="3886200" y="374904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53" name="Text 51"/>
          <p:cNvSpPr/>
          <p:nvPr/>
        </p:nvSpPr>
        <p:spPr>
          <a:xfrm>
            <a:off x="822960" y="4251960"/>
            <a:ext cx="457200" cy="502920"/>
          </a:xfrm>
          <a:prstGeom prst="rect">
            <a:avLst/>
          </a:prstGeom>
          <a:noFill/>
          <a:ln/>
        </p:spPr>
        <p:txBody>
          <a:bodyPr wrap="square" lIns="0" tIns="0" rIns="0" bIns="0" rtlCol="0" anchor="ctr"/>
          <a:lstStyle/>
          <a:p>
            <a:pPr marL="0" indent="0" algn="r">
              <a:buNone/>
            </a:pPr>
            <a:r>
              <a:rPr lang="en-US" sz="1000" dirty="0">
                <a:solidFill>
                  <a:srgbClr val="888780"/>
                </a:solidFill>
                <a:latin typeface="Consolas" pitchFamily="34" charset="0"/>
                <a:ea typeface="Consolas" pitchFamily="34" charset="-122"/>
                <a:cs typeface="Consolas" pitchFamily="34" charset="-120"/>
              </a:rPr>
              <a:t>6</a:t>
            </a:r>
            <a:endParaRPr lang="en-US" sz="1000" dirty="0"/>
          </a:p>
        </p:txBody>
      </p:sp>
      <p:sp>
        <p:nvSpPr>
          <p:cNvPr id="54" name="Shape 52"/>
          <p:cNvSpPr/>
          <p:nvPr/>
        </p:nvSpPr>
        <p:spPr>
          <a:xfrm>
            <a:off x="1371600" y="4251960"/>
            <a:ext cx="466344" cy="466344"/>
          </a:xfrm>
          <a:prstGeom prst="rect">
            <a:avLst/>
          </a:prstGeom>
          <a:solidFill>
            <a:srgbClr val="5302A3"/>
          </a:solidFill>
          <a:ln w="6350">
            <a:solidFill>
              <a:srgbClr val="FFFFFF"/>
            </a:solidFill>
            <a:prstDash val="solid"/>
          </a:ln>
        </p:spPr>
        <p:txBody>
          <a:bodyPr/>
          <a:lstStyle/>
          <a:p>
            <a:endParaRPr lang="en-US"/>
          </a:p>
        </p:txBody>
      </p:sp>
      <p:sp>
        <p:nvSpPr>
          <p:cNvPr id="55" name="Text 53"/>
          <p:cNvSpPr/>
          <p:nvPr/>
        </p:nvSpPr>
        <p:spPr>
          <a:xfrm>
            <a:off x="1371600" y="425196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56" name="Shape 54"/>
          <p:cNvSpPr/>
          <p:nvPr/>
        </p:nvSpPr>
        <p:spPr>
          <a:xfrm>
            <a:off x="1874520" y="4251960"/>
            <a:ext cx="466344" cy="466344"/>
          </a:xfrm>
          <a:prstGeom prst="rect">
            <a:avLst/>
          </a:prstGeom>
          <a:solidFill>
            <a:srgbClr val="7E03A8"/>
          </a:solidFill>
          <a:ln w="6350">
            <a:solidFill>
              <a:srgbClr val="FFFFFF"/>
            </a:solidFill>
            <a:prstDash val="solid"/>
          </a:ln>
        </p:spPr>
        <p:txBody>
          <a:bodyPr/>
          <a:lstStyle/>
          <a:p>
            <a:endParaRPr lang="en-US"/>
          </a:p>
        </p:txBody>
      </p:sp>
      <p:sp>
        <p:nvSpPr>
          <p:cNvPr id="57" name="Text 55"/>
          <p:cNvSpPr/>
          <p:nvPr/>
        </p:nvSpPr>
        <p:spPr>
          <a:xfrm>
            <a:off x="1874520" y="425196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3</a:t>
            </a:r>
            <a:endParaRPr lang="en-US" sz="1100" dirty="0"/>
          </a:p>
        </p:txBody>
      </p:sp>
      <p:sp>
        <p:nvSpPr>
          <p:cNvPr id="58" name="Shape 56"/>
          <p:cNvSpPr/>
          <p:nvPr/>
        </p:nvSpPr>
        <p:spPr>
          <a:xfrm>
            <a:off x="2377440" y="4251960"/>
            <a:ext cx="466344" cy="466344"/>
          </a:xfrm>
          <a:prstGeom prst="rect">
            <a:avLst/>
          </a:prstGeom>
          <a:solidFill>
            <a:srgbClr val="5302A3"/>
          </a:solidFill>
          <a:ln w="6350">
            <a:solidFill>
              <a:srgbClr val="FFFFFF"/>
            </a:solidFill>
            <a:prstDash val="solid"/>
          </a:ln>
        </p:spPr>
        <p:txBody>
          <a:bodyPr/>
          <a:lstStyle/>
          <a:p>
            <a:endParaRPr lang="en-US"/>
          </a:p>
        </p:txBody>
      </p:sp>
      <p:sp>
        <p:nvSpPr>
          <p:cNvPr id="59" name="Text 57"/>
          <p:cNvSpPr/>
          <p:nvPr/>
        </p:nvSpPr>
        <p:spPr>
          <a:xfrm>
            <a:off x="2377440" y="425196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60" name="Shape 58"/>
          <p:cNvSpPr/>
          <p:nvPr/>
        </p:nvSpPr>
        <p:spPr>
          <a:xfrm>
            <a:off x="2880360" y="4251960"/>
            <a:ext cx="466344" cy="466344"/>
          </a:xfrm>
          <a:prstGeom prst="rect">
            <a:avLst/>
          </a:prstGeom>
          <a:solidFill>
            <a:srgbClr val="5302A3"/>
          </a:solidFill>
          <a:ln w="6350">
            <a:solidFill>
              <a:srgbClr val="FFFFFF"/>
            </a:solidFill>
            <a:prstDash val="solid"/>
          </a:ln>
        </p:spPr>
        <p:txBody>
          <a:bodyPr/>
          <a:lstStyle/>
          <a:p>
            <a:endParaRPr lang="en-US"/>
          </a:p>
        </p:txBody>
      </p:sp>
      <p:sp>
        <p:nvSpPr>
          <p:cNvPr id="61" name="Text 59"/>
          <p:cNvSpPr/>
          <p:nvPr/>
        </p:nvSpPr>
        <p:spPr>
          <a:xfrm>
            <a:off x="2880360" y="425196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62" name="Shape 60"/>
          <p:cNvSpPr/>
          <p:nvPr/>
        </p:nvSpPr>
        <p:spPr>
          <a:xfrm>
            <a:off x="3383280" y="4251960"/>
            <a:ext cx="466344" cy="466344"/>
          </a:xfrm>
          <a:prstGeom prst="rect">
            <a:avLst/>
          </a:prstGeom>
          <a:solidFill>
            <a:srgbClr val="5302A3"/>
          </a:solidFill>
          <a:ln w="6350">
            <a:solidFill>
              <a:srgbClr val="FFFFFF"/>
            </a:solidFill>
            <a:prstDash val="solid"/>
          </a:ln>
        </p:spPr>
        <p:txBody>
          <a:bodyPr/>
          <a:lstStyle/>
          <a:p>
            <a:endParaRPr lang="en-US"/>
          </a:p>
        </p:txBody>
      </p:sp>
      <p:sp>
        <p:nvSpPr>
          <p:cNvPr id="63" name="Text 61"/>
          <p:cNvSpPr/>
          <p:nvPr/>
        </p:nvSpPr>
        <p:spPr>
          <a:xfrm>
            <a:off x="3383280" y="425196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64" name="Shape 62"/>
          <p:cNvSpPr/>
          <p:nvPr/>
        </p:nvSpPr>
        <p:spPr>
          <a:xfrm>
            <a:off x="3886200" y="4251960"/>
            <a:ext cx="466344" cy="466344"/>
          </a:xfrm>
          <a:prstGeom prst="rect">
            <a:avLst/>
          </a:prstGeom>
          <a:solidFill>
            <a:srgbClr val="5302A3"/>
          </a:solidFill>
          <a:ln w="6350">
            <a:solidFill>
              <a:srgbClr val="FFFFFF"/>
            </a:solidFill>
            <a:prstDash val="solid"/>
          </a:ln>
        </p:spPr>
        <p:txBody>
          <a:bodyPr/>
          <a:lstStyle/>
          <a:p>
            <a:endParaRPr lang="en-US"/>
          </a:p>
        </p:txBody>
      </p:sp>
      <p:sp>
        <p:nvSpPr>
          <p:cNvPr id="65" name="Text 63"/>
          <p:cNvSpPr/>
          <p:nvPr/>
        </p:nvSpPr>
        <p:spPr>
          <a:xfrm>
            <a:off x="3886200" y="425196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66" name="Text 64"/>
          <p:cNvSpPr/>
          <p:nvPr/>
        </p:nvSpPr>
        <p:spPr>
          <a:xfrm>
            <a:off x="822960" y="4754880"/>
            <a:ext cx="457200" cy="502920"/>
          </a:xfrm>
          <a:prstGeom prst="rect">
            <a:avLst/>
          </a:prstGeom>
          <a:noFill/>
          <a:ln/>
        </p:spPr>
        <p:txBody>
          <a:bodyPr wrap="square" lIns="0" tIns="0" rIns="0" bIns="0" rtlCol="0" anchor="ctr"/>
          <a:lstStyle/>
          <a:p>
            <a:pPr marL="0" indent="0" algn="r">
              <a:buNone/>
            </a:pPr>
            <a:r>
              <a:rPr lang="en-US" sz="1000" dirty="0">
                <a:solidFill>
                  <a:srgbClr val="888780"/>
                </a:solidFill>
                <a:latin typeface="Consolas" pitchFamily="34" charset="0"/>
                <a:ea typeface="Consolas" pitchFamily="34" charset="-122"/>
                <a:cs typeface="Consolas" pitchFamily="34" charset="-120"/>
              </a:rPr>
              <a:t>7</a:t>
            </a:r>
            <a:endParaRPr lang="en-US" sz="1000" dirty="0"/>
          </a:p>
        </p:txBody>
      </p:sp>
      <p:sp>
        <p:nvSpPr>
          <p:cNvPr id="67" name="Shape 65"/>
          <p:cNvSpPr/>
          <p:nvPr/>
        </p:nvSpPr>
        <p:spPr>
          <a:xfrm>
            <a:off x="1371600" y="4754880"/>
            <a:ext cx="466344" cy="466344"/>
          </a:xfrm>
          <a:prstGeom prst="rect">
            <a:avLst/>
          </a:prstGeom>
          <a:solidFill>
            <a:srgbClr val="0D0887"/>
          </a:solidFill>
          <a:ln w="6350">
            <a:solidFill>
              <a:srgbClr val="FFFFFF"/>
            </a:solidFill>
            <a:prstDash val="solid"/>
          </a:ln>
        </p:spPr>
        <p:txBody>
          <a:bodyPr/>
          <a:lstStyle/>
          <a:p>
            <a:endParaRPr lang="en-US"/>
          </a:p>
        </p:txBody>
      </p:sp>
      <p:sp>
        <p:nvSpPr>
          <p:cNvPr id="68" name="Text 66"/>
          <p:cNvSpPr/>
          <p:nvPr/>
        </p:nvSpPr>
        <p:spPr>
          <a:xfrm>
            <a:off x="1371600" y="475488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a:t>
            </a:r>
            <a:endParaRPr lang="en-US" sz="1100" dirty="0"/>
          </a:p>
        </p:txBody>
      </p:sp>
      <p:sp>
        <p:nvSpPr>
          <p:cNvPr id="69" name="Shape 67"/>
          <p:cNvSpPr/>
          <p:nvPr/>
        </p:nvSpPr>
        <p:spPr>
          <a:xfrm>
            <a:off x="1874520" y="4754880"/>
            <a:ext cx="466344" cy="466344"/>
          </a:xfrm>
          <a:prstGeom prst="rect">
            <a:avLst/>
          </a:prstGeom>
          <a:solidFill>
            <a:srgbClr val="5302A3"/>
          </a:solidFill>
          <a:ln w="6350">
            <a:solidFill>
              <a:srgbClr val="FFFFFF"/>
            </a:solidFill>
            <a:prstDash val="solid"/>
          </a:ln>
        </p:spPr>
        <p:txBody>
          <a:bodyPr/>
          <a:lstStyle/>
          <a:p>
            <a:endParaRPr lang="en-US"/>
          </a:p>
        </p:txBody>
      </p:sp>
      <p:sp>
        <p:nvSpPr>
          <p:cNvPr id="70" name="Text 68"/>
          <p:cNvSpPr/>
          <p:nvPr/>
        </p:nvSpPr>
        <p:spPr>
          <a:xfrm>
            <a:off x="1874520" y="475488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71" name="Shape 69"/>
          <p:cNvSpPr/>
          <p:nvPr/>
        </p:nvSpPr>
        <p:spPr>
          <a:xfrm>
            <a:off x="2377440" y="4754880"/>
            <a:ext cx="466344" cy="466344"/>
          </a:xfrm>
          <a:prstGeom prst="rect">
            <a:avLst/>
          </a:prstGeom>
          <a:solidFill>
            <a:srgbClr val="5302A3"/>
          </a:solidFill>
          <a:ln w="6350">
            <a:solidFill>
              <a:srgbClr val="FFFFFF"/>
            </a:solidFill>
            <a:prstDash val="solid"/>
          </a:ln>
        </p:spPr>
        <p:txBody>
          <a:bodyPr/>
          <a:lstStyle/>
          <a:p>
            <a:endParaRPr lang="en-US"/>
          </a:p>
        </p:txBody>
      </p:sp>
      <p:sp>
        <p:nvSpPr>
          <p:cNvPr id="72" name="Text 70"/>
          <p:cNvSpPr/>
          <p:nvPr/>
        </p:nvSpPr>
        <p:spPr>
          <a:xfrm>
            <a:off x="2377440" y="475488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73" name="Shape 71"/>
          <p:cNvSpPr/>
          <p:nvPr/>
        </p:nvSpPr>
        <p:spPr>
          <a:xfrm>
            <a:off x="2880360" y="4754880"/>
            <a:ext cx="466344" cy="466344"/>
          </a:xfrm>
          <a:prstGeom prst="rect">
            <a:avLst/>
          </a:prstGeom>
          <a:solidFill>
            <a:srgbClr val="5302A3"/>
          </a:solidFill>
          <a:ln w="6350">
            <a:solidFill>
              <a:srgbClr val="FFFFFF"/>
            </a:solidFill>
            <a:prstDash val="solid"/>
          </a:ln>
        </p:spPr>
        <p:txBody>
          <a:bodyPr/>
          <a:lstStyle/>
          <a:p>
            <a:endParaRPr lang="en-US"/>
          </a:p>
        </p:txBody>
      </p:sp>
      <p:sp>
        <p:nvSpPr>
          <p:cNvPr id="74" name="Text 72"/>
          <p:cNvSpPr/>
          <p:nvPr/>
        </p:nvSpPr>
        <p:spPr>
          <a:xfrm>
            <a:off x="2880360" y="475488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75" name="Shape 73"/>
          <p:cNvSpPr/>
          <p:nvPr/>
        </p:nvSpPr>
        <p:spPr>
          <a:xfrm>
            <a:off x="3383280" y="4754880"/>
            <a:ext cx="466344" cy="466344"/>
          </a:xfrm>
          <a:prstGeom prst="rect">
            <a:avLst/>
          </a:prstGeom>
          <a:solidFill>
            <a:srgbClr val="5302A3"/>
          </a:solidFill>
          <a:ln w="6350">
            <a:solidFill>
              <a:srgbClr val="FFFFFF"/>
            </a:solidFill>
            <a:prstDash val="solid"/>
          </a:ln>
        </p:spPr>
        <p:txBody>
          <a:bodyPr/>
          <a:lstStyle/>
          <a:p>
            <a:endParaRPr lang="en-US"/>
          </a:p>
        </p:txBody>
      </p:sp>
      <p:sp>
        <p:nvSpPr>
          <p:cNvPr id="76" name="Text 74"/>
          <p:cNvSpPr/>
          <p:nvPr/>
        </p:nvSpPr>
        <p:spPr>
          <a:xfrm>
            <a:off x="3383280" y="475488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77" name="Shape 75"/>
          <p:cNvSpPr/>
          <p:nvPr/>
        </p:nvSpPr>
        <p:spPr>
          <a:xfrm>
            <a:off x="3886200" y="4754880"/>
            <a:ext cx="466344" cy="466344"/>
          </a:xfrm>
          <a:prstGeom prst="rect">
            <a:avLst/>
          </a:prstGeom>
          <a:solidFill>
            <a:srgbClr val="5302A3"/>
          </a:solidFill>
          <a:ln w="6350">
            <a:solidFill>
              <a:srgbClr val="FFFFFF"/>
            </a:solidFill>
            <a:prstDash val="solid"/>
          </a:ln>
        </p:spPr>
        <p:txBody>
          <a:bodyPr/>
          <a:lstStyle/>
          <a:p>
            <a:endParaRPr lang="en-US"/>
          </a:p>
        </p:txBody>
      </p:sp>
      <p:sp>
        <p:nvSpPr>
          <p:cNvPr id="78" name="Text 76"/>
          <p:cNvSpPr/>
          <p:nvPr/>
        </p:nvSpPr>
        <p:spPr>
          <a:xfrm>
            <a:off x="3886200" y="4754880"/>
            <a:ext cx="466344" cy="466344"/>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a:t>
            </a:r>
            <a:endParaRPr lang="en-US" sz="1100" dirty="0"/>
          </a:p>
        </p:txBody>
      </p:sp>
      <p:sp>
        <p:nvSpPr>
          <p:cNvPr id="79" name="Text 77"/>
          <p:cNvSpPr/>
          <p:nvPr/>
        </p:nvSpPr>
        <p:spPr>
          <a:xfrm>
            <a:off x="2628900" y="5303520"/>
            <a:ext cx="914400" cy="274320"/>
          </a:xfrm>
          <a:prstGeom prst="rect">
            <a:avLst/>
          </a:prstGeom>
          <a:noFill/>
          <a:ln/>
        </p:spPr>
        <p:txBody>
          <a:bodyPr wrap="square" lIns="0" tIns="0" rIns="0" bIns="0" rtlCol="0" anchor="ctr"/>
          <a:lstStyle/>
          <a:p>
            <a:pPr marL="0" indent="0" algn="ctr">
              <a:buNone/>
            </a:pPr>
            <a:r>
              <a:rPr lang="en-US" sz="1000" i="1" dirty="0">
                <a:solidFill>
                  <a:srgbClr val="888780"/>
                </a:solidFill>
                <a:latin typeface="Calibri" pitchFamily="34" charset="0"/>
                <a:ea typeface="Calibri" pitchFamily="34" charset="-122"/>
                <a:cs typeface="Calibri" pitchFamily="34" charset="-120"/>
              </a:rPr>
              <a:t>eps →</a:t>
            </a:r>
            <a:endParaRPr lang="en-US" sz="1000" dirty="0"/>
          </a:p>
        </p:txBody>
      </p:sp>
      <p:sp>
        <p:nvSpPr>
          <p:cNvPr id="80" name="Text 78"/>
          <p:cNvSpPr/>
          <p:nvPr/>
        </p:nvSpPr>
        <p:spPr>
          <a:xfrm rot="16200000">
            <a:off x="320040" y="3749040"/>
            <a:ext cx="457200" cy="365760"/>
          </a:xfrm>
          <a:prstGeom prst="rect">
            <a:avLst/>
          </a:prstGeom>
          <a:noFill/>
          <a:ln/>
        </p:spPr>
        <p:txBody>
          <a:bodyPr wrap="square" lIns="0" tIns="0" rIns="0" bIns="0" rtlCol="0" anchor="ctr"/>
          <a:lstStyle/>
          <a:p>
            <a:pPr marL="0" indent="0" algn="r">
              <a:buNone/>
            </a:pPr>
            <a:r>
              <a:rPr lang="en-US" sz="1000" i="1" dirty="0">
                <a:solidFill>
                  <a:srgbClr val="888780"/>
                </a:solidFill>
                <a:latin typeface="Calibri" pitchFamily="34" charset="0"/>
                <a:ea typeface="Calibri" pitchFamily="34" charset="-122"/>
                <a:cs typeface="Calibri" pitchFamily="34" charset="-120"/>
              </a:rPr>
              <a:t>minPts</a:t>
            </a:r>
            <a:endParaRPr lang="en-US" sz="1000" dirty="0"/>
          </a:p>
        </p:txBody>
      </p:sp>
      <p:sp>
        <p:nvSpPr>
          <p:cNvPr id="81" name="Text 79"/>
          <p:cNvSpPr/>
          <p:nvPr/>
        </p:nvSpPr>
        <p:spPr>
          <a:xfrm>
            <a:off x="6858000" y="2148840"/>
            <a:ext cx="502920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SELECTION REASONING</a:t>
            </a:r>
            <a:endParaRPr lang="en-US" sz="1100" dirty="0"/>
          </a:p>
        </p:txBody>
      </p:sp>
      <p:sp>
        <p:nvSpPr>
          <p:cNvPr id="82" name="Shape 80"/>
          <p:cNvSpPr/>
          <p:nvPr/>
        </p:nvSpPr>
        <p:spPr>
          <a:xfrm>
            <a:off x="6858000" y="2514600"/>
            <a:ext cx="36576" cy="640080"/>
          </a:xfrm>
          <a:prstGeom prst="rect">
            <a:avLst/>
          </a:prstGeom>
          <a:solidFill>
            <a:srgbClr val="D85A30"/>
          </a:solidFill>
          <a:ln w="12700">
            <a:solidFill>
              <a:srgbClr val="D85A30"/>
            </a:solidFill>
            <a:prstDash val="solid"/>
          </a:ln>
        </p:spPr>
        <p:txBody>
          <a:bodyPr/>
          <a:lstStyle/>
          <a:p>
            <a:endParaRPr lang="en-US"/>
          </a:p>
        </p:txBody>
      </p:sp>
      <p:sp>
        <p:nvSpPr>
          <p:cNvPr id="83" name="Text 81"/>
          <p:cNvSpPr/>
          <p:nvPr/>
        </p:nvSpPr>
        <p:spPr>
          <a:xfrm>
            <a:off x="7040880" y="2514600"/>
            <a:ext cx="4846320" cy="640080"/>
          </a:xfrm>
          <a:prstGeom prst="rect">
            <a:avLst/>
          </a:prstGeom>
          <a:noFill/>
          <a:ln/>
        </p:spPr>
        <p:txBody>
          <a:bodyPr wrap="square" lIns="0" tIns="0" rIns="0" bIns="0" rtlCol="0" anchor="t"/>
          <a:lstStyle/>
          <a:p>
            <a:pPr marL="0" indent="0">
              <a:buNone/>
            </a:pPr>
            <a:r>
              <a:rPr lang="en-US" sz="1200" b="1" dirty="0">
                <a:solidFill>
                  <a:srgbClr val="1C1C1A"/>
                </a:solidFill>
                <a:latin typeface="Consolas" pitchFamily="34" charset="0"/>
                <a:ea typeface="Consolas" pitchFamily="34" charset="-122"/>
                <a:cs typeface="Consolas" pitchFamily="34" charset="-120"/>
              </a:rPr>
              <a:t>minPts = 5  </a:t>
            </a:r>
            <a:r>
              <a:rPr lang="en-US" sz="1200" dirty="0">
                <a:solidFill>
                  <a:srgbClr val="4A4842"/>
                </a:solidFill>
                <a:latin typeface="Calibri" pitchFamily="34" charset="0"/>
                <a:ea typeface="Calibri" pitchFamily="34" charset="-122"/>
                <a:cs typeface="Calibri" pitchFamily="34" charset="-120"/>
              </a:rPr>
              <a:t>Chosen over the standard rule (dim+1 = 7). minPts = 7 collapsed to 1–2 clusters across all ε values.</a:t>
            </a:r>
            <a:endParaRPr lang="en-US" sz="1200" dirty="0"/>
          </a:p>
        </p:txBody>
      </p:sp>
      <p:sp>
        <p:nvSpPr>
          <p:cNvPr id="84" name="Shape 82"/>
          <p:cNvSpPr/>
          <p:nvPr/>
        </p:nvSpPr>
        <p:spPr>
          <a:xfrm>
            <a:off x="6858000" y="3291840"/>
            <a:ext cx="36576" cy="640080"/>
          </a:xfrm>
          <a:prstGeom prst="rect">
            <a:avLst/>
          </a:prstGeom>
          <a:solidFill>
            <a:srgbClr val="D85A30"/>
          </a:solidFill>
          <a:ln w="12700">
            <a:solidFill>
              <a:srgbClr val="D85A30"/>
            </a:solidFill>
            <a:prstDash val="solid"/>
          </a:ln>
        </p:spPr>
        <p:txBody>
          <a:bodyPr/>
          <a:lstStyle/>
          <a:p>
            <a:endParaRPr lang="en-US"/>
          </a:p>
        </p:txBody>
      </p:sp>
      <p:sp>
        <p:nvSpPr>
          <p:cNvPr id="85" name="Text 83"/>
          <p:cNvSpPr/>
          <p:nvPr/>
        </p:nvSpPr>
        <p:spPr>
          <a:xfrm>
            <a:off x="7040880" y="3291840"/>
            <a:ext cx="4846320" cy="640080"/>
          </a:xfrm>
          <a:prstGeom prst="rect">
            <a:avLst/>
          </a:prstGeom>
          <a:noFill/>
          <a:ln/>
        </p:spPr>
        <p:txBody>
          <a:bodyPr wrap="square" lIns="0" tIns="0" rIns="0" bIns="0" rtlCol="0" anchor="t"/>
          <a:lstStyle/>
          <a:p>
            <a:pPr marL="0" indent="0">
              <a:buNone/>
            </a:pPr>
            <a:r>
              <a:rPr lang="en-US" sz="1200" b="1" dirty="0">
                <a:solidFill>
                  <a:srgbClr val="1C1C1A"/>
                </a:solidFill>
                <a:latin typeface="Consolas" pitchFamily="34" charset="0"/>
                <a:ea typeface="Consolas" pitchFamily="34" charset="-122"/>
                <a:cs typeface="Consolas" pitchFamily="34" charset="-120"/>
              </a:rPr>
              <a:t>ε = 1.5  </a:t>
            </a:r>
            <a:r>
              <a:rPr lang="en-US" sz="1200" dirty="0">
                <a:solidFill>
                  <a:srgbClr val="4A4842"/>
                </a:solidFill>
                <a:latin typeface="Calibri" pitchFamily="34" charset="0"/>
                <a:ea typeface="Calibri" pitchFamily="34" charset="-122"/>
                <a:cs typeface="Calibri" pitchFamily="34" charset="-120"/>
              </a:rPr>
              <a:t>Sits in a stable region — three clusters at minPts = 5 holds for ε = 1.4, 1.5, and 1.6.</a:t>
            </a:r>
            <a:endParaRPr lang="en-US" sz="1200" dirty="0"/>
          </a:p>
        </p:txBody>
      </p:sp>
      <p:sp>
        <p:nvSpPr>
          <p:cNvPr id="86" name="Shape 84"/>
          <p:cNvSpPr/>
          <p:nvPr/>
        </p:nvSpPr>
        <p:spPr>
          <a:xfrm>
            <a:off x="6858000" y="4069080"/>
            <a:ext cx="36576" cy="640080"/>
          </a:xfrm>
          <a:prstGeom prst="rect">
            <a:avLst/>
          </a:prstGeom>
          <a:solidFill>
            <a:srgbClr val="D85A30"/>
          </a:solidFill>
          <a:ln w="12700">
            <a:solidFill>
              <a:srgbClr val="D85A30"/>
            </a:solidFill>
            <a:prstDash val="solid"/>
          </a:ln>
        </p:spPr>
        <p:txBody>
          <a:bodyPr/>
          <a:lstStyle/>
          <a:p>
            <a:endParaRPr lang="en-US"/>
          </a:p>
        </p:txBody>
      </p:sp>
      <p:sp>
        <p:nvSpPr>
          <p:cNvPr id="87" name="Text 85"/>
          <p:cNvSpPr/>
          <p:nvPr/>
        </p:nvSpPr>
        <p:spPr>
          <a:xfrm>
            <a:off x="7040880" y="4069080"/>
            <a:ext cx="4846320" cy="640080"/>
          </a:xfrm>
          <a:prstGeom prst="rect">
            <a:avLst/>
          </a:prstGeom>
          <a:noFill/>
          <a:ln/>
        </p:spPr>
        <p:txBody>
          <a:bodyPr wrap="square" lIns="0" tIns="0" rIns="0" bIns="0" rtlCol="0" anchor="t"/>
          <a:lstStyle/>
          <a:p>
            <a:pPr marL="0" indent="0">
              <a:buNone/>
            </a:pPr>
            <a:r>
              <a:rPr lang="en-US" sz="1200" b="1" dirty="0">
                <a:solidFill>
                  <a:srgbClr val="1C1C1A"/>
                </a:solidFill>
                <a:latin typeface="Consolas" pitchFamily="34" charset="0"/>
                <a:ea typeface="Consolas" pitchFamily="34" charset="-122"/>
                <a:cs typeface="Consolas" pitchFamily="34" charset="-120"/>
              </a:rPr>
              <a:t>ε = 1.6 rejected  </a:t>
            </a:r>
            <a:r>
              <a:rPr lang="en-US" sz="1200" dirty="0">
                <a:solidFill>
                  <a:srgbClr val="4A4842"/>
                </a:solidFill>
                <a:latin typeface="Calibri" pitchFamily="34" charset="0"/>
                <a:ea typeface="Calibri" pitchFamily="34" charset="-122"/>
                <a:cs typeface="Calibri" pitchFamily="34" charset="-120"/>
              </a:rPr>
              <a:t>ε = 1.7 jumps to four clusters (unstable neighbor); 1.6 too close to that boundary.</a:t>
            </a:r>
            <a:endParaRPr lang="en-US" sz="1200" dirty="0"/>
          </a:p>
        </p:txBody>
      </p:sp>
      <p:sp>
        <p:nvSpPr>
          <p:cNvPr id="88" name="Shape 86"/>
          <p:cNvSpPr/>
          <p:nvPr/>
        </p:nvSpPr>
        <p:spPr>
          <a:xfrm>
            <a:off x="6858000" y="4846320"/>
            <a:ext cx="36576" cy="640080"/>
          </a:xfrm>
          <a:prstGeom prst="rect">
            <a:avLst/>
          </a:prstGeom>
          <a:solidFill>
            <a:srgbClr val="D85A30"/>
          </a:solidFill>
          <a:ln w="12700">
            <a:solidFill>
              <a:srgbClr val="D85A30"/>
            </a:solidFill>
            <a:prstDash val="solid"/>
          </a:ln>
        </p:spPr>
        <p:txBody>
          <a:bodyPr/>
          <a:lstStyle/>
          <a:p>
            <a:endParaRPr lang="en-US"/>
          </a:p>
        </p:txBody>
      </p:sp>
      <p:sp>
        <p:nvSpPr>
          <p:cNvPr id="89" name="Text 87"/>
          <p:cNvSpPr/>
          <p:nvPr/>
        </p:nvSpPr>
        <p:spPr>
          <a:xfrm>
            <a:off x="7040880" y="4846320"/>
            <a:ext cx="4846320" cy="640080"/>
          </a:xfrm>
          <a:prstGeom prst="rect">
            <a:avLst/>
          </a:prstGeom>
          <a:noFill/>
          <a:ln/>
        </p:spPr>
        <p:txBody>
          <a:bodyPr wrap="square" lIns="0" tIns="0" rIns="0" bIns="0" rtlCol="0" anchor="t"/>
          <a:lstStyle/>
          <a:p>
            <a:pPr marL="0" indent="0">
              <a:buNone/>
            </a:pPr>
            <a:r>
              <a:rPr lang="en-US" sz="1200" b="1" dirty="0">
                <a:solidFill>
                  <a:srgbClr val="1C1C1A"/>
                </a:solidFill>
                <a:latin typeface="Consolas" pitchFamily="34" charset="0"/>
                <a:ea typeface="Consolas" pitchFamily="34" charset="-122"/>
                <a:cs typeface="Consolas" pitchFamily="34" charset="-120"/>
              </a:rPr>
              <a:t>Result  </a:t>
            </a:r>
            <a:r>
              <a:rPr lang="en-US" sz="1200" dirty="0">
                <a:solidFill>
                  <a:srgbClr val="4A4842"/>
                </a:solidFill>
                <a:latin typeface="Calibri" pitchFamily="34" charset="0"/>
                <a:ea typeface="Calibri" pitchFamily="34" charset="-122"/>
                <a:cs typeface="Calibri" pitchFamily="34" charset="-120"/>
              </a:rPr>
              <a:t>Three clusters + 69 noise points (1.18%) at chosen settings.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DBSCAN · CLUSTER SOLUTION</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11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One dominant cluster, satellites, and noise</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ε = 1.5, minPts = 5 — final fit.</a:t>
            </a:r>
            <a:endParaRPr lang="en-US" sz="1400" dirty="0"/>
          </a:p>
        </p:txBody>
      </p:sp>
      <p:sp>
        <p:nvSpPr>
          <p:cNvPr id="7" name="Shape 5"/>
          <p:cNvSpPr/>
          <p:nvPr/>
        </p:nvSpPr>
        <p:spPr>
          <a:xfrm>
            <a:off x="548640" y="2194560"/>
            <a:ext cx="2628900" cy="1645920"/>
          </a:xfrm>
          <a:prstGeom prst="rect">
            <a:avLst/>
          </a:prstGeom>
          <a:solidFill>
            <a:srgbClr val="FDF1EB"/>
          </a:solidFill>
          <a:ln w="19050">
            <a:solidFill>
              <a:srgbClr val="D85A30"/>
            </a:solidFill>
            <a:prstDash val="solid"/>
          </a:ln>
        </p:spPr>
        <p:txBody>
          <a:bodyPr/>
          <a:lstStyle/>
          <a:p>
            <a:endParaRPr lang="en-US"/>
          </a:p>
        </p:txBody>
      </p:sp>
      <p:sp>
        <p:nvSpPr>
          <p:cNvPr id="8" name="Text 6"/>
          <p:cNvSpPr/>
          <p:nvPr/>
        </p:nvSpPr>
        <p:spPr>
          <a:xfrm>
            <a:off x="731520" y="2331720"/>
            <a:ext cx="226314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CLUSTER 1</a:t>
            </a:r>
            <a:endParaRPr lang="en-US" sz="1100" dirty="0"/>
          </a:p>
        </p:txBody>
      </p:sp>
      <p:sp>
        <p:nvSpPr>
          <p:cNvPr id="9" name="Text 7"/>
          <p:cNvSpPr/>
          <p:nvPr/>
        </p:nvSpPr>
        <p:spPr>
          <a:xfrm>
            <a:off x="731520" y="2606040"/>
            <a:ext cx="2263140" cy="731520"/>
          </a:xfrm>
          <a:prstGeom prst="rect">
            <a:avLst/>
          </a:prstGeom>
          <a:noFill/>
          <a:ln/>
        </p:spPr>
        <p:txBody>
          <a:bodyPr wrap="square" lIns="0" tIns="0" rIns="0" bIns="0" rtlCol="0" anchor="ctr"/>
          <a:lstStyle/>
          <a:p>
            <a:pPr marL="0" indent="0">
              <a:buNone/>
            </a:pPr>
            <a:r>
              <a:rPr lang="en-US" sz="4400" dirty="0">
                <a:solidFill>
                  <a:srgbClr val="D85A30"/>
                </a:solidFill>
                <a:latin typeface="Georgia" pitchFamily="34" charset="0"/>
                <a:ea typeface="Georgia" pitchFamily="34" charset="-122"/>
                <a:cs typeface="Georgia" pitchFamily="34" charset="-120"/>
              </a:rPr>
              <a:t>5,728</a:t>
            </a:r>
            <a:endParaRPr lang="en-US" sz="4400" dirty="0"/>
          </a:p>
        </p:txBody>
      </p:sp>
      <p:sp>
        <p:nvSpPr>
          <p:cNvPr id="10" name="Text 8"/>
          <p:cNvSpPr/>
          <p:nvPr/>
        </p:nvSpPr>
        <p:spPr>
          <a:xfrm>
            <a:off x="731520" y="3383280"/>
            <a:ext cx="2263140" cy="274320"/>
          </a:xfrm>
          <a:prstGeom prst="rect">
            <a:avLst/>
          </a:prstGeom>
          <a:noFill/>
          <a:ln/>
        </p:spPr>
        <p:txBody>
          <a:bodyPr wrap="square" lIns="0" tIns="0" rIns="0" bIns="0" rtlCol="0" anchor="ctr"/>
          <a:lstStyle/>
          <a:p>
            <a:pPr marL="0" indent="0">
              <a:buNone/>
            </a:pPr>
            <a:r>
              <a:rPr lang="en-US" sz="1100" dirty="0">
                <a:solidFill>
                  <a:srgbClr val="888780"/>
                </a:solidFill>
                <a:latin typeface="Calibri" pitchFamily="34" charset="0"/>
                <a:ea typeface="Calibri" pitchFamily="34" charset="-122"/>
                <a:cs typeface="Calibri" pitchFamily="34" charset="-120"/>
              </a:rPr>
              <a:t>98.2% of clustered obs</a:t>
            </a:r>
            <a:endParaRPr lang="en-US" sz="1100" dirty="0"/>
          </a:p>
        </p:txBody>
      </p:sp>
      <p:sp>
        <p:nvSpPr>
          <p:cNvPr id="11" name="Shape 9"/>
          <p:cNvSpPr/>
          <p:nvPr/>
        </p:nvSpPr>
        <p:spPr>
          <a:xfrm>
            <a:off x="3360420" y="2194560"/>
            <a:ext cx="2628900" cy="1645920"/>
          </a:xfrm>
          <a:prstGeom prst="rect">
            <a:avLst/>
          </a:prstGeom>
          <a:solidFill>
            <a:srgbClr val="F4F1E8"/>
          </a:solidFill>
          <a:ln w="6350">
            <a:solidFill>
              <a:srgbClr val="D8D3C5"/>
            </a:solidFill>
            <a:prstDash val="solid"/>
          </a:ln>
        </p:spPr>
        <p:txBody>
          <a:bodyPr/>
          <a:lstStyle/>
          <a:p>
            <a:endParaRPr lang="en-US"/>
          </a:p>
        </p:txBody>
      </p:sp>
      <p:sp>
        <p:nvSpPr>
          <p:cNvPr id="12" name="Text 10"/>
          <p:cNvSpPr/>
          <p:nvPr/>
        </p:nvSpPr>
        <p:spPr>
          <a:xfrm>
            <a:off x="3543300" y="2331720"/>
            <a:ext cx="226314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CLUSTER 2</a:t>
            </a:r>
            <a:endParaRPr lang="en-US" sz="1100" dirty="0"/>
          </a:p>
        </p:txBody>
      </p:sp>
      <p:sp>
        <p:nvSpPr>
          <p:cNvPr id="13" name="Text 11"/>
          <p:cNvSpPr/>
          <p:nvPr/>
        </p:nvSpPr>
        <p:spPr>
          <a:xfrm>
            <a:off x="3543300" y="2606040"/>
            <a:ext cx="2263140" cy="731520"/>
          </a:xfrm>
          <a:prstGeom prst="rect">
            <a:avLst/>
          </a:prstGeom>
          <a:noFill/>
          <a:ln/>
        </p:spPr>
        <p:txBody>
          <a:bodyPr wrap="square" lIns="0" tIns="0" rIns="0" bIns="0" rtlCol="0" anchor="ctr"/>
          <a:lstStyle/>
          <a:p>
            <a:pPr marL="0" indent="0">
              <a:buNone/>
            </a:pPr>
            <a:r>
              <a:rPr lang="en-US" sz="4400" dirty="0">
                <a:solidFill>
                  <a:srgbClr val="1C1C1A"/>
                </a:solidFill>
                <a:latin typeface="Georgia" pitchFamily="34" charset="0"/>
                <a:ea typeface="Georgia" pitchFamily="34" charset="-122"/>
                <a:cs typeface="Georgia" pitchFamily="34" charset="-120"/>
              </a:rPr>
              <a:t>26</a:t>
            </a:r>
            <a:endParaRPr lang="en-US" sz="4400" dirty="0"/>
          </a:p>
        </p:txBody>
      </p:sp>
      <p:sp>
        <p:nvSpPr>
          <p:cNvPr id="14" name="Text 12"/>
          <p:cNvSpPr/>
          <p:nvPr/>
        </p:nvSpPr>
        <p:spPr>
          <a:xfrm>
            <a:off x="3543300" y="3383280"/>
            <a:ext cx="2263140" cy="274320"/>
          </a:xfrm>
          <a:prstGeom prst="rect">
            <a:avLst/>
          </a:prstGeom>
          <a:noFill/>
          <a:ln/>
        </p:spPr>
        <p:txBody>
          <a:bodyPr wrap="square" lIns="0" tIns="0" rIns="0" bIns="0" rtlCol="0" anchor="ctr"/>
          <a:lstStyle/>
          <a:p>
            <a:pPr marL="0" indent="0">
              <a:buNone/>
            </a:pPr>
            <a:r>
              <a:rPr lang="en-US" sz="1100" dirty="0">
                <a:solidFill>
                  <a:srgbClr val="888780"/>
                </a:solidFill>
                <a:latin typeface="Calibri" pitchFamily="34" charset="0"/>
                <a:ea typeface="Calibri" pitchFamily="34" charset="-122"/>
                <a:cs typeface="Calibri" pitchFamily="34" charset="-120"/>
              </a:rPr>
              <a:t>0.45%</a:t>
            </a:r>
            <a:endParaRPr lang="en-US" sz="1100" dirty="0"/>
          </a:p>
        </p:txBody>
      </p:sp>
      <p:sp>
        <p:nvSpPr>
          <p:cNvPr id="15" name="Shape 13"/>
          <p:cNvSpPr/>
          <p:nvPr/>
        </p:nvSpPr>
        <p:spPr>
          <a:xfrm>
            <a:off x="6172200" y="2194560"/>
            <a:ext cx="2628900" cy="1645920"/>
          </a:xfrm>
          <a:prstGeom prst="rect">
            <a:avLst/>
          </a:prstGeom>
          <a:solidFill>
            <a:srgbClr val="F4F1E8"/>
          </a:solidFill>
          <a:ln w="6350">
            <a:solidFill>
              <a:srgbClr val="D8D3C5"/>
            </a:solidFill>
            <a:prstDash val="solid"/>
          </a:ln>
        </p:spPr>
        <p:txBody>
          <a:bodyPr/>
          <a:lstStyle/>
          <a:p>
            <a:endParaRPr lang="en-US"/>
          </a:p>
        </p:txBody>
      </p:sp>
      <p:sp>
        <p:nvSpPr>
          <p:cNvPr id="16" name="Text 14"/>
          <p:cNvSpPr/>
          <p:nvPr/>
        </p:nvSpPr>
        <p:spPr>
          <a:xfrm>
            <a:off x="6355080" y="2331720"/>
            <a:ext cx="226314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CLUSTER 3</a:t>
            </a:r>
            <a:endParaRPr lang="en-US" sz="1100" dirty="0"/>
          </a:p>
        </p:txBody>
      </p:sp>
      <p:sp>
        <p:nvSpPr>
          <p:cNvPr id="17" name="Text 15"/>
          <p:cNvSpPr/>
          <p:nvPr/>
        </p:nvSpPr>
        <p:spPr>
          <a:xfrm>
            <a:off x="6355080" y="2606040"/>
            <a:ext cx="2263140" cy="731520"/>
          </a:xfrm>
          <a:prstGeom prst="rect">
            <a:avLst/>
          </a:prstGeom>
          <a:noFill/>
          <a:ln/>
        </p:spPr>
        <p:txBody>
          <a:bodyPr wrap="square" lIns="0" tIns="0" rIns="0" bIns="0" rtlCol="0" anchor="ctr"/>
          <a:lstStyle/>
          <a:p>
            <a:pPr marL="0" indent="0">
              <a:buNone/>
            </a:pPr>
            <a:r>
              <a:rPr lang="en-US" sz="4400" dirty="0">
                <a:solidFill>
                  <a:srgbClr val="1C1C1A"/>
                </a:solidFill>
                <a:latin typeface="Georgia" pitchFamily="34" charset="0"/>
                <a:ea typeface="Georgia" pitchFamily="34" charset="-122"/>
                <a:cs typeface="Georgia" pitchFamily="34" charset="-120"/>
              </a:rPr>
              <a:t>5</a:t>
            </a:r>
            <a:endParaRPr lang="en-US" sz="4400" dirty="0"/>
          </a:p>
        </p:txBody>
      </p:sp>
      <p:sp>
        <p:nvSpPr>
          <p:cNvPr id="18" name="Text 16"/>
          <p:cNvSpPr/>
          <p:nvPr/>
        </p:nvSpPr>
        <p:spPr>
          <a:xfrm>
            <a:off x="6355080" y="3383280"/>
            <a:ext cx="2263140" cy="274320"/>
          </a:xfrm>
          <a:prstGeom prst="rect">
            <a:avLst/>
          </a:prstGeom>
          <a:noFill/>
          <a:ln/>
        </p:spPr>
        <p:txBody>
          <a:bodyPr wrap="square" lIns="0" tIns="0" rIns="0" bIns="0" rtlCol="0" anchor="ctr"/>
          <a:lstStyle/>
          <a:p>
            <a:pPr marL="0" indent="0">
              <a:buNone/>
            </a:pPr>
            <a:r>
              <a:rPr lang="en-US" sz="1100" dirty="0">
                <a:solidFill>
                  <a:srgbClr val="888780"/>
                </a:solidFill>
                <a:latin typeface="Calibri" pitchFamily="34" charset="0"/>
                <a:ea typeface="Calibri" pitchFamily="34" charset="-122"/>
                <a:cs typeface="Calibri" pitchFamily="34" charset="-120"/>
              </a:rPr>
              <a:t>0.09%</a:t>
            </a:r>
            <a:endParaRPr lang="en-US" sz="1100" dirty="0"/>
          </a:p>
        </p:txBody>
      </p:sp>
      <p:sp>
        <p:nvSpPr>
          <p:cNvPr id="19" name="Shape 17"/>
          <p:cNvSpPr/>
          <p:nvPr/>
        </p:nvSpPr>
        <p:spPr>
          <a:xfrm>
            <a:off x="8983980" y="2194560"/>
            <a:ext cx="2628900" cy="1645920"/>
          </a:xfrm>
          <a:prstGeom prst="rect">
            <a:avLst/>
          </a:prstGeom>
          <a:solidFill>
            <a:srgbClr val="ECF3FB"/>
          </a:solidFill>
          <a:ln w="19050">
            <a:solidFill>
              <a:srgbClr val="378ADD"/>
            </a:solidFill>
            <a:prstDash val="solid"/>
          </a:ln>
        </p:spPr>
        <p:txBody>
          <a:bodyPr/>
          <a:lstStyle/>
          <a:p>
            <a:endParaRPr lang="en-US"/>
          </a:p>
        </p:txBody>
      </p:sp>
      <p:sp>
        <p:nvSpPr>
          <p:cNvPr id="20" name="Text 18"/>
          <p:cNvSpPr/>
          <p:nvPr/>
        </p:nvSpPr>
        <p:spPr>
          <a:xfrm>
            <a:off x="9166860" y="2331720"/>
            <a:ext cx="226314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NOISE</a:t>
            </a:r>
            <a:endParaRPr lang="en-US" sz="1100" dirty="0"/>
          </a:p>
        </p:txBody>
      </p:sp>
      <p:sp>
        <p:nvSpPr>
          <p:cNvPr id="21" name="Text 19"/>
          <p:cNvSpPr/>
          <p:nvPr/>
        </p:nvSpPr>
        <p:spPr>
          <a:xfrm>
            <a:off x="9166860" y="2606040"/>
            <a:ext cx="2263140" cy="731520"/>
          </a:xfrm>
          <a:prstGeom prst="rect">
            <a:avLst/>
          </a:prstGeom>
          <a:noFill/>
          <a:ln/>
        </p:spPr>
        <p:txBody>
          <a:bodyPr wrap="square" lIns="0" tIns="0" rIns="0" bIns="0" rtlCol="0" anchor="ctr"/>
          <a:lstStyle/>
          <a:p>
            <a:pPr marL="0" indent="0">
              <a:buNone/>
            </a:pPr>
            <a:r>
              <a:rPr lang="en-US" sz="4400" dirty="0">
                <a:solidFill>
                  <a:srgbClr val="378ADD"/>
                </a:solidFill>
                <a:latin typeface="Georgia" pitchFamily="34" charset="0"/>
                <a:ea typeface="Georgia" pitchFamily="34" charset="-122"/>
                <a:cs typeface="Georgia" pitchFamily="34" charset="-120"/>
              </a:rPr>
              <a:t>69</a:t>
            </a:r>
            <a:endParaRPr lang="en-US" sz="4400" dirty="0"/>
          </a:p>
        </p:txBody>
      </p:sp>
      <p:sp>
        <p:nvSpPr>
          <p:cNvPr id="22" name="Text 20"/>
          <p:cNvSpPr/>
          <p:nvPr/>
        </p:nvSpPr>
        <p:spPr>
          <a:xfrm>
            <a:off x="9166860" y="3383280"/>
            <a:ext cx="2263140" cy="274320"/>
          </a:xfrm>
          <a:prstGeom prst="rect">
            <a:avLst/>
          </a:prstGeom>
          <a:noFill/>
          <a:ln/>
        </p:spPr>
        <p:txBody>
          <a:bodyPr wrap="square" lIns="0" tIns="0" rIns="0" bIns="0" rtlCol="0" anchor="ctr"/>
          <a:lstStyle/>
          <a:p>
            <a:pPr marL="0" indent="0">
              <a:buNone/>
            </a:pPr>
            <a:r>
              <a:rPr lang="en-US" sz="1100" dirty="0">
                <a:solidFill>
                  <a:srgbClr val="888780"/>
                </a:solidFill>
                <a:latin typeface="Calibri" pitchFamily="34" charset="0"/>
                <a:ea typeface="Calibri" pitchFamily="34" charset="-122"/>
                <a:cs typeface="Calibri" pitchFamily="34" charset="-120"/>
              </a:rPr>
              <a:t>1.18% of total</a:t>
            </a:r>
            <a:endParaRPr lang="en-US" sz="1100" dirty="0"/>
          </a:p>
        </p:txBody>
      </p:sp>
      <p:sp>
        <p:nvSpPr>
          <p:cNvPr id="23" name="Text 21"/>
          <p:cNvSpPr/>
          <p:nvPr/>
        </p:nvSpPr>
        <p:spPr>
          <a:xfrm>
            <a:off x="548640" y="4206240"/>
            <a:ext cx="548640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PROPORTIONAL VIEW</a:t>
            </a:r>
            <a:endParaRPr lang="en-US" sz="1100" dirty="0"/>
          </a:p>
        </p:txBody>
      </p:sp>
      <p:sp>
        <p:nvSpPr>
          <p:cNvPr id="24" name="Shape 22"/>
          <p:cNvSpPr/>
          <p:nvPr/>
        </p:nvSpPr>
        <p:spPr>
          <a:xfrm>
            <a:off x="548640" y="4572000"/>
            <a:ext cx="10698014" cy="457200"/>
          </a:xfrm>
          <a:prstGeom prst="rect">
            <a:avLst/>
          </a:prstGeom>
          <a:solidFill>
            <a:srgbClr val="D85A30"/>
          </a:solidFill>
          <a:ln w="12700">
            <a:solidFill>
              <a:srgbClr val="D85A30"/>
            </a:solidFill>
            <a:prstDash val="solid"/>
          </a:ln>
        </p:spPr>
        <p:txBody>
          <a:bodyPr/>
          <a:lstStyle/>
          <a:p>
            <a:endParaRPr lang="en-US"/>
          </a:p>
        </p:txBody>
      </p:sp>
      <p:sp>
        <p:nvSpPr>
          <p:cNvPr id="25" name="Text 23"/>
          <p:cNvSpPr/>
          <p:nvPr/>
        </p:nvSpPr>
        <p:spPr>
          <a:xfrm>
            <a:off x="548640" y="4572000"/>
            <a:ext cx="10698014"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Cluster 1 — 98.2%</a:t>
            </a:r>
            <a:endParaRPr lang="en-US" sz="1400" dirty="0"/>
          </a:p>
        </p:txBody>
      </p:sp>
      <p:sp>
        <p:nvSpPr>
          <p:cNvPr id="26" name="Shape 24"/>
          <p:cNvSpPr/>
          <p:nvPr/>
        </p:nvSpPr>
        <p:spPr>
          <a:xfrm>
            <a:off x="11246654" y="4572000"/>
            <a:ext cx="48683" cy="457200"/>
          </a:xfrm>
          <a:prstGeom prst="rect">
            <a:avLst/>
          </a:prstGeom>
          <a:solidFill>
            <a:srgbClr val="6B3A22"/>
          </a:solidFill>
          <a:ln w="12700">
            <a:solidFill>
              <a:srgbClr val="6B3A22"/>
            </a:solidFill>
            <a:prstDash val="solid"/>
          </a:ln>
        </p:spPr>
        <p:txBody>
          <a:bodyPr/>
          <a:lstStyle/>
          <a:p>
            <a:endParaRPr lang="en-US"/>
          </a:p>
        </p:txBody>
      </p:sp>
      <p:sp>
        <p:nvSpPr>
          <p:cNvPr id="27" name="Shape 25"/>
          <p:cNvSpPr/>
          <p:nvPr/>
        </p:nvSpPr>
        <p:spPr>
          <a:xfrm>
            <a:off x="11295336" y="4572000"/>
            <a:ext cx="8851" cy="457200"/>
          </a:xfrm>
          <a:prstGeom prst="rect">
            <a:avLst/>
          </a:prstGeom>
          <a:solidFill>
            <a:srgbClr val="4A1F12"/>
          </a:solidFill>
          <a:ln w="12700">
            <a:solidFill>
              <a:srgbClr val="4A1F12"/>
            </a:solidFill>
            <a:prstDash val="solid"/>
          </a:ln>
        </p:spPr>
        <p:txBody>
          <a:bodyPr/>
          <a:lstStyle/>
          <a:p>
            <a:endParaRPr lang="en-US"/>
          </a:p>
        </p:txBody>
      </p:sp>
      <p:sp>
        <p:nvSpPr>
          <p:cNvPr id="28" name="Shape 26"/>
          <p:cNvSpPr/>
          <p:nvPr/>
        </p:nvSpPr>
        <p:spPr>
          <a:xfrm>
            <a:off x="11304188" y="4572000"/>
            <a:ext cx="129452" cy="457200"/>
          </a:xfrm>
          <a:prstGeom prst="rect">
            <a:avLst/>
          </a:prstGeom>
          <a:solidFill>
            <a:srgbClr val="378ADD"/>
          </a:solidFill>
          <a:ln w="12700">
            <a:solidFill>
              <a:srgbClr val="378ADD"/>
            </a:solidFill>
            <a:prstDash val="solid"/>
          </a:ln>
        </p:spPr>
        <p:txBody>
          <a:bodyPr/>
          <a:lstStyle/>
          <a:p>
            <a:endParaRPr lang="en-US"/>
          </a:p>
        </p:txBody>
      </p:sp>
      <p:sp>
        <p:nvSpPr>
          <p:cNvPr id="29" name="Shape 27"/>
          <p:cNvSpPr/>
          <p:nvPr/>
        </p:nvSpPr>
        <p:spPr>
          <a:xfrm>
            <a:off x="548640" y="5852160"/>
            <a:ext cx="11064240" cy="640080"/>
          </a:xfrm>
          <a:prstGeom prst="rect">
            <a:avLst/>
          </a:prstGeom>
          <a:solidFill>
            <a:srgbClr val="F4F1E8"/>
          </a:solidFill>
          <a:ln w="12700">
            <a:solidFill>
              <a:srgbClr val="F4F1E8"/>
            </a:solidFill>
            <a:prstDash val="solid"/>
          </a:ln>
        </p:spPr>
        <p:txBody>
          <a:bodyPr/>
          <a:lstStyle/>
          <a:p>
            <a:endParaRPr lang="en-US"/>
          </a:p>
        </p:txBody>
      </p:sp>
      <p:sp>
        <p:nvSpPr>
          <p:cNvPr id="30" name="Shape 28"/>
          <p:cNvSpPr/>
          <p:nvPr/>
        </p:nvSpPr>
        <p:spPr>
          <a:xfrm>
            <a:off x="548640" y="5852160"/>
            <a:ext cx="45720" cy="640080"/>
          </a:xfrm>
          <a:prstGeom prst="rect">
            <a:avLst/>
          </a:prstGeom>
          <a:solidFill>
            <a:srgbClr val="D85A30"/>
          </a:solidFill>
          <a:ln w="12700">
            <a:solidFill>
              <a:srgbClr val="D85A30"/>
            </a:solidFill>
            <a:prstDash val="solid"/>
          </a:ln>
        </p:spPr>
        <p:txBody>
          <a:bodyPr/>
          <a:lstStyle/>
          <a:p>
            <a:endParaRPr lang="en-US"/>
          </a:p>
        </p:txBody>
      </p:sp>
      <p:sp>
        <p:nvSpPr>
          <p:cNvPr id="31" name="Text 29"/>
          <p:cNvSpPr/>
          <p:nvPr/>
        </p:nvSpPr>
        <p:spPr>
          <a:xfrm>
            <a:off x="731520" y="5897880"/>
            <a:ext cx="10789920" cy="54864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The noise is not erroneous data but extreme clinical cases. The 69 noise observations fall outside the minimum density threshold of the main groups. They are real patients with unusual feature profiles, which is what DBSCAN is designed to reveal.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DBSCAN · CLUSTER VISUALIZATION</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12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PCA and UMAP confirm the same imbalance</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Both projections show one central mass with peripheral satellites and noise.</a:t>
            </a:r>
            <a:endParaRPr lang="en-US" sz="1400" dirty="0"/>
          </a:p>
        </p:txBody>
      </p:sp>
      <p:sp>
        <p:nvSpPr>
          <p:cNvPr id="7" name="Shape 5"/>
          <p:cNvSpPr/>
          <p:nvPr/>
        </p:nvSpPr>
        <p:spPr>
          <a:xfrm>
            <a:off x="532447" y="2176273"/>
            <a:ext cx="5394960" cy="3108960"/>
          </a:xfrm>
          <a:prstGeom prst="rect">
            <a:avLst/>
          </a:prstGeom>
          <a:solidFill>
            <a:srgbClr val="F4F1E8"/>
          </a:solidFill>
          <a:ln w="12700">
            <a:solidFill>
              <a:srgbClr val="F4F1E8"/>
            </a:solidFill>
            <a:prstDash val="solid"/>
          </a:ln>
        </p:spPr>
        <p:txBody>
          <a:bodyPr/>
          <a:lstStyle/>
          <a:p>
            <a:endParaRPr lang="en-US" dirty="0"/>
          </a:p>
        </p:txBody>
      </p:sp>
      <p:sp>
        <p:nvSpPr>
          <p:cNvPr id="8" name="Text 6"/>
          <p:cNvSpPr/>
          <p:nvPr/>
        </p:nvSpPr>
        <p:spPr>
          <a:xfrm>
            <a:off x="716280" y="2194560"/>
            <a:ext cx="4937760" cy="320040"/>
          </a:xfrm>
          <a:prstGeom prst="rect">
            <a:avLst/>
          </a:prstGeom>
          <a:noFill/>
          <a:ln/>
        </p:spPr>
        <p:txBody>
          <a:bodyPr wrap="square" lIns="0" tIns="0" rIns="0" bIns="0" rtlCol="0" anchor="ctr"/>
          <a:lstStyle/>
          <a:p>
            <a:pPr marL="0" indent="0">
              <a:buNone/>
            </a:pPr>
            <a:r>
              <a:rPr lang="en-US" sz="1600" b="1" dirty="0">
                <a:solidFill>
                  <a:srgbClr val="1C1C1A"/>
                </a:solidFill>
                <a:latin typeface="Georgia" pitchFamily="34" charset="0"/>
                <a:ea typeface="Georgia" pitchFamily="34" charset="-122"/>
                <a:cs typeface="Georgia" pitchFamily="34" charset="-120"/>
              </a:rPr>
              <a:t>PCA — colored by cluster</a:t>
            </a:r>
            <a:endParaRPr lang="en-US" sz="1600" dirty="0"/>
          </a:p>
        </p:txBody>
      </p:sp>
      <p:sp>
        <p:nvSpPr>
          <p:cNvPr id="106" name="Shape 104"/>
          <p:cNvSpPr/>
          <p:nvPr/>
        </p:nvSpPr>
        <p:spPr>
          <a:xfrm>
            <a:off x="6163056" y="2176273"/>
            <a:ext cx="5394960" cy="3108960"/>
          </a:xfrm>
          <a:prstGeom prst="rect">
            <a:avLst/>
          </a:prstGeom>
          <a:solidFill>
            <a:srgbClr val="F4F1E8"/>
          </a:solidFill>
          <a:ln w="12700">
            <a:solidFill>
              <a:srgbClr val="F4F1E8"/>
            </a:solidFill>
            <a:prstDash val="solid"/>
          </a:ln>
        </p:spPr>
        <p:txBody>
          <a:bodyPr/>
          <a:lstStyle/>
          <a:p>
            <a:endParaRPr lang="en-US"/>
          </a:p>
        </p:txBody>
      </p:sp>
      <p:sp>
        <p:nvSpPr>
          <p:cNvPr id="107" name="Text 105"/>
          <p:cNvSpPr/>
          <p:nvPr/>
        </p:nvSpPr>
        <p:spPr>
          <a:xfrm>
            <a:off x="6391656" y="2197826"/>
            <a:ext cx="4937760" cy="320040"/>
          </a:xfrm>
          <a:prstGeom prst="rect">
            <a:avLst/>
          </a:prstGeom>
          <a:noFill/>
          <a:ln/>
        </p:spPr>
        <p:txBody>
          <a:bodyPr wrap="square" lIns="0" tIns="0" rIns="0" bIns="0" rtlCol="0" anchor="ctr"/>
          <a:lstStyle/>
          <a:p>
            <a:pPr marL="0" indent="0">
              <a:buNone/>
            </a:pPr>
            <a:r>
              <a:rPr lang="en-US" sz="1600" b="1" dirty="0">
                <a:solidFill>
                  <a:srgbClr val="1C1C1A"/>
                </a:solidFill>
                <a:latin typeface="Georgia" pitchFamily="34" charset="0"/>
                <a:ea typeface="Georgia" pitchFamily="34" charset="-122"/>
                <a:cs typeface="Georgia" pitchFamily="34" charset="-120"/>
              </a:rPr>
              <a:t>UMAP — colored by cluster</a:t>
            </a:r>
            <a:endParaRPr lang="en-US" sz="1600" dirty="0"/>
          </a:p>
        </p:txBody>
      </p:sp>
      <p:sp>
        <p:nvSpPr>
          <p:cNvPr id="202" name="Shape 200"/>
          <p:cNvSpPr/>
          <p:nvPr/>
        </p:nvSpPr>
        <p:spPr>
          <a:xfrm>
            <a:off x="8778240" y="5605272"/>
            <a:ext cx="164592" cy="164592"/>
          </a:xfrm>
          <a:prstGeom prst="ellipse">
            <a:avLst/>
          </a:prstGeom>
          <a:solidFill>
            <a:srgbClr val="D85A30"/>
          </a:solidFill>
          <a:ln w="12700">
            <a:solidFill>
              <a:srgbClr val="D85A30"/>
            </a:solidFill>
            <a:prstDash val="solid"/>
          </a:ln>
        </p:spPr>
        <p:txBody>
          <a:bodyPr/>
          <a:lstStyle/>
          <a:p>
            <a:endParaRPr lang="en-US"/>
          </a:p>
        </p:txBody>
      </p:sp>
      <p:sp>
        <p:nvSpPr>
          <p:cNvPr id="203" name="Text 201"/>
          <p:cNvSpPr/>
          <p:nvPr/>
        </p:nvSpPr>
        <p:spPr>
          <a:xfrm>
            <a:off x="2194560" y="5532120"/>
            <a:ext cx="1828800" cy="32004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Cluster 1 (5,728)</a:t>
            </a:r>
            <a:endParaRPr lang="en-US" sz="1200" dirty="0"/>
          </a:p>
        </p:txBody>
      </p:sp>
      <p:sp>
        <p:nvSpPr>
          <p:cNvPr id="204" name="Shape 202"/>
          <p:cNvSpPr/>
          <p:nvPr/>
        </p:nvSpPr>
        <p:spPr>
          <a:xfrm>
            <a:off x="4206240" y="5605272"/>
            <a:ext cx="164592" cy="164592"/>
          </a:xfrm>
          <a:prstGeom prst="ellipse">
            <a:avLst/>
          </a:prstGeom>
          <a:solidFill>
            <a:srgbClr val="4A8C45"/>
          </a:solidFill>
          <a:ln w="12700">
            <a:solidFill>
              <a:srgbClr val="4A8C45"/>
            </a:solidFill>
            <a:prstDash val="solid"/>
          </a:ln>
        </p:spPr>
        <p:txBody>
          <a:bodyPr/>
          <a:lstStyle/>
          <a:p>
            <a:endParaRPr lang="en-US"/>
          </a:p>
        </p:txBody>
      </p:sp>
      <p:sp>
        <p:nvSpPr>
          <p:cNvPr id="205" name="Text 203"/>
          <p:cNvSpPr/>
          <p:nvPr/>
        </p:nvSpPr>
        <p:spPr>
          <a:xfrm>
            <a:off x="4480560" y="5532120"/>
            <a:ext cx="1828800" cy="32004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Cluster 2 (26)</a:t>
            </a:r>
            <a:endParaRPr lang="en-US" sz="1200" dirty="0"/>
          </a:p>
        </p:txBody>
      </p:sp>
      <p:sp>
        <p:nvSpPr>
          <p:cNvPr id="206" name="Shape 204"/>
          <p:cNvSpPr/>
          <p:nvPr/>
        </p:nvSpPr>
        <p:spPr>
          <a:xfrm>
            <a:off x="1944686" y="5605272"/>
            <a:ext cx="164592" cy="164592"/>
          </a:xfrm>
          <a:prstGeom prst="ellipse">
            <a:avLst/>
          </a:prstGeom>
          <a:solidFill>
            <a:srgbClr val="378ADD"/>
          </a:solidFill>
          <a:ln w="12700">
            <a:solidFill>
              <a:srgbClr val="378ADD"/>
            </a:solidFill>
            <a:prstDash val="solid"/>
          </a:ln>
        </p:spPr>
        <p:txBody>
          <a:bodyPr/>
          <a:lstStyle/>
          <a:p>
            <a:endParaRPr lang="en-US"/>
          </a:p>
        </p:txBody>
      </p:sp>
      <p:sp>
        <p:nvSpPr>
          <p:cNvPr id="207" name="Text 205"/>
          <p:cNvSpPr/>
          <p:nvPr/>
        </p:nvSpPr>
        <p:spPr>
          <a:xfrm>
            <a:off x="6766560" y="5532120"/>
            <a:ext cx="1828800" cy="32004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Cluster 3 (5)</a:t>
            </a:r>
            <a:endParaRPr lang="en-US" sz="1200" dirty="0"/>
          </a:p>
        </p:txBody>
      </p:sp>
      <p:sp>
        <p:nvSpPr>
          <p:cNvPr id="208" name="Shape 206"/>
          <p:cNvSpPr/>
          <p:nvPr/>
        </p:nvSpPr>
        <p:spPr>
          <a:xfrm>
            <a:off x="6492240" y="5605272"/>
            <a:ext cx="164592" cy="164592"/>
          </a:xfrm>
          <a:prstGeom prst="ellipse">
            <a:avLst/>
          </a:prstGeom>
          <a:solidFill>
            <a:srgbClr val="7030A0"/>
          </a:solidFill>
          <a:ln w="12700">
            <a:solidFill>
              <a:srgbClr val="888780"/>
            </a:solidFill>
            <a:prstDash val="solid"/>
          </a:ln>
        </p:spPr>
        <p:txBody>
          <a:bodyPr/>
          <a:lstStyle/>
          <a:p>
            <a:endParaRPr lang="en-US"/>
          </a:p>
        </p:txBody>
      </p:sp>
      <p:sp>
        <p:nvSpPr>
          <p:cNvPr id="209" name="Text 207"/>
          <p:cNvSpPr/>
          <p:nvPr/>
        </p:nvSpPr>
        <p:spPr>
          <a:xfrm>
            <a:off x="9052560" y="5532120"/>
            <a:ext cx="1828800" cy="32004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Noise (69)</a:t>
            </a:r>
            <a:endParaRPr lang="en-US" sz="1200" dirty="0"/>
          </a:p>
        </p:txBody>
      </p:sp>
      <p:pic>
        <p:nvPicPr>
          <p:cNvPr id="212" name="Picture 211">
            <a:extLst>
              <a:ext uri="{FF2B5EF4-FFF2-40B4-BE49-F238E27FC236}">
                <a16:creationId xmlns:a16="http://schemas.microsoft.com/office/drawing/2014/main" id="{34F38D99-FDD2-4B7E-172B-C055199B4A25}"/>
              </a:ext>
            </a:extLst>
          </p:cNvPr>
          <p:cNvPicPr>
            <a:picLocks noChangeAspect="1"/>
          </p:cNvPicPr>
          <p:nvPr/>
        </p:nvPicPr>
        <p:blipFill>
          <a:blip r:embed="rId3"/>
          <a:srcRect t="23745" r="49450" b="9252"/>
          <a:stretch>
            <a:fillRect/>
          </a:stretch>
        </p:blipFill>
        <p:spPr>
          <a:xfrm>
            <a:off x="1316194" y="2589901"/>
            <a:ext cx="3507733" cy="2616678"/>
          </a:xfrm>
          <a:prstGeom prst="rect">
            <a:avLst/>
          </a:prstGeom>
        </p:spPr>
      </p:pic>
      <p:pic>
        <p:nvPicPr>
          <p:cNvPr id="214" name="Picture 213">
            <a:extLst>
              <a:ext uri="{FF2B5EF4-FFF2-40B4-BE49-F238E27FC236}">
                <a16:creationId xmlns:a16="http://schemas.microsoft.com/office/drawing/2014/main" id="{7E01D97B-1D15-DE94-9FF1-7E54D2DA6A4E}"/>
              </a:ext>
            </a:extLst>
          </p:cNvPr>
          <p:cNvPicPr>
            <a:picLocks noChangeAspect="1"/>
          </p:cNvPicPr>
          <p:nvPr/>
        </p:nvPicPr>
        <p:blipFill>
          <a:blip r:embed="rId3"/>
          <a:srcRect l="49316" t="24080" b="8571"/>
          <a:stretch>
            <a:fillRect/>
          </a:stretch>
        </p:blipFill>
        <p:spPr>
          <a:xfrm>
            <a:off x="7419347" y="2514600"/>
            <a:ext cx="3507733" cy="26232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DBSCAN · EVALUATION</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13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Three metrics, one consistent story</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Each metric is moderate in isolation but together they reveal the same limitation.</a:t>
            </a:r>
            <a:endParaRPr lang="en-US" sz="1400" dirty="0"/>
          </a:p>
        </p:txBody>
      </p:sp>
      <p:sp>
        <p:nvSpPr>
          <p:cNvPr id="7" name="Shape 5"/>
          <p:cNvSpPr/>
          <p:nvPr/>
        </p:nvSpPr>
        <p:spPr>
          <a:xfrm>
            <a:off x="548640" y="2194560"/>
            <a:ext cx="3566160" cy="1737360"/>
          </a:xfrm>
          <a:prstGeom prst="rect">
            <a:avLst/>
          </a:prstGeom>
          <a:solidFill>
            <a:srgbClr val="F4F1E8"/>
          </a:solidFill>
          <a:ln w="12700">
            <a:solidFill>
              <a:srgbClr val="F4F1E8"/>
            </a:solidFill>
            <a:prstDash val="solid"/>
          </a:ln>
        </p:spPr>
        <p:txBody>
          <a:bodyPr/>
          <a:lstStyle/>
          <a:p>
            <a:endParaRPr lang="en-US"/>
          </a:p>
        </p:txBody>
      </p:sp>
      <p:sp>
        <p:nvSpPr>
          <p:cNvPr id="8" name="Text 6"/>
          <p:cNvSpPr/>
          <p:nvPr/>
        </p:nvSpPr>
        <p:spPr>
          <a:xfrm>
            <a:off x="548640" y="2331720"/>
            <a:ext cx="3566160" cy="274320"/>
          </a:xfrm>
          <a:prstGeom prst="rect">
            <a:avLst/>
          </a:prstGeom>
          <a:noFill/>
          <a:ln/>
        </p:spPr>
        <p:txBody>
          <a:bodyPr wrap="square" lIns="0" tIns="0" rIns="0" bIns="0" rtlCol="0" anchor="ctr"/>
          <a:lstStyle/>
          <a:p>
            <a:pPr marL="0" indent="0" algn="ctr">
              <a:buNone/>
            </a:pPr>
            <a:r>
              <a:rPr lang="en-US" sz="1000" b="1" kern="0" spc="200" dirty="0">
                <a:solidFill>
                  <a:srgbClr val="888780"/>
                </a:solidFill>
                <a:latin typeface="Calibri" pitchFamily="34" charset="0"/>
                <a:ea typeface="Calibri" pitchFamily="34" charset="-122"/>
                <a:cs typeface="Calibri" pitchFamily="34" charset="-120"/>
              </a:rPr>
              <a:t>SILHOUETTE SCORE</a:t>
            </a:r>
            <a:endParaRPr lang="en-US" sz="1000" dirty="0"/>
          </a:p>
        </p:txBody>
      </p:sp>
      <p:sp>
        <p:nvSpPr>
          <p:cNvPr id="9" name="Text 7"/>
          <p:cNvSpPr/>
          <p:nvPr/>
        </p:nvSpPr>
        <p:spPr>
          <a:xfrm>
            <a:off x="548640" y="2651760"/>
            <a:ext cx="3566160" cy="731520"/>
          </a:xfrm>
          <a:prstGeom prst="rect">
            <a:avLst/>
          </a:prstGeom>
          <a:noFill/>
          <a:ln/>
        </p:spPr>
        <p:txBody>
          <a:bodyPr wrap="square" lIns="0" tIns="0" rIns="0" bIns="0" rtlCol="0" anchor="ctr"/>
          <a:lstStyle/>
          <a:p>
            <a:pPr marL="0" indent="0" algn="ctr">
              <a:buNone/>
            </a:pPr>
            <a:r>
              <a:rPr lang="en-US" sz="4800" dirty="0">
                <a:solidFill>
                  <a:srgbClr val="D85A30"/>
                </a:solidFill>
                <a:latin typeface="Georgia" pitchFamily="34" charset="0"/>
                <a:ea typeface="Georgia" pitchFamily="34" charset="-122"/>
                <a:cs typeface="Georgia" pitchFamily="34" charset="-120"/>
              </a:rPr>
              <a:t>0.4811</a:t>
            </a:r>
            <a:endParaRPr lang="en-US" sz="4800" dirty="0"/>
          </a:p>
        </p:txBody>
      </p:sp>
      <p:sp>
        <p:nvSpPr>
          <p:cNvPr id="10" name="Text 8"/>
          <p:cNvSpPr/>
          <p:nvPr/>
        </p:nvSpPr>
        <p:spPr>
          <a:xfrm>
            <a:off x="777240" y="3429000"/>
            <a:ext cx="3108960" cy="502920"/>
          </a:xfrm>
          <a:prstGeom prst="rect">
            <a:avLst/>
          </a:prstGeom>
          <a:noFill/>
          <a:ln/>
        </p:spPr>
        <p:txBody>
          <a:bodyPr wrap="square" lIns="0" tIns="0" rIns="0" bIns="0" rtlCol="0" anchor="ctr"/>
          <a:lstStyle/>
          <a:p>
            <a:pPr marL="0" indent="0" algn="ctr">
              <a:buNone/>
            </a:pPr>
            <a:r>
              <a:rPr lang="en-US" sz="1100" dirty="0">
                <a:solidFill>
                  <a:srgbClr val="4A4842"/>
                </a:solidFill>
                <a:latin typeface="Calibri" pitchFamily="34" charset="0"/>
                <a:ea typeface="Calibri" pitchFamily="34" charset="-122"/>
                <a:cs typeface="Calibri" pitchFamily="34" charset="-120"/>
              </a:rPr>
              <a:t>Moderate separation. Observations match their cluster, but boundaries are not crisp.</a:t>
            </a:r>
            <a:endParaRPr lang="en-US" sz="1100" dirty="0"/>
          </a:p>
        </p:txBody>
      </p:sp>
      <p:sp>
        <p:nvSpPr>
          <p:cNvPr id="11" name="Shape 9"/>
          <p:cNvSpPr/>
          <p:nvPr/>
        </p:nvSpPr>
        <p:spPr>
          <a:xfrm>
            <a:off x="4297680" y="2194560"/>
            <a:ext cx="3566160" cy="1737360"/>
          </a:xfrm>
          <a:prstGeom prst="rect">
            <a:avLst/>
          </a:prstGeom>
          <a:solidFill>
            <a:srgbClr val="F4F1E8"/>
          </a:solidFill>
          <a:ln w="12700">
            <a:solidFill>
              <a:srgbClr val="F4F1E8"/>
            </a:solidFill>
            <a:prstDash val="solid"/>
          </a:ln>
        </p:spPr>
        <p:txBody>
          <a:bodyPr/>
          <a:lstStyle/>
          <a:p>
            <a:endParaRPr lang="en-US"/>
          </a:p>
        </p:txBody>
      </p:sp>
      <p:sp>
        <p:nvSpPr>
          <p:cNvPr id="12" name="Text 10"/>
          <p:cNvSpPr/>
          <p:nvPr/>
        </p:nvSpPr>
        <p:spPr>
          <a:xfrm>
            <a:off x="4297680" y="2331720"/>
            <a:ext cx="3566160" cy="274320"/>
          </a:xfrm>
          <a:prstGeom prst="rect">
            <a:avLst/>
          </a:prstGeom>
          <a:noFill/>
          <a:ln/>
        </p:spPr>
        <p:txBody>
          <a:bodyPr wrap="square" lIns="0" tIns="0" rIns="0" bIns="0" rtlCol="0" anchor="ctr"/>
          <a:lstStyle/>
          <a:p>
            <a:pPr marL="0" indent="0" algn="ctr">
              <a:buNone/>
            </a:pPr>
            <a:r>
              <a:rPr lang="en-US" sz="1000" b="1" kern="0" spc="200" dirty="0">
                <a:solidFill>
                  <a:srgbClr val="888780"/>
                </a:solidFill>
                <a:latin typeface="Calibri" pitchFamily="34" charset="0"/>
                <a:ea typeface="Calibri" pitchFamily="34" charset="-122"/>
                <a:cs typeface="Calibri" pitchFamily="34" charset="-120"/>
              </a:rPr>
              <a:t>DAVIES-BOULDIN</a:t>
            </a:r>
            <a:endParaRPr lang="en-US" sz="1000" dirty="0"/>
          </a:p>
        </p:txBody>
      </p:sp>
      <p:sp>
        <p:nvSpPr>
          <p:cNvPr id="13" name="Text 11"/>
          <p:cNvSpPr/>
          <p:nvPr/>
        </p:nvSpPr>
        <p:spPr>
          <a:xfrm>
            <a:off x="4297680" y="2651760"/>
            <a:ext cx="3566160" cy="731520"/>
          </a:xfrm>
          <a:prstGeom prst="rect">
            <a:avLst/>
          </a:prstGeom>
          <a:noFill/>
          <a:ln/>
        </p:spPr>
        <p:txBody>
          <a:bodyPr wrap="square" lIns="0" tIns="0" rIns="0" bIns="0" rtlCol="0" anchor="ctr"/>
          <a:lstStyle/>
          <a:p>
            <a:pPr marL="0" indent="0" algn="ctr">
              <a:buNone/>
            </a:pPr>
            <a:r>
              <a:rPr lang="en-US" sz="4800" dirty="0">
                <a:solidFill>
                  <a:srgbClr val="D85A30"/>
                </a:solidFill>
                <a:latin typeface="Georgia" pitchFamily="34" charset="0"/>
                <a:ea typeface="Georgia" pitchFamily="34" charset="-122"/>
                <a:cs typeface="Georgia" pitchFamily="34" charset="-120"/>
              </a:rPr>
              <a:t>0.7432</a:t>
            </a:r>
            <a:endParaRPr lang="en-US" sz="4800" dirty="0"/>
          </a:p>
        </p:txBody>
      </p:sp>
      <p:sp>
        <p:nvSpPr>
          <p:cNvPr id="14" name="Text 12"/>
          <p:cNvSpPr/>
          <p:nvPr/>
        </p:nvSpPr>
        <p:spPr>
          <a:xfrm>
            <a:off x="4526280" y="3429000"/>
            <a:ext cx="3108960" cy="502920"/>
          </a:xfrm>
          <a:prstGeom prst="rect">
            <a:avLst/>
          </a:prstGeom>
          <a:noFill/>
          <a:ln/>
        </p:spPr>
        <p:txBody>
          <a:bodyPr wrap="square" lIns="0" tIns="0" rIns="0" bIns="0" rtlCol="0" anchor="ctr"/>
          <a:lstStyle/>
          <a:p>
            <a:pPr marL="0" indent="0" algn="ctr">
              <a:buNone/>
            </a:pPr>
            <a:r>
              <a:rPr lang="en-US" sz="1100" dirty="0">
                <a:solidFill>
                  <a:srgbClr val="4A4842"/>
                </a:solidFill>
                <a:latin typeface="Calibri" pitchFamily="34" charset="0"/>
                <a:ea typeface="Calibri" pitchFamily="34" charset="-122"/>
                <a:cs typeface="Calibri" pitchFamily="34" charset="-120"/>
              </a:rPr>
              <a:t>Lower is better. Looks acceptable but inflated by tiny clusters being dense by construction.</a:t>
            </a:r>
            <a:endParaRPr lang="en-US" sz="1100" dirty="0"/>
          </a:p>
        </p:txBody>
      </p:sp>
      <p:sp>
        <p:nvSpPr>
          <p:cNvPr id="15" name="Shape 13"/>
          <p:cNvSpPr/>
          <p:nvPr/>
        </p:nvSpPr>
        <p:spPr>
          <a:xfrm>
            <a:off x="8046720" y="2194560"/>
            <a:ext cx="3566160" cy="1737360"/>
          </a:xfrm>
          <a:prstGeom prst="rect">
            <a:avLst/>
          </a:prstGeom>
          <a:solidFill>
            <a:srgbClr val="F4F1E8"/>
          </a:solidFill>
          <a:ln w="12700">
            <a:solidFill>
              <a:srgbClr val="F4F1E8"/>
            </a:solidFill>
            <a:prstDash val="solid"/>
          </a:ln>
        </p:spPr>
        <p:txBody>
          <a:bodyPr/>
          <a:lstStyle/>
          <a:p>
            <a:endParaRPr lang="en-US"/>
          </a:p>
        </p:txBody>
      </p:sp>
      <p:sp>
        <p:nvSpPr>
          <p:cNvPr id="16" name="Text 14"/>
          <p:cNvSpPr/>
          <p:nvPr/>
        </p:nvSpPr>
        <p:spPr>
          <a:xfrm>
            <a:off x="8046720" y="2331720"/>
            <a:ext cx="3566160" cy="274320"/>
          </a:xfrm>
          <a:prstGeom prst="rect">
            <a:avLst/>
          </a:prstGeom>
          <a:noFill/>
          <a:ln/>
        </p:spPr>
        <p:txBody>
          <a:bodyPr wrap="square" lIns="0" tIns="0" rIns="0" bIns="0" rtlCol="0" anchor="ctr"/>
          <a:lstStyle/>
          <a:p>
            <a:pPr marL="0" indent="0" algn="ctr">
              <a:buNone/>
            </a:pPr>
            <a:r>
              <a:rPr lang="en-US" sz="1000" b="1" kern="0" spc="200" dirty="0">
                <a:solidFill>
                  <a:srgbClr val="888780"/>
                </a:solidFill>
                <a:latin typeface="Calibri" pitchFamily="34" charset="0"/>
                <a:ea typeface="Calibri" pitchFamily="34" charset="-122"/>
                <a:cs typeface="Calibri" pitchFamily="34" charset="-120"/>
              </a:rPr>
              <a:t>CALINSKI-HARABASZ</a:t>
            </a:r>
            <a:endParaRPr lang="en-US" sz="1000" dirty="0"/>
          </a:p>
        </p:txBody>
      </p:sp>
      <p:sp>
        <p:nvSpPr>
          <p:cNvPr id="17" name="Text 15"/>
          <p:cNvSpPr/>
          <p:nvPr/>
        </p:nvSpPr>
        <p:spPr>
          <a:xfrm>
            <a:off x="8046720" y="2651760"/>
            <a:ext cx="3566160" cy="731520"/>
          </a:xfrm>
          <a:prstGeom prst="rect">
            <a:avLst/>
          </a:prstGeom>
          <a:noFill/>
          <a:ln/>
        </p:spPr>
        <p:txBody>
          <a:bodyPr wrap="square" lIns="0" tIns="0" rIns="0" bIns="0" rtlCol="0" anchor="ctr"/>
          <a:lstStyle/>
          <a:p>
            <a:pPr marL="0" indent="0" algn="ctr">
              <a:buNone/>
            </a:pPr>
            <a:r>
              <a:rPr lang="en-US" sz="4800" dirty="0">
                <a:solidFill>
                  <a:srgbClr val="D85A30"/>
                </a:solidFill>
                <a:latin typeface="Georgia" pitchFamily="34" charset="0"/>
                <a:ea typeface="Georgia" pitchFamily="34" charset="-122"/>
                <a:cs typeface="Georgia" pitchFamily="34" charset="-120"/>
              </a:rPr>
              <a:t>96.64</a:t>
            </a:r>
            <a:endParaRPr lang="en-US" sz="4800" dirty="0"/>
          </a:p>
        </p:txBody>
      </p:sp>
      <p:sp>
        <p:nvSpPr>
          <p:cNvPr id="18" name="Text 16"/>
          <p:cNvSpPr/>
          <p:nvPr/>
        </p:nvSpPr>
        <p:spPr>
          <a:xfrm>
            <a:off x="8275320" y="3429000"/>
            <a:ext cx="3108960" cy="502920"/>
          </a:xfrm>
          <a:prstGeom prst="rect">
            <a:avLst/>
          </a:prstGeom>
          <a:noFill/>
          <a:ln/>
        </p:spPr>
        <p:txBody>
          <a:bodyPr wrap="square" lIns="0" tIns="0" rIns="0" bIns="0" rtlCol="0" anchor="ctr"/>
          <a:lstStyle/>
          <a:p>
            <a:pPr marL="0" indent="0" algn="ctr">
              <a:buNone/>
            </a:pPr>
            <a:r>
              <a:rPr lang="en-US" sz="1100" dirty="0">
                <a:solidFill>
                  <a:srgbClr val="4A4842"/>
                </a:solidFill>
                <a:latin typeface="Calibri" pitchFamily="34" charset="0"/>
                <a:ea typeface="Calibri" pitchFamily="34" charset="-122"/>
                <a:cs typeface="Calibri" pitchFamily="34" charset="-120"/>
              </a:rPr>
              <a:t>Modest. Sensitive to cluster balance — the imbalanced solution caps this score.</a:t>
            </a:r>
            <a:endParaRPr lang="en-US" sz="1100" dirty="0"/>
          </a:p>
        </p:txBody>
      </p:sp>
      <p:sp>
        <p:nvSpPr>
          <p:cNvPr id="19" name="Text 17"/>
          <p:cNvSpPr/>
          <p:nvPr/>
        </p:nvSpPr>
        <p:spPr>
          <a:xfrm>
            <a:off x="548640" y="4160520"/>
            <a:ext cx="548640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PER-CLUSTER SILHOUETTE DISTRIBUTION</a:t>
            </a:r>
            <a:endParaRPr lang="en-US" sz="1100" dirty="0"/>
          </a:p>
        </p:txBody>
      </p:sp>
      <p:graphicFrame>
        <p:nvGraphicFramePr>
          <p:cNvPr id="20" name="Table 0"/>
          <p:cNvGraphicFramePr>
            <a:graphicFrameLocks noGrp="1"/>
          </p:cNvGraphicFramePr>
          <p:nvPr/>
        </p:nvGraphicFramePr>
        <p:xfrm>
          <a:off x="548640" y="4480560"/>
          <a:ext cx="11064240" cy="1280160"/>
        </p:xfrm>
        <a:graphic>
          <a:graphicData uri="http://schemas.openxmlformats.org/drawingml/2006/table">
            <a:tbl>
              <a:tblPr/>
              <a:tblGrid>
                <a:gridCol w="1554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gridCol w="1920240">
                  <a:extLst>
                    <a:ext uri="{9D8B030D-6E8A-4147-A177-3AD203B41FA5}">
                      <a16:colId xmlns:a16="http://schemas.microsoft.com/office/drawing/2014/main" val="20006"/>
                    </a:ext>
                  </a:extLst>
                </a:gridCol>
              </a:tblGrid>
              <a:tr h="320040">
                <a:tc>
                  <a:txBody>
                    <a:bodyPr/>
                    <a:lstStyle/>
                    <a:p>
                      <a:pPr marL="0" indent="0">
                        <a:buNone/>
                      </a:pPr>
                      <a:r>
                        <a:rPr lang="en-US" sz="1000" b="1" dirty="0">
                          <a:solidFill>
                            <a:srgbClr val="888780"/>
                          </a:solidFill>
                          <a:latin typeface="Calibri" pitchFamily="34" charset="0"/>
                          <a:ea typeface="Calibri" pitchFamily="34" charset="-122"/>
                          <a:cs typeface="Calibri" pitchFamily="34" charset="-120"/>
                        </a:rPr>
                        <a:t>CLUSTER</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tcPr>
                </a:tc>
                <a:tc>
                  <a:txBody>
                    <a:bodyPr/>
                    <a:lstStyle/>
                    <a:p>
                      <a:pPr marL="0" indent="0" algn="r">
                        <a:buNone/>
                      </a:pPr>
                      <a:r>
                        <a:rPr lang="en-US" sz="1000" b="1" dirty="0">
                          <a:solidFill>
                            <a:srgbClr val="888780"/>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tcPr>
                </a:tc>
                <a:tc>
                  <a:txBody>
                    <a:bodyPr/>
                    <a:lstStyle/>
                    <a:p>
                      <a:pPr marL="0" indent="0" algn="r">
                        <a:buNone/>
                      </a:pPr>
                      <a:r>
                        <a:rPr lang="en-US" sz="1000" b="1" dirty="0">
                          <a:solidFill>
                            <a:srgbClr val="888780"/>
                          </a:solidFill>
                          <a:latin typeface="Calibri" pitchFamily="34" charset="0"/>
                          <a:ea typeface="Calibri" pitchFamily="34" charset="-122"/>
                          <a:cs typeface="Calibri" pitchFamily="34" charset="-120"/>
                        </a:rPr>
                        <a:t>MEAN</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tcPr>
                </a:tc>
                <a:tc>
                  <a:txBody>
                    <a:bodyPr/>
                    <a:lstStyle/>
                    <a:p>
                      <a:pPr marL="0" indent="0" algn="r">
                        <a:buNone/>
                      </a:pPr>
                      <a:r>
                        <a:rPr lang="en-US" sz="1000" b="1" dirty="0">
                          <a:solidFill>
                            <a:srgbClr val="888780"/>
                          </a:solidFill>
                          <a:latin typeface="Calibri" pitchFamily="34" charset="0"/>
                          <a:ea typeface="Calibri" pitchFamily="34" charset="-122"/>
                          <a:cs typeface="Calibri" pitchFamily="34" charset="-120"/>
                        </a:rPr>
                        <a:t>MEDIAN</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tcPr>
                </a:tc>
                <a:tc>
                  <a:txBody>
                    <a:bodyPr/>
                    <a:lstStyle/>
                    <a:p>
                      <a:pPr marL="0" indent="0" algn="r">
                        <a:buNone/>
                      </a:pPr>
                      <a:r>
                        <a:rPr lang="en-US" sz="1000" b="1" dirty="0">
                          <a:solidFill>
                            <a:srgbClr val="888780"/>
                          </a:solidFill>
                          <a:latin typeface="Calibri" pitchFamily="34" charset="0"/>
                          <a:ea typeface="Calibri" pitchFamily="34" charset="-122"/>
                          <a:cs typeface="Calibri" pitchFamily="34" charset="-120"/>
                        </a:rPr>
                        <a:t>MIN</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tcPr>
                </a:tc>
                <a:tc>
                  <a:txBody>
                    <a:bodyPr/>
                    <a:lstStyle/>
                    <a:p>
                      <a:pPr marL="0" indent="0" algn="r">
                        <a:buNone/>
                      </a:pPr>
                      <a:r>
                        <a:rPr lang="en-US" sz="1000" b="1" dirty="0">
                          <a:solidFill>
                            <a:srgbClr val="888780"/>
                          </a:solidFill>
                          <a:latin typeface="Calibri" pitchFamily="34" charset="0"/>
                          <a:ea typeface="Calibri" pitchFamily="34" charset="-122"/>
                          <a:cs typeface="Calibri" pitchFamily="34" charset="-120"/>
                        </a:rPr>
                        <a:t>MAX</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tcPr>
                </a:tc>
                <a:tc>
                  <a:txBody>
                    <a:bodyPr/>
                    <a:lstStyle/>
                    <a:p>
                      <a:pPr marL="0" indent="0" algn="r">
                        <a:buNone/>
                      </a:pPr>
                      <a:r>
                        <a:rPr lang="en-US" sz="1000" b="1" dirty="0">
                          <a:solidFill>
                            <a:srgbClr val="888780"/>
                          </a:solidFill>
                          <a:latin typeface="Calibri" pitchFamily="34" charset="0"/>
                          <a:ea typeface="Calibri" pitchFamily="34" charset="-122"/>
                          <a:cs typeface="Calibri" pitchFamily="34" charset="-120"/>
                        </a:rPr>
                        <a:t>% NEGATIVE</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D8D3C5"/>
                      </a:solidFill>
                      <a:prstDash val="solid"/>
                      <a:round/>
                      <a:headEnd type="none" w="med" len="med"/>
                      <a:tailEnd type="none" w="med" len="med"/>
                    </a:lnB>
                  </a:tcPr>
                </a:tc>
                <a:extLst>
                  <a:ext uri="{0D108BD9-81ED-4DB2-BD59-A6C34878D82A}">
                    <a16:rowId xmlns:a16="http://schemas.microsoft.com/office/drawing/2014/main" val="10000"/>
                  </a:ext>
                </a:extLst>
              </a:tr>
              <a:tr h="320040">
                <a:tc>
                  <a:txBody>
                    <a:bodyPr/>
                    <a:lstStyle/>
                    <a:p>
                      <a:pPr marL="0" indent="0">
                        <a:buNone/>
                      </a:pPr>
                      <a:r>
                        <a:rPr lang="en-US" sz="1100" b="1" dirty="0">
                          <a:solidFill>
                            <a:srgbClr val="1C1C1A"/>
                          </a:solidFill>
                          <a:latin typeface="Consolas" pitchFamily="34" charset="0"/>
                          <a:ea typeface="Consolas" pitchFamily="34" charset="-122"/>
                          <a:cs typeface="Consolas" pitchFamily="34" charset="-120"/>
                        </a:rPr>
                        <a:t>Cluster 1</a:t>
                      </a:r>
                      <a:endParaRPr lang="en-US" sz="11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5,728</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0.4815</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0.5109</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−0.3074</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0.6514</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0.51</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D8D3C5"/>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100" b="1" dirty="0">
                          <a:solidFill>
                            <a:srgbClr val="1C1C1A"/>
                          </a:solidFill>
                          <a:latin typeface="Consolas" pitchFamily="34" charset="0"/>
                          <a:ea typeface="Consolas" pitchFamily="34" charset="-122"/>
                          <a:cs typeface="Consolas" pitchFamily="34" charset="-120"/>
                        </a:rPr>
                        <a:t>Cluster 2</a:t>
                      </a:r>
                      <a:endParaRPr lang="en-US" sz="11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0.3624</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0.4103</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0.0419</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0.5259</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100" b="1" dirty="0">
                          <a:solidFill>
                            <a:srgbClr val="1C1C1A"/>
                          </a:solidFill>
                          <a:latin typeface="Consolas" pitchFamily="34" charset="0"/>
                          <a:ea typeface="Consolas" pitchFamily="34" charset="-122"/>
                          <a:cs typeface="Consolas" pitchFamily="34" charset="-120"/>
                        </a:rPr>
                        <a:t>Cluster 3</a:t>
                      </a:r>
                      <a:endParaRPr lang="en-US" sz="1100" dirty="0">
                        <a:latin typeface="Consolas" charset="0"/>
                        <a:ea typeface="Consolas" charset="0"/>
                        <a:cs typeface="Consolas"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0.6315</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0.6258</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0.5743</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0.7097</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tc>
                  <a:txBody>
                    <a:bodyPr/>
                    <a:lstStyle/>
                    <a:p>
                      <a:pPr marL="0" indent="0" algn="r">
                        <a:buNone/>
                      </a:pPr>
                      <a:r>
                        <a:rPr lang="en-US" sz="1100" dirty="0">
                          <a:solidFill>
                            <a:srgbClr val="4A4842"/>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8E4D9"/>
                      </a:solidFill>
                      <a:prstDash val="solid"/>
                      <a:round/>
                      <a:headEnd type="none" w="med" len="med"/>
                      <a:tailEnd type="none" w="med" len="med"/>
                    </a:lnT>
                    <a:lnB w="6350" cap="flat" cmpd="sng" algn="ctr">
                      <a:solidFill>
                        <a:srgbClr val="E8E4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1" name="Shape 18"/>
          <p:cNvSpPr/>
          <p:nvPr/>
        </p:nvSpPr>
        <p:spPr>
          <a:xfrm>
            <a:off x="548640" y="5852160"/>
            <a:ext cx="11064240" cy="640080"/>
          </a:xfrm>
          <a:prstGeom prst="rect">
            <a:avLst/>
          </a:prstGeom>
          <a:solidFill>
            <a:srgbClr val="F4F1E8"/>
          </a:solidFill>
          <a:ln w="12700">
            <a:solidFill>
              <a:srgbClr val="F4F1E8"/>
            </a:solidFill>
            <a:prstDash val="solid"/>
          </a:ln>
        </p:spPr>
        <p:txBody>
          <a:bodyPr/>
          <a:lstStyle/>
          <a:p>
            <a:endParaRPr lang="en-US"/>
          </a:p>
        </p:txBody>
      </p:sp>
      <p:sp>
        <p:nvSpPr>
          <p:cNvPr id="22" name="Shape 19"/>
          <p:cNvSpPr/>
          <p:nvPr/>
        </p:nvSpPr>
        <p:spPr>
          <a:xfrm>
            <a:off x="548640" y="5852160"/>
            <a:ext cx="45720" cy="640080"/>
          </a:xfrm>
          <a:prstGeom prst="rect">
            <a:avLst/>
          </a:prstGeom>
          <a:solidFill>
            <a:srgbClr val="D85A30"/>
          </a:solidFill>
          <a:ln w="12700">
            <a:solidFill>
              <a:srgbClr val="D85A30"/>
            </a:solidFill>
            <a:prstDash val="solid"/>
          </a:ln>
        </p:spPr>
        <p:txBody>
          <a:bodyPr/>
          <a:lstStyle/>
          <a:p>
            <a:endParaRPr lang="en-US"/>
          </a:p>
        </p:txBody>
      </p:sp>
      <p:sp>
        <p:nvSpPr>
          <p:cNvPr id="23" name="Text 20"/>
          <p:cNvSpPr/>
          <p:nvPr/>
        </p:nvSpPr>
        <p:spPr>
          <a:xfrm>
            <a:off x="731520" y="5897880"/>
            <a:ext cx="10789920" cy="54864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Cluster 3's 0.63 is misleading. Five observations almost always score well on silhouette. The metrics reflect cluster size more than genuine density structure.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100" b="1" kern="0" spc="200" dirty="0">
                <a:solidFill>
                  <a:srgbClr val="D85A30"/>
                </a:solidFill>
                <a:latin typeface="Calibri" pitchFamily="34" charset="0"/>
                <a:ea typeface="Calibri" pitchFamily="34" charset="-122"/>
                <a:cs typeface="Calibri" pitchFamily="34" charset="-120"/>
              </a:rPr>
              <a:t>DBSCAN · TAKEAWAY &amp; TRANSITION</a:t>
            </a:r>
            <a:endParaRPr lang="en-US" sz="1100" dirty="0"/>
          </a:p>
        </p:txBody>
      </p:sp>
      <p:sp>
        <p:nvSpPr>
          <p:cNvPr id="3" name="Text 1"/>
          <p:cNvSpPr/>
          <p:nvPr/>
        </p:nvSpPr>
        <p:spPr>
          <a:xfrm>
            <a:off x="10241280" y="457200"/>
            <a:ext cx="1371600" cy="274320"/>
          </a:xfrm>
          <a:prstGeom prst="rect">
            <a:avLst/>
          </a:prstGeom>
          <a:noFill/>
          <a:ln/>
        </p:spPr>
        <p:txBody>
          <a:bodyPr wrap="square" lIns="0" tIns="0" rIns="0" bIns="0" rtlCol="0" anchor="ctr"/>
          <a:lstStyle/>
          <a:p>
            <a:pPr marL="0" indent="0" algn="r">
              <a:buNone/>
            </a:pPr>
            <a:r>
              <a:rPr lang="en-US" sz="1100" kern="0" spc="200" dirty="0">
                <a:solidFill>
                  <a:srgbClr val="888780"/>
                </a:solidFill>
                <a:latin typeface="Calibri" pitchFamily="34" charset="0"/>
                <a:ea typeface="Calibri" pitchFamily="34" charset="-122"/>
                <a:cs typeface="Calibri" pitchFamily="34" charset="-120"/>
              </a:rPr>
              <a:t>14 / 14</a:t>
            </a:r>
            <a:endParaRPr lang="en-US" sz="1100" dirty="0"/>
          </a:p>
        </p:txBody>
      </p:sp>
      <p:sp>
        <p:nvSpPr>
          <p:cNvPr id="4" name="Shape 2"/>
          <p:cNvSpPr/>
          <p:nvPr/>
        </p:nvSpPr>
        <p:spPr>
          <a:xfrm>
            <a:off x="548640" y="777240"/>
            <a:ext cx="11064240" cy="0"/>
          </a:xfrm>
          <a:prstGeom prst="line">
            <a:avLst/>
          </a:prstGeom>
          <a:noFill/>
          <a:ln w="6350">
            <a:solidFill>
              <a:srgbClr val="E8E4D9"/>
            </a:solidFill>
            <a:prstDash val="solid"/>
          </a:ln>
        </p:spPr>
        <p:txBody>
          <a:bodyPr/>
          <a:lstStyle/>
          <a:p>
            <a:endParaRPr lang="en-US"/>
          </a:p>
        </p:txBody>
      </p:sp>
      <p:sp>
        <p:nvSpPr>
          <p:cNvPr id="5" name="Text 3"/>
          <p:cNvSpPr/>
          <p:nvPr/>
        </p:nvSpPr>
        <p:spPr>
          <a:xfrm>
            <a:off x="548640" y="914400"/>
            <a:ext cx="11064240" cy="640080"/>
          </a:xfrm>
          <a:prstGeom prst="rect">
            <a:avLst/>
          </a:prstGeom>
          <a:noFill/>
          <a:ln/>
        </p:spPr>
        <p:txBody>
          <a:bodyPr wrap="square" lIns="0" tIns="0" rIns="0" bIns="0" rtlCol="0" anchor="ctr"/>
          <a:lstStyle/>
          <a:p>
            <a:pPr marL="0" indent="0">
              <a:buNone/>
            </a:pPr>
            <a:r>
              <a:rPr lang="en-US" sz="3200" dirty="0">
                <a:solidFill>
                  <a:srgbClr val="1C1C1A"/>
                </a:solidFill>
                <a:latin typeface="Georgia" pitchFamily="34" charset="0"/>
                <a:ea typeface="Georgia" pitchFamily="34" charset="-122"/>
                <a:cs typeface="Georgia" pitchFamily="34" charset="-120"/>
              </a:rPr>
              <a:t>A meaningful negative result</a:t>
            </a:r>
            <a:endParaRPr lang="en-US" sz="3200" dirty="0"/>
          </a:p>
        </p:txBody>
      </p:sp>
      <p:sp>
        <p:nvSpPr>
          <p:cNvPr id="6" name="Text 4"/>
          <p:cNvSpPr/>
          <p:nvPr/>
        </p:nvSpPr>
        <p:spPr>
          <a:xfrm>
            <a:off x="548640" y="1554480"/>
            <a:ext cx="11064240" cy="365760"/>
          </a:xfrm>
          <a:prstGeom prst="rect">
            <a:avLst/>
          </a:prstGeom>
          <a:noFill/>
          <a:ln/>
        </p:spPr>
        <p:txBody>
          <a:bodyPr wrap="square" lIns="0" tIns="0" rIns="0" bIns="0" rtlCol="0" anchor="ctr"/>
          <a:lstStyle/>
          <a:p>
            <a:pPr marL="0" indent="0">
              <a:buNone/>
            </a:pPr>
            <a:r>
              <a:rPr lang="en-US" sz="1400" i="1" dirty="0">
                <a:solidFill>
                  <a:srgbClr val="4A4842"/>
                </a:solidFill>
                <a:latin typeface="Calibri" pitchFamily="34" charset="0"/>
                <a:ea typeface="Calibri" pitchFamily="34" charset="-122"/>
                <a:cs typeface="Calibri" pitchFamily="34" charset="-120"/>
              </a:rPr>
              <a:t>DBSCAN didn't find clean structure — and that's informative.</a:t>
            </a:r>
            <a:endParaRPr lang="en-US" sz="1400" dirty="0"/>
          </a:p>
        </p:txBody>
      </p:sp>
      <p:sp>
        <p:nvSpPr>
          <p:cNvPr id="7" name="Text 5"/>
          <p:cNvSpPr/>
          <p:nvPr/>
        </p:nvSpPr>
        <p:spPr>
          <a:xfrm>
            <a:off x="548640" y="2286000"/>
            <a:ext cx="548640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WHAT WE LEARNED</a:t>
            </a:r>
            <a:endParaRPr lang="en-US" sz="1100" dirty="0"/>
          </a:p>
        </p:txBody>
      </p:sp>
      <p:sp>
        <p:nvSpPr>
          <p:cNvPr id="8" name="Shape 6"/>
          <p:cNvSpPr/>
          <p:nvPr/>
        </p:nvSpPr>
        <p:spPr>
          <a:xfrm>
            <a:off x="548640" y="2770632"/>
            <a:ext cx="109728" cy="36576"/>
          </a:xfrm>
          <a:prstGeom prst="rect">
            <a:avLst/>
          </a:prstGeom>
          <a:solidFill>
            <a:srgbClr val="D85A30"/>
          </a:solidFill>
          <a:ln w="12700">
            <a:solidFill>
              <a:srgbClr val="D85A30"/>
            </a:solidFill>
            <a:prstDash val="solid"/>
          </a:ln>
        </p:spPr>
        <p:txBody>
          <a:bodyPr/>
          <a:lstStyle/>
          <a:p>
            <a:endParaRPr lang="en-US"/>
          </a:p>
        </p:txBody>
      </p:sp>
      <p:sp>
        <p:nvSpPr>
          <p:cNvPr id="9" name="Text 7"/>
          <p:cNvSpPr/>
          <p:nvPr/>
        </p:nvSpPr>
        <p:spPr>
          <a:xfrm>
            <a:off x="777240" y="2697480"/>
            <a:ext cx="5029200" cy="59436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30 parameter combinations tested. Everyone returned either one dominant cluster or two with similar imbalance.</a:t>
            </a:r>
            <a:endParaRPr lang="en-US" sz="1200" dirty="0"/>
          </a:p>
        </p:txBody>
      </p:sp>
      <p:sp>
        <p:nvSpPr>
          <p:cNvPr id="10" name="Shape 8"/>
          <p:cNvSpPr/>
          <p:nvPr/>
        </p:nvSpPr>
        <p:spPr>
          <a:xfrm>
            <a:off x="548640" y="3410712"/>
            <a:ext cx="109728" cy="36576"/>
          </a:xfrm>
          <a:prstGeom prst="rect">
            <a:avLst/>
          </a:prstGeom>
          <a:solidFill>
            <a:srgbClr val="D85A30"/>
          </a:solidFill>
          <a:ln w="12700">
            <a:solidFill>
              <a:srgbClr val="D85A30"/>
            </a:solidFill>
            <a:prstDash val="solid"/>
          </a:ln>
        </p:spPr>
        <p:txBody>
          <a:bodyPr/>
          <a:lstStyle/>
          <a:p>
            <a:endParaRPr lang="en-US"/>
          </a:p>
        </p:txBody>
      </p:sp>
      <p:sp>
        <p:nvSpPr>
          <p:cNvPr id="11" name="Text 9"/>
          <p:cNvSpPr/>
          <p:nvPr/>
        </p:nvSpPr>
        <p:spPr>
          <a:xfrm>
            <a:off x="777240" y="3337560"/>
            <a:ext cx="5029200" cy="59436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No substantive multi-cluster structure emerged. DBSCAN couldn't surface meaningfully sized groups.</a:t>
            </a:r>
            <a:endParaRPr lang="en-US" sz="1200" dirty="0"/>
          </a:p>
        </p:txBody>
      </p:sp>
      <p:sp>
        <p:nvSpPr>
          <p:cNvPr id="12" name="Shape 10"/>
          <p:cNvSpPr/>
          <p:nvPr/>
        </p:nvSpPr>
        <p:spPr>
          <a:xfrm>
            <a:off x="548640" y="4050792"/>
            <a:ext cx="109728" cy="36576"/>
          </a:xfrm>
          <a:prstGeom prst="rect">
            <a:avLst/>
          </a:prstGeom>
          <a:solidFill>
            <a:srgbClr val="D85A30"/>
          </a:solidFill>
          <a:ln w="12700">
            <a:solidFill>
              <a:srgbClr val="D85A30"/>
            </a:solidFill>
            <a:prstDash val="solid"/>
          </a:ln>
        </p:spPr>
        <p:txBody>
          <a:bodyPr/>
          <a:lstStyle/>
          <a:p>
            <a:endParaRPr lang="en-US"/>
          </a:p>
        </p:txBody>
      </p:sp>
      <p:sp>
        <p:nvSpPr>
          <p:cNvPr id="13" name="Text 11"/>
          <p:cNvSpPr/>
          <p:nvPr/>
        </p:nvSpPr>
        <p:spPr>
          <a:xfrm>
            <a:off x="777240" y="3977640"/>
            <a:ext cx="5029200" cy="59436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NHANES health profiles are continuous, not density-separated as PCA/UMAP has suggested.</a:t>
            </a:r>
            <a:endParaRPr lang="en-US" sz="1200" dirty="0"/>
          </a:p>
        </p:txBody>
      </p:sp>
      <p:sp>
        <p:nvSpPr>
          <p:cNvPr id="14" name="Shape 12"/>
          <p:cNvSpPr/>
          <p:nvPr/>
        </p:nvSpPr>
        <p:spPr>
          <a:xfrm>
            <a:off x="548640" y="4690872"/>
            <a:ext cx="109728" cy="36576"/>
          </a:xfrm>
          <a:prstGeom prst="rect">
            <a:avLst/>
          </a:prstGeom>
          <a:solidFill>
            <a:srgbClr val="D85A30"/>
          </a:solidFill>
          <a:ln w="12700">
            <a:solidFill>
              <a:srgbClr val="D85A30"/>
            </a:solidFill>
            <a:prstDash val="solid"/>
          </a:ln>
        </p:spPr>
        <p:txBody>
          <a:bodyPr/>
          <a:lstStyle/>
          <a:p>
            <a:endParaRPr lang="en-US"/>
          </a:p>
        </p:txBody>
      </p:sp>
      <p:sp>
        <p:nvSpPr>
          <p:cNvPr id="15" name="Text 13"/>
          <p:cNvSpPr/>
          <p:nvPr/>
        </p:nvSpPr>
        <p:spPr>
          <a:xfrm>
            <a:off x="777240" y="4617720"/>
            <a:ext cx="5029200" cy="59436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The 69 noise observations are real extreme clinical cases and are themselves valuable for further study.</a:t>
            </a:r>
            <a:endParaRPr lang="en-US" sz="1200" dirty="0"/>
          </a:p>
        </p:txBody>
      </p:sp>
      <p:sp>
        <p:nvSpPr>
          <p:cNvPr id="16" name="Text 14"/>
          <p:cNvSpPr/>
          <p:nvPr/>
        </p:nvSpPr>
        <p:spPr>
          <a:xfrm>
            <a:off x="6400800" y="2286000"/>
            <a:ext cx="5486400" cy="274320"/>
          </a:xfrm>
          <a:prstGeom prst="rect">
            <a:avLst/>
          </a:prstGeom>
          <a:noFill/>
          <a:ln/>
        </p:spPr>
        <p:txBody>
          <a:bodyPr wrap="square" lIns="0" tIns="0" rIns="0" bIns="0" rtlCol="0" anchor="ctr"/>
          <a:lstStyle/>
          <a:p>
            <a:pPr marL="0" indent="0">
              <a:buNone/>
            </a:pPr>
            <a:r>
              <a:rPr lang="en-US" sz="1100" b="1" kern="0" spc="200" dirty="0">
                <a:solidFill>
                  <a:srgbClr val="888780"/>
                </a:solidFill>
                <a:latin typeface="Calibri" pitchFamily="34" charset="0"/>
                <a:ea typeface="Calibri" pitchFamily="34" charset="-122"/>
                <a:cs typeface="Calibri" pitchFamily="34" charset="-120"/>
              </a:rPr>
              <a:t>WHAT THIS IMPLIES</a:t>
            </a:r>
            <a:endParaRPr lang="en-US" sz="1100" dirty="0"/>
          </a:p>
        </p:txBody>
      </p:sp>
      <p:sp>
        <p:nvSpPr>
          <p:cNvPr id="17" name="Shape 15"/>
          <p:cNvSpPr/>
          <p:nvPr/>
        </p:nvSpPr>
        <p:spPr>
          <a:xfrm>
            <a:off x="6400800" y="2651760"/>
            <a:ext cx="5212080" cy="1371600"/>
          </a:xfrm>
          <a:prstGeom prst="rect">
            <a:avLst/>
          </a:prstGeom>
          <a:solidFill>
            <a:srgbClr val="F4F1E8"/>
          </a:solidFill>
          <a:ln w="12700">
            <a:solidFill>
              <a:srgbClr val="F4F1E8"/>
            </a:solidFill>
            <a:prstDash val="solid"/>
          </a:ln>
        </p:spPr>
        <p:txBody>
          <a:bodyPr/>
          <a:lstStyle/>
          <a:p>
            <a:endParaRPr lang="en-US"/>
          </a:p>
        </p:txBody>
      </p:sp>
      <p:sp>
        <p:nvSpPr>
          <p:cNvPr id="18" name="Text 16"/>
          <p:cNvSpPr/>
          <p:nvPr/>
        </p:nvSpPr>
        <p:spPr>
          <a:xfrm>
            <a:off x="6675120" y="2788920"/>
            <a:ext cx="4663440" cy="548640"/>
          </a:xfrm>
          <a:prstGeom prst="rect">
            <a:avLst/>
          </a:prstGeom>
          <a:noFill/>
          <a:ln/>
        </p:spPr>
        <p:txBody>
          <a:bodyPr wrap="square" lIns="0" tIns="0" rIns="0" bIns="0" rtlCol="0" anchor="ctr"/>
          <a:lstStyle/>
          <a:p>
            <a:pPr marL="0" indent="0">
              <a:buNone/>
            </a:pPr>
            <a:r>
              <a:rPr lang="en-US" sz="1800" i="1" dirty="0">
                <a:solidFill>
                  <a:srgbClr val="1C1C1A"/>
                </a:solidFill>
                <a:latin typeface="Georgia" pitchFamily="34" charset="0"/>
                <a:ea typeface="Georgia" pitchFamily="34" charset="-122"/>
                <a:cs typeface="Georgia" pitchFamily="34" charset="-120"/>
              </a:rPr>
              <a:t>If the data is continuous, density-based methods will struggle.</a:t>
            </a:r>
            <a:endParaRPr lang="en-US" sz="1800" dirty="0"/>
          </a:p>
        </p:txBody>
      </p:sp>
      <p:sp>
        <p:nvSpPr>
          <p:cNvPr id="19" name="Text 17"/>
          <p:cNvSpPr/>
          <p:nvPr/>
        </p:nvSpPr>
        <p:spPr>
          <a:xfrm>
            <a:off x="6675120" y="3429000"/>
            <a:ext cx="4663440" cy="45720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The path forward is to use methods designed for overlapping or distance-based structure.</a:t>
            </a:r>
            <a:endParaRPr lang="en-US" sz="1200" dirty="0"/>
          </a:p>
        </p:txBody>
      </p:sp>
      <p:sp>
        <p:nvSpPr>
          <p:cNvPr id="20" name="Shape 18"/>
          <p:cNvSpPr/>
          <p:nvPr/>
        </p:nvSpPr>
        <p:spPr>
          <a:xfrm>
            <a:off x="6400800" y="4206240"/>
            <a:ext cx="2514600" cy="1097280"/>
          </a:xfrm>
          <a:prstGeom prst="rect">
            <a:avLst/>
          </a:prstGeom>
          <a:solidFill>
            <a:srgbClr val="FFFFFF"/>
          </a:solidFill>
          <a:ln w="19050">
            <a:solidFill>
              <a:srgbClr val="D85A30"/>
            </a:solidFill>
            <a:prstDash val="solid"/>
          </a:ln>
        </p:spPr>
        <p:txBody>
          <a:bodyPr/>
          <a:lstStyle/>
          <a:p>
            <a:endParaRPr lang="en-US"/>
          </a:p>
        </p:txBody>
      </p:sp>
      <p:sp>
        <p:nvSpPr>
          <p:cNvPr id="21" name="Text 19"/>
          <p:cNvSpPr/>
          <p:nvPr/>
        </p:nvSpPr>
        <p:spPr>
          <a:xfrm>
            <a:off x="6675120" y="4297680"/>
            <a:ext cx="1965960" cy="457200"/>
          </a:xfrm>
          <a:prstGeom prst="rect">
            <a:avLst/>
          </a:prstGeom>
          <a:noFill/>
          <a:ln/>
        </p:spPr>
        <p:txBody>
          <a:bodyPr wrap="square" lIns="0" tIns="0" rIns="0" bIns="0" rtlCol="0" anchor="ctr"/>
          <a:lstStyle/>
          <a:p>
            <a:pPr marL="0" indent="0">
              <a:buNone/>
            </a:pPr>
            <a:r>
              <a:rPr lang="en-US" sz="2600" dirty="0">
                <a:solidFill>
                  <a:srgbClr val="D85A30"/>
                </a:solidFill>
                <a:latin typeface="Georgia" pitchFamily="34" charset="0"/>
                <a:ea typeface="Georgia" pitchFamily="34" charset="-122"/>
                <a:cs typeface="Georgia" pitchFamily="34" charset="-120"/>
              </a:rPr>
              <a:t>GMM</a:t>
            </a:r>
            <a:endParaRPr lang="en-US" sz="2600" dirty="0"/>
          </a:p>
        </p:txBody>
      </p:sp>
      <p:sp>
        <p:nvSpPr>
          <p:cNvPr id="22" name="Text 20"/>
          <p:cNvSpPr/>
          <p:nvPr/>
        </p:nvSpPr>
        <p:spPr>
          <a:xfrm>
            <a:off x="6675120" y="4754880"/>
            <a:ext cx="1965960" cy="45720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Probabilistic, handles overlap.</a:t>
            </a:r>
            <a:endParaRPr lang="en-US" sz="1200" dirty="0"/>
          </a:p>
        </p:txBody>
      </p:sp>
      <p:sp>
        <p:nvSpPr>
          <p:cNvPr id="23" name="Shape 21"/>
          <p:cNvSpPr/>
          <p:nvPr/>
        </p:nvSpPr>
        <p:spPr>
          <a:xfrm>
            <a:off x="9098280" y="4206240"/>
            <a:ext cx="2514600" cy="1097280"/>
          </a:xfrm>
          <a:prstGeom prst="rect">
            <a:avLst/>
          </a:prstGeom>
          <a:solidFill>
            <a:srgbClr val="FFFFFF"/>
          </a:solidFill>
          <a:ln w="19050">
            <a:solidFill>
              <a:srgbClr val="D85A30"/>
            </a:solidFill>
            <a:prstDash val="solid"/>
          </a:ln>
        </p:spPr>
        <p:txBody>
          <a:bodyPr/>
          <a:lstStyle/>
          <a:p>
            <a:endParaRPr lang="en-US"/>
          </a:p>
        </p:txBody>
      </p:sp>
      <p:sp>
        <p:nvSpPr>
          <p:cNvPr id="24" name="Text 22"/>
          <p:cNvSpPr/>
          <p:nvPr/>
        </p:nvSpPr>
        <p:spPr>
          <a:xfrm>
            <a:off x="9372600" y="4297680"/>
            <a:ext cx="1965960" cy="457200"/>
          </a:xfrm>
          <a:prstGeom prst="rect">
            <a:avLst/>
          </a:prstGeom>
          <a:noFill/>
          <a:ln/>
        </p:spPr>
        <p:txBody>
          <a:bodyPr wrap="square" lIns="0" tIns="0" rIns="0" bIns="0" rtlCol="0" anchor="ctr"/>
          <a:lstStyle/>
          <a:p>
            <a:pPr marL="0" indent="0">
              <a:buNone/>
            </a:pPr>
            <a:r>
              <a:rPr lang="en-US" sz="2600" dirty="0">
                <a:solidFill>
                  <a:srgbClr val="D85A30"/>
                </a:solidFill>
                <a:latin typeface="Georgia" pitchFamily="34" charset="0"/>
                <a:ea typeface="Georgia" pitchFamily="34" charset="-122"/>
                <a:cs typeface="Georgia" pitchFamily="34" charset="-120"/>
              </a:rPr>
              <a:t>K-Means</a:t>
            </a:r>
            <a:endParaRPr lang="en-US" sz="2600" dirty="0"/>
          </a:p>
        </p:txBody>
      </p:sp>
      <p:sp>
        <p:nvSpPr>
          <p:cNvPr id="25" name="Text 23"/>
          <p:cNvSpPr/>
          <p:nvPr/>
        </p:nvSpPr>
        <p:spPr>
          <a:xfrm>
            <a:off x="9372600" y="4754880"/>
            <a:ext cx="1965960" cy="457200"/>
          </a:xfrm>
          <a:prstGeom prst="rect">
            <a:avLst/>
          </a:prstGeom>
          <a:noFill/>
          <a:ln/>
        </p:spPr>
        <p:txBody>
          <a:bodyPr wrap="square" lIns="0" tIns="0" rIns="0" bIns="0" rtlCol="0" anchor="ctr"/>
          <a:lstStyle/>
          <a:p>
            <a:pPr marL="0" indent="0">
              <a:buNone/>
            </a:pPr>
            <a:r>
              <a:rPr lang="en-US" sz="1200" dirty="0">
                <a:solidFill>
                  <a:srgbClr val="4A4842"/>
                </a:solidFill>
                <a:latin typeface="Calibri" pitchFamily="34" charset="0"/>
                <a:ea typeface="Calibri" pitchFamily="34" charset="-122"/>
                <a:cs typeface="Calibri" pitchFamily="34" charset="-120"/>
              </a:rPr>
              <a:t>Distance-based, balanced clusters.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9B0C43-8D9C-6D24-B9A4-628B7E27B6A9}"/>
              </a:ext>
            </a:extLst>
          </p:cNvPr>
          <p:cNvSpPr>
            <a:spLocks noGrp="1"/>
          </p:cNvSpPr>
          <p:nvPr>
            <p:ph type="title"/>
          </p:nvPr>
        </p:nvSpPr>
        <p:spPr>
          <a:xfrm>
            <a:off x="841248" y="548640"/>
            <a:ext cx="3600860" cy="5431536"/>
          </a:xfrm>
        </p:spPr>
        <p:txBody>
          <a:bodyPr>
            <a:normAutofit/>
          </a:bodyPr>
          <a:lstStyle/>
          <a:p>
            <a:r>
              <a:rPr lang="en-US" sz="5400" dirty="0"/>
              <a:t>Gaussian Mixture Models (GMM)</a:t>
            </a:r>
          </a:p>
        </p:txBody>
      </p:sp>
      <p:sp>
        <p:nvSpPr>
          <p:cNvPr id="14"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CF354E8-AE22-5B5A-D524-F6A5297FFFA1}"/>
              </a:ext>
            </a:extLst>
          </p:cNvPr>
          <p:cNvSpPr>
            <a:spLocks noGrp="1"/>
          </p:cNvSpPr>
          <p:nvPr>
            <p:ph idx="1"/>
          </p:nvPr>
        </p:nvSpPr>
        <p:spPr>
          <a:xfrm>
            <a:off x="4892438" y="552091"/>
            <a:ext cx="7111646" cy="5793050"/>
          </a:xfrm>
        </p:spPr>
        <p:txBody>
          <a:bodyPr anchor="ctr">
            <a:normAutofit/>
          </a:bodyPr>
          <a:lstStyle/>
          <a:p>
            <a:pPr marL="0" indent="0">
              <a:buNone/>
            </a:pPr>
            <a:r>
              <a:rPr lang="en-US" sz="1900" dirty="0"/>
              <a:t>• GMM was used because NHANES health data represents a </a:t>
            </a:r>
            <a:r>
              <a:rPr lang="en-US" sz="1900" b="1" dirty="0"/>
              <a:t>continuous spectrum</a:t>
            </a:r>
            <a:r>
              <a:rPr lang="en-US" sz="1900" dirty="0"/>
              <a:t> rather than clearly separated groups.</a:t>
            </a:r>
          </a:p>
          <a:p>
            <a:pPr marL="0" indent="0">
              <a:buNone/>
            </a:pPr>
            <a:r>
              <a:rPr lang="en-US" sz="1900" dirty="0"/>
              <a:t>• GMM is useful for identifying </a:t>
            </a:r>
            <a:r>
              <a:rPr lang="en-US" sz="1900" b="1" dirty="0"/>
              <a:t>overlapping health profiles</a:t>
            </a:r>
            <a:r>
              <a:rPr lang="en-US" sz="1900" dirty="0"/>
              <a:t> through probabilistic cluster membership.</a:t>
            </a:r>
          </a:p>
          <a:p>
            <a:pPr marL="0" indent="0">
              <a:buNone/>
            </a:pPr>
            <a:r>
              <a:rPr lang="en-US" sz="1900" dirty="0"/>
              <a:t>• It can model clusters with different </a:t>
            </a:r>
            <a:r>
              <a:rPr lang="en-US" sz="1900" b="1" dirty="0"/>
              <a:t>shapes, centers, spreads, and covariance structures</a:t>
            </a:r>
            <a:r>
              <a:rPr lang="en-US" sz="1900" dirty="0"/>
              <a:t>.</a:t>
            </a:r>
          </a:p>
          <a:p>
            <a:pPr marL="0" indent="0">
              <a:buNone/>
            </a:pPr>
            <a:r>
              <a:rPr lang="en-US" sz="1900" dirty="0"/>
              <a:t>• GMM was appropriate because the EDA showed some </a:t>
            </a:r>
            <a:r>
              <a:rPr lang="en-US" sz="1900" b="1" dirty="0"/>
              <a:t>moderate skewness and correlated variables</a:t>
            </a:r>
            <a:r>
              <a:rPr lang="en-US" sz="1900" dirty="0"/>
              <a:t>.</a:t>
            </a:r>
          </a:p>
          <a:p>
            <a:pPr marL="0" indent="0">
              <a:buNone/>
            </a:pPr>
            <a:r>
              <a:rPr lang="en-US" sz="1900" dirty="0"/>
              <a:t>• Cluster assignment is based on probabilities estimated using the </a:t>
            </a:r>
            <a:r>
              <a:rPr lang="en-US" sz="1900" b="1" dirty="0"/>
              <a:t>Expectation-Maximization algorithm</a:t>
            </a:r>
            <a:r>
              <a:rPr lang="en-US" sz="1900" dirty="0"/>
              <a:t>.</a:t>
            </a:r>
          </a:p>
          <a:p>
            <a:pPr marL="0" indent="0">
              <a:buNone/>
            </a:pPr>
            <a:r>
              <a:rPr lang="en-US" sz="1900" dirty="0"/>
              <a:t>• Model selection focused on comparing different </a:t>
            </a:r>
            <a:r>
              <a:rPr lang="en-US" sz="1900" b="1" dirty="0"/>
              <a:t>covariance structures</a:t>
            </a:r>
            <a:r>
              <a:rPr lang="en-US" sz="1900" dirty="0"/>
              <a:t> using the </a:t>
            </a:r>
            <a:r>
              <a:rPr lang="en-US" sz="1900" dirty="0" err="1"/>
              <a:t>mclust</a:t>
            </a:r>
            <a:r>
              <a:rPr lang="en-US" sz="1900" dirty="0"/>
              <a:t> package.</a:t>
            </a:r>
          </a:p>
          <a:p>
            <a:pPr marL="0" indent="0">
              <a:buNone/>
            </a:pPr>
            <a:r>
              <a:rPr lang="en-US" sz="1900" dirty="0"/>
              <a:t>• GMM assume </a:t>
            </a:r>
            <a:r>
              <a:rPr lang="en-US" sz="2000" dirty="0"/>
              <a:t>each cluster follows a </a:t>
            </a:r>
            <a:r>
              <a:rPr lang="en-US" sz="2000" b="1" dirty="0"/>
              <a:t>normal distribution.</a:t>
            </a:r>
            <a:endParaRPr lang="en-US" sz="1900" dirty="0"/>
          </a:p>
          <a:p>
            <a:pPr marL="0" indent="0">
              <a:buNone/>
            </a:pPr>
            <a:r>
              <a:rPr lang="en-US" sz="1900" dirty="0"/>
              <a:t>• </a:t>
            </a:r>
            <a:r>
              <a:rPr lang="en-US" sz="1900" b="1" dirty="0"/>
              <a:t>Perform poorly </a:t>
            </a:r>
            <a:r>
              <a:rPr lang="en-US" sz="1900" dirty="0"/>
              <a:t>when cluster doesn’t follow normal distribution.</a:t>
            </a:r>
          </a:p>
          <a:p>
            <a:pPr marL="0" indent="0">
              <a:buNone/>
            </a:pPr>
            <a:endParaRPr lang="en-US" sz="1900" dirty="0"/>
          </a:p>
        </p:txBody>
      </p:sp>
    </p:spTree>
    <p:extLst>
      <p:ext uri="{BB962C8B-B14F-4D97-AF65-F5344CB8AC3E}">
        <p14:creationId xmlns:p14="http://schemas.microsoft.com/office/powerpoint/2010/main" val="4179179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68B84570-66AC-F776-A508-4229D314DB1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t="11169" b="5821"/>
          <a:stretch>
            <a:fillRect/>
          </a:stretch>
        </p:blipFill>
        <p:spPr bwMode="auto">
          <a:xfrm>
            <a:off x="20" y="-5541"/>
            <a:ext cx="11696111" cy="6271170"/>
          </a:xfrm>
          <a:prstGeom prst="rect">
            <a:avLst/>
          </a:prstGeom>
          <a:noFill/>
        </p:spPr>
      </p:pic>
    </p:spTree>
    <p:extLst>
      <p:ext uri="{BB962C8B-B14F-4D97-AF65-F5344CB8AC3E}">
        <p14:creationId xmlns:p14="http://schemas.microsoft.com/office/powerpoint/2010/main" val="1224308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e graph shows the Akaike Information Criterion (AIC) values for different numbers of Gaussian Mixture Model (GMM) components, with the lowest AIC value at 80000 for 4 components.&#10;&#10;AI-generated content may be incorrect.">
            <a:extLst>
              <a:ext uri="{FF2B5EF4-FFF2-40B4-BE49-F238E27FC236}">
                <a16:creationId xmlns:a16="http://schemas.microsoft.com/office/drawing/2014/main" id="{BBFA4300-86F2-820D-CCD2-746D3CC4D2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682648" y="2286795"/>
            <a:ext cx="4889199" cy="3961605"/>
          </a:xfrm>
          <a:prstGeom prst="rect">
            <a:avLst/>
          </a:prstGeom>
          <a:noFill/>
        </p:spPr>
      </p:pic>
      <p:pic>
        <p:nvPicPr>
          <p:cNvPr id="4" name="Content Placeholder 3">
            <a:extLst>
              <a:ext uri="{FF2B5EF4-FFF2-40B4-BE49-F238E27FC236}">
                <a16:creationId xmlns:a16="http://schemas.microsoft.com/office/drawing/2014/main" id="{5C4A1DB7-E7BF-571B-9641-BF6ADB91A50F}"/>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bwMode="auto">
          <a:xfrm>
            <a:off x="6403833" y="2341659"/>
            <a:ext cx="5315741" cy="3906741"/>
          </a:xfrm>
          <a:prstGeom prst="rect">
            <a:avLst/>
          </a:prstGeom>
          <a:noFill/>
        </p:spPr>
      </p:pic>
    </p:spTree>
    <p:extLst>
      <p:ext uri="{BB962C8B-B14F-4D97-AF65-F5344CB8AC3E}">
        <p14:creationId xmlns:p14="http://schemas.microsoft.com/office/powerpoint/2010/main" val="1894931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7F017BE2-47A4-2F63-24A7-60A4E45E548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320040" y="2662442"/>
            <a:ext cx="5614416" cy="3566132"/>
          </a:xfrm>
          <a:prstGeom prst="rect">
            <a:avLst/>
          </a:prstGeom>
          <a:noFill/>
        </p:spPr>
      </p:pic>
      <p:pic>
        <p:nvPicPr>
          <p:cNvPr id="5" name="Picture 4" descr="The image depicts a plot of the Calinski-Harabasz Index values against the number of components, showing the index values for components ranging from 2 to 9.&#10;&#10;AI-generated content may be incorrect.">
            <a:extLst>
              <a:ext uri="{FF2B5EF4-FFF2-40B4-BE49-F238E27FC236}">
                <a16:creationId xmlns:a16="http://schemas.microsoft.com/office/drawing/2014/main" id="{3289A4CA-BF9F-6CBF-4CCD-591461B6DA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6254496" y="2790512"/>
            <a:ext cx="5614416" cy="3309991"/>
          </a:xfrm>
          <a:prstGeom prst="rect">
            <a:avLst/>
          </a:prstGeom>
          <a:noFill/>
        </p:spPr>
      </p:pic>
    </p:spTree>
    <p:extLst>
      <p:ext uri="{BB962C8B-B14F-4D97-AF65-F5344CB8AC3E}">
        <p14:creationId xmlns:p14="http://schemas.microsoft.com/office/powerpoint/2010/main" val="3837255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2BC0938E-4070-223C-0443-A2C5D0EF3182}"/>
              </a:ext>
            </a:extLst>
          </p:cNvPr>
          <p:cNvGraphicFramePr>
            <a:graphicFrameLocks noGrp="1"/>
          </p:cNvGraphicFramePr>
          <p:nvPr>
            <p:ph idx="1"/>
            <p:extLst>
              <p:ext uri="{D42A27DB-BD31-4B8C-83A1-F6EECF244321}">
                <p14:modId xmlns:p14="http://schemas.microsoft.com/office/powerpoint/2010/main" val="1244159942"/>
              </p:ext>
            </p:extLst>
          </p:nvPr>
        </p:nvGraphicFramePr>
        <p:xfrm>
          <a:off x="643467" y="1023140"/>
          <a:ext cx="10905070" cy="4811724"/>
        </p:xfrm>
        <a:graphic>
          <a:graphicData uri="http://schemas.openxmlformats.org/drawingml/2006/table">
            <a:tbl>
              <a:tblPr firstRow="1" firstCol="1" bandRow="1">
                <a:tableStyleId>{5C22544A-7EE6-4342-B048-85BDC9FD1C3A}</a:tableStyleId>
              </a:tblPr>
              <a:tblGrid>
                <a:gridCol w="717276">
                  <a:extLst>
                    <a:ext uri="{9D8B030D-6E8A-4147-A177-3AD203B41FA5}">
                      <a16:colId xmlns:a16="http://schemas.microsoft.com/office/drawing/2014/main" val="1346146938"/>
                    </a:ext>
                  </a:extLst>
                </a:gridCol>
                <a:gridCol w="1325412">
                  <a:extLst>
                    <a:ext uri="{9D8B030D-6E8A-4147-A177-3AD203B41FA5}">
                      <a16:colId xmlns:a16="http://schemas.microsoft.com/office/drawing/2014/main" val="3317106035"/>
                    </a:ext>
                  </a:extLst>
                </a:gridCol>
                <a:gridCol w="1884242">
                  <a:extLst>
                    <a:ext uri="{9D8B030D-6E8A-4147-A177-3AD203B41FA5}">
                      <a16:colId xmlns:a16="http://schemas.microsoft.com/office/drawing/2014/main" val="2589477639"/>
                    </a:ext>
                  </a:extLst>
                </a:gridCol>
                <a:gridCol w="1779050">
                  <a:extLst>
                    <a:ext uri="{9D8B030D-6E8A-4147-A177-3AD203B41FA5}">
                      <a16:colId xmlns:a16="http://schemas.microsoft.com/office/drawing/2014/main" val="3431141707"/>
                    </a:ext>
                  </a:extLst>
                </a:gridCol>
                <a:gridCol w="1867807">
                  <a:extLst>
                    <a:ext uri="{9D8B030D-6E8A-4147-A177-3AD203B41FA5}">
                      <a16:colId xmlns:a16="http://schemas.microsoft.com/office/drawing/2014/main" val="3339853241"/>
                    </a:ext>
                  </a:extLst>
                </a:gridCol>
                <a:gridCol w="1516072">
                  <a:extLst>
                    <a:ext uri="{9D8B030D-6E8A-4147-A177-3AD203B41FA5}">
                      <a16:colId xmlns:a16="http://schemas.microsoft.com/office/drawing/2014/main" val="150748932"/>
                    </a:ext>
                  </a:extLst>
                </a:gridCol>
                <a:gridCol w="1815211">
                  <a:extLst>
                    <a:ext uri="{9D8B030D-6E8A-4147-A177-3AD203B41FA5}">
                      <a16:colId xmlns:a16="http://schemas.microsoft.com/office/drawing/2014/main" val="2187609788"/>
                    </a:ext>
                  </a:extLst>
                </a:gridCol>
              </a:tblGrid>
              <a:tr h="921740">
                <a:tc>
                  <a:txBody>
                    <a:bodyPr/>
                    <a:lstStyle/>
                    <a:p>
                      <a:pPr marL="0" marR="0" algn="just">
                        <a:lnSpc>
                          <a:spcPct val="115000"/>
                        </a:lnSpc>
                        <a:spcAft>
                          <a:spcPts val="800"/>
                        </a:spcAft>
                        <a:buNone/>
                      </a:pPr>
                      <a:r>
                        <a:rPr lang="en-US" sz="2500" kern="100" dirty="0">
                          <a:effectLst/>
                        </a:rPr>
                        <a:t>G</a:t>
                      </a:r>
                      <a:endParaRPr lang="en-US" sz="2500" kern="100" dirty="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Model</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BIC</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AIC</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Silhouette</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Davies-Bouldin</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Calinski-Harabasz</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extLst>
                  <a:ext uri="{0D108BD9-81ED-4DB2-BD59-A6C34878D82A}">
                    <a16:rowId xmlns:a16="http://schemas.microsoft.com/office/drawing/2014/main" val="3943840052"/>
                  </a:ext>
                </a:extLst>
              </a:tr>
              <a:tr h="486248">
                <a:tc>
                  <a:txBody>
                    <a:bodyPr/>
                    <a:lstStyle/>
                    <a:p>
                      <a:pPr marL="0" marR="0" algn="just">
                        <a:lnSpc>
                          <a:spcPct val="115000"/>
                        </a:lnSpc>
                        <a:spcAft>
                          <a:spcPts val="800"/>
                        </a:spcAft>
                        <a:buNone/>
                      </a:pPr>
                      <a:r>
                        <a:rPr lang="en-US" sz="2500" kern="100">
                          <a:effectLst/>
                        </a:rPr>
                        <a:t>2</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VVV</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-86790.89</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86424.01</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0.2461</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2.1686</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953.9958</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extLst>
                  <a:ext uri="{0D108BD9-81ED-4DB2-BD59-A6C34878D82A}">
                    <a16:rowId xmlns:a16="http://schemas.microsoft.com/office/drawing/2014/main" val="1296058589"/>
                  </a:ext>
                </a:extLst>
              </a:tr>
              <a:tr h="486248">
                <a:tc>
                  <a:txBody>
                    <a:bodyPr/>
                    <a:lstStyle/>
                    <a:p>
                      <a:pPr marL="0" marR="0" algn="just">
                        <a:lnSpc>
                          <a:spcPct val="115000"/>
                        </a:lnSpc>
                        <a:spcAft>
                          <a:spcPts val="800"/>
                        </a:spcAft>
                        <a:buNone/>
                      </a:pPr>
                      <a:r>
                        <a:rPr lang="en-US" sz="2500" kern="100">
                          <a:effectLst/>
                        </a:rPr>
                        <a:t>3</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VEV</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-85008.67</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84521.72</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0.1667</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1.8939</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908.9528</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extLst>
                  <a:ext uri="{0D108BD9-81ED-4DB2-BD59-A6C34878D82A}">
                    <a16:rowId xmlns:a16="http://schemas.microsoft.com/office/drawing/2014/main" val="1641853988"/>
                  </a:ext>
                </a:extLst>
              </a:tr>
              <a:tr h="486248">
                <a:tc>
                  <a:txBody>
                    <a:bodyPr/>
                    <a:lstStyle/>
                    <a:p>
                      <a:pPr marL="0" marR="0" algn="just">
                        <a:lnSpc>
                          <a:spcPct val="115000"/>
                        </a:lnSpc>
                        <a:spcAft>
                          <a:spcPts val="800"/>
                        </a:spcAft>
                        <a:buNone/>
                      </a:pPr>
                      <a:r>
                        <a:rPr lang="en-US" sz="2500" kern="100">
                          <a:effectLst/>
                        </a:rPr>
                        <a:t>4</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VEV</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-83512.20</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82871.84</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0.1813</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1.8760</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998.6605</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extLst>
                  <a:ext uri="{0D108BD9-81ED-4DB2-BD59-A6C34878D82A}">
                    <a16:rowId xmlns:a16="http://schemas.microsoft.com/office/drawing/2014/main" val="1853540343"/>
                  </a:ext>
                </a:extLst>
              </a:tr>
              <a:tr h="486248">
                <a:tc>
                  <a:txBody>
                    <a:bodyPr/>
                    <a:lstStyle/>
                    <a:p>
                      <a:pPr marL="0" marR="0" algn="just">
                        <a:lnSpc>
                          <a:spcPct val="115000"/>
                        </a:lnSpc>
                        <a:spcAft>
                          <a:spcPts val="800"/>
                        </a:spcAft>
                        <a:buNone/>
                      </a:pPr>
                      <a:r>
                        <a:rPr lang="en-US" sz="2500" kern="100">
                          <a:effectLst/>
                        </a:rPr>
                        <a:t>5</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VEV</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-82872.22</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82078.44</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0.1234</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2.0574</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825.7462</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extLst>
                  <a:ext uri="{0D108BD9-81ED-4DB2-BD59-A6C34878D82A}">
                    <a16:rowId xmlns:a16="http://schemas.microsoft.com/office/drawing/2014/main" val="3525071789"/>
                  </a:ext>
                </a:extLst>
              </a:tr>
              <a:tr h="486248">
                <a:tc>
                  <a:txBody>
                    <a:bodyPr/>
                    <a:lstStyle/>
                    <a:p>
                      <a:pPr marL="0" marR="0" algn="just">
                        <a:lnSpc>
                          <a:spcPct val="115000"/>
                        </a:lnSpc>
                        <a:spcAft>
                          <a:spcPts val="800"/>
                        </a:spcAft>
                        <a:buNone/>
                      </a:pPr>
                      <a:r>
                        <a:rPr lang="en-US" sz="2500" kern="100">
                          <a:effectLst/>
                        </a:rPr>
                        <a:t>6</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VEV</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-82433.01</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81485.81</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0.0997</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1.9826</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721.0337</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extLst>
                  <a:ext uri="{0D108BD9-81ED-4DB2-BD59-A6C34878D82A}">
                    <a16:rowId xmlns:a16="http://schemas.microsoft.com/office/drawing/2014/main" val="3167742449"/>
                  </a:ext>
                </a:extLst>
              </a:tr>
              <a:tr h="486248">
                <a:tc>
                  <a:txBody>
                    <a:bodyPr/>
                    <a:lstStyle/>
                    <a:p>
                      <a:pPr marL="0" marR="0" algn="just">
                        <a:lnSpc>
                          <a:spcPct val="115000"/>
                        </a:lnSpc>
                        <a:spcAft>
                          <a:spcPts val="800"/>
                        </a:spcAft>
                        <a:buNone/>
                      </a:pPr>
                      <a:r>
                        <a:rPr lang="en-US" sz="2500" kern="100">
                          <a:effectLst/>
                        </a:rPr>
                        <a:t>7</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VEV</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-81891.03</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80790.41</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0.0856</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2.5829</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631.8080</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extLst>
                  <a:ext uri="{0D108BD9-81ED-4DB2-BD59-A6C34878D82A}">
                    <a16:rowId xmlns:a16="http://schemas.microsoft.com/office/drawing/2014/main" val="3306631766"/>
                  </a:ext>
                </a:extLst>
              </a:tr>
              <a:tr h="486248">
                <a:tc>
                  <a:txBody>
                    <a:bodyPr/>
                    <a:lstStyle/>
                    <a:p>
                      <a:pPr marL="0" marR="0" algn="just">
                        <a:lnSpc>
                          <a:spcPct val="115000"/>
                        </a:lnSpc>
                        <a:spcAft>
                          <a:spcPts val="800"/>
                        </a:spcAft>
                        <a:buNone/>
                      </a:pPr>
                      <a:r>
                        <a:rPr lang="en-US" sz="2500" kern="100">
                          <a:effectLst/>
                        </a:rPr>
                        <a:t>8</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VEV</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-81791.56</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80537.52</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0.0900</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2.2003</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tc>
                  <a:txBody>
                    <a:bodyPr/>
                    <a:lstStyle/>
                    <a:p>
                      <a:pPr marL="0" marR="0" algn="just">
                        <a:lnSpc>
                          <a:spcPct val="115000"/>
                        </a:lnSpc>
                        <a:spcAft>
                          <a:spcPts val="800"/>
                        </a:spcAft>
                        <a:buNone/>
                      </a:pPr>
                      <a:r>
                        <a:rPr lang="en-US" sz="2500" kern="100">
                          <a:effectLst/>
                        </a:rPr>
                        <a:t>607.6264</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nchor="b"/>
                </a:tc>
                <a:extLst>
                  <a:ext uri="{0D108BD9-81ED-4DB2-BD59-A6C34878D82A}">
                    <a16:rowId xmlns:a16="http://schemas.microsoft.com/office/drawing/2014/main" val="1388733077"/>
                  </a:ext>
                </a:extLst>
              </a:tr>
              <a:tr h="486248">
                <a:tc>
                  <a:txBody>
                    <a:bodyPr/>
                    <a:lstStyle/>
                    <a:p>
                      <a:pPr marL="0" marR="0" algn="just">
                        <a:lnSpc>
                          <a:spcPct val="115000"/>
                        </a:lnSpc>
                        <a:spcAft>
                          <a:spcPts val="800"/>
                        </a:spcAft>
                        <a:buNone/>
                      </a:pPr>
                      <a:r>
                        <a:rPr lang="en-US" sz="2500" kern="100">
                          <a:effectLst/>
                        </a:rPr>
                        <a:t>9</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VEV</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-81248.89</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79841.42</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0.0476</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2.3250</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tc>
                  <a:txBody>
                    <a:bodyPr/>
                    <a:lstStyle/>
                    <a:p>
                      <a:pPr marL="0" marR="0" algn="just">
                        <a:lnSpc>
                          <a:spcPct val="115000"/>
                        </a:lnSpc>
                        <a:spcAft>
                          <a:spcPts val="800"/>
                        </a:spcAft>
                        <a:buNone/>
                      </a:pPr>
                      <a:r>
                        <a:rPr lang="en-US" sz="2500" kern="100">
                          <a:effectLst/>
                        </a:rPr>
                        <a:t>521.5428</a:t>
                      </a:r>
                      <a:endParaRPr lang="en-US" sz="2500" kern="100">
                        <a:effectLst/>
                        <a:latin typeface="Aptos" panose="020B0004020202020204" pitchFamily="34" charset="0"/>
                        <a:ea typeface="Aptos" panose="020B0004020202020204" pitchFamily="34" charset="0"/>
                        <a:cs typeface="Mangal" panose="02040503050203030202" pitchFamily="18" charset="0"/>
                      </a:endParaRPr>
                    </a:p>
                  </a:txBody>
                  <a:tcPr marL="131489" marR="131489" marT="0" marB="0"/>
                </a:tc>
                <a:extLst>
                  <a:ext uri="{0D108BD9-81ED-4DB2-BD59-A6C34878D82A}">
                    <a16:rowId xmlns:a16="http://schemas.microsoft.com/office/drawing/2014/main" val="2040261"/>
                  </a:ext>
                </a:extLst>
              </a:tr>
            </a:tbl>
          </a:graphicData>
        </a:graphic>
      </p:graphicFrame>
    </p:spTree>
    <p:extLst>
      <p:ext uri="{BB962C8B-B14F-4D97-AF65-F5344CB8AC3E}">
        <p14:creationId xmlns:p14="http://schemas.microsoft.com/office/powerpoint/2010/main" val="1263179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4AD5EB16-E6A3-21AD-4D69-AC870A1D91F3}"/>
              </a:ext>
            </a:extLst>
          </p:cNvPr>
          <p:cNvGraphicFramePr>
            <a:graphicFrameLocks noGrp="1"/>
          </p:cNvGraphicFramePr>
          <p:nvPr>
            <p:ph idx="1"/>
            <p:extLst>
              <p:ext uri="{D42A27DB-BD31-4B8C-83A1-F6EECF244321}">
                <p14:modId xmlns:p14="http://schemas.microsoft.com/office/powerpoint/2010/main" val="1415003451"/>
              </p:ext>
            </p:extLst>
          </p:nvPr>
        </p:nvGraphicFramePr>
        <p:xfrm>
          <a:off x="643468" y="405518"/>
          <a:ext cx="10703044" cy="1637967"/>
        </p:xfrm>
        <a:graphic>
          <a:graphicData uri="http://schemas.openxmlformats.org/drawingml/2006/table">
            <a:tbl>
              <a:tblPr firstRow="1" firstCol="1" bandRow="1">
                <a:tableStyleId>{5C22544A-7EE6-4342-B048-85BDC9FD1C3A}</a:tableStyleId>
              </a:tblPr>
              <a:tblGrid>
                <a:gridCol w="2275587">
                  <a:extLst>
                    <a:ext uri="{9D8B030D-6E8A-4147-A177-3AD203B41FA5}">
                      <a16:colId xmlns:a16="http://schemas.microsoft.com/office/drawing/2014/main" val="2441112513"/>
                    </a:ext>
                  </a:extLst>
                </a:gridCol>
                <a:gridCol w="2148548">
                  <a:extLst>
                    <a:ext uri="{9D8B030D-6E8A-4147-A177-3AD203B41FA5}">
                      <a16:colId xmlns:a16="http://schemas.microsoft.com/office/drawing/2014/main" val="2148447345"/>
                    </a:ext>
                  </a:extLst>
                </a:gridCol>
                <a:gridCol w="2255739">
                  <a:extLst>
                    <a:ext uri="{9D8B030D-6E8A-4147-A177-3AD203B41FA5}">
                      <a16:colId xmlns:a16="http://schemas.microsoft.com/office/drawing/2014/main" val="438733917"/>
                    </a:ext>
                  </a:extLst>
                </a:gridCol>
                <a:gridCol w="1830951">
                  <a:extLst>
                    <a:ext uri="{9D8B030D-6E8A-4147-A177-3AD203B41FA5}">
                      <a16:colId xmlns:a16="http://schemas.microsoft.com/office/drawing/2014/main" val="862293070"/>
                    </a:ext>
                  </a:extLst>
                </a:gridCol>
                <a:gridCol w="2192219">
                  <a:extLst>
                    <a:ext uri="{9D8B030D-6E8A-4147-A177-3AD203B41FA5}">
                      <a16:colId xmlns:a16="http://schemas.microsoft.com/office/drawing/2014/main" val="4066252574"/>
                    </a:ext>
                  </a:extLst>
                </a:gridCol>
              </a:tblGrid>
              <a:tr h="1072296">
                <a:tc>
                  <a:txBody>
                    <a:bodyPr/>
                    <a:lstStyle/>
                    <a:p>
                      <a:pPr marL="0" marR="0" algn="just">
                        <a:lnSpc>
                          <a:spcPct val="115000"/>
                        </a:lnSpc>
                        <a:spcAft>
                          <a:spcPts val="800"/>
                        </a:spcAft>
                        <a:buNone/>
                      </a:pPr>
                      <a:r>
                        <a:rPr lang="en-US" sz="2000" kern="100" dirty="0">
                          <a:effectLst/>
                        </a:rPr>
                        <a:t>BIC</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161796" marR="161796" marT="0" marB="0" anchor="b"/>
                </a:tc>
                <a:tc>
                  <a:txBody>
                    <a:bodyPr/>
                    <a:lstStyle/>
                    <a:p>
                      <a:pPr marL="0" marR="0" algn="just">
                        <a:lnSpc>
                          <a:spcPct val="115000"/>
                        </a:lnSpc>
                        <a:spcAft>
                          <a:spcPts val="800"/>
                        </a:spcAft>
                        <a:buNone/>
                      </a:pPr>
                      <a:r>
                        <a:rPr lang="en-US" sz="2000" kern="100">
                          <a:effectLst/>
                        </a:rPr>
                        <a:t>AIC</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161796" marR="161796" marT="0" marB="0" anchor="b"/>
                </a:tc>
                <a:tc>
                  <a:txBody>
                    <a:bodyPr/>
                    <a:lstStyle/>
                    <a:p>
                      <a:pPr marL="0" marR="0" algn="just">
                        <a:lnSpc>
                          <a:spcPct val="115000"/>
                        </a:lnSpc>
                        <a:spcAft>
                          <a:spcPts val="800"/>
                        </a:spcAft>
                        <a:buNone/>
                      </a:pPr>
                      <a:r>
                        <a:rPr lang="en-US" sz="2000" kern="100">
                          <a:effectLst/>
                        </a:rPr>
                        <a:t>Silhouette</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161796" marR="161796" marT="0" marB="0" anchor="b"/>
                </a:tc>
                <a:tc>
                  <a:txBody>
                    <a:bodyPr/>
                    <a:lstStyle/>
                    <a:p>
                      <a:pPr marL="0" marR="0" algn="just">
                        <a:lnSpc>
                          <a:spcPct val="115000"/>
                        </a:lnSpc>
                        <a:spcAft>
                          <a:spcPts val="800"/>
                        </a:spcAft>
                        <a:buNone/>
                      </a:pPr>
                      <a:r>
                        <a:rPr lang="en-US" sz="2000" kern="100" dirty="0">
                          <a:effectLst/>
                        </a:rPr>
                        <a:t>Davies-Bouldin</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161796" marR="161796" marT="0" marB="0" anchor="b"/>
                </a:tc>
                <a:tc>
                  <a:txBody>
                    <a:bodyPr/>
                    <a:lstStyle/>
                    <a:p>
                      <a:pPr marL="0" marR="0" algn="just">
                        <a:lnSpc>
                          <a:spcPct val="115000"/>
                        </a:lnSpc>
                        <a:spcAft>
                          <a:spcPts val="800"/>
                        </a:spcAft>
                        <a:buNone/>
                      </a:pPr>
                      <a:r>
                        <a:rPr lang="en-US" sz="2000" kern="100">
                          <a:effectLst/>
                        </a:rPr>
                        <a:t>Calinski-Harabasz</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161796" marR="161796" marT="0" marB="0" anchor="b"/>
                </a:tc>
                <a:extLst>
                  <a:ext uri="{0D108BD9-81ED-4DB2-BD59-A6C34878D82A}">
                    <a16:rowId xmlns:a16="http://schemas.microsoft.com/office/drawing/2014/main" val="3983625148"/>
                  </a:ext>
                </a:extLst>
              </a:tr>
              <a:tr h="565671">
                <a:tc>
                  <a:txBody>
                    <a:bodyPr/>
                    <a:lstStyle/>
                    <a:p>
                      <a:pPr marL="0" marR="0" algn="just">
                        <a:lnSpc>
                          <a:spcPct val="115000"/>
                        </a:lnSpc>
                        <a:spcAft>
                          <a:spcPts val="800"/>
                        </a:spcAft>
                        <a:buNone/>
                      </a:pPr>
                      <a:r>
                        <a:rPr lang="en-US" sz="2000" kern="100" dirty="0">
                          <a:effectLst/>
                        </a:rPr>
                        <a:t>-83512.20</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161796" marR="161796" marT="0" marB="0"/>
                </a:tc>
                <a:tc>
                  <a:txBody>
                    <a:bodyPr/>
                    <a:lstStyle/>
                    <a:p>
                      <a:pPr marL="0" marR="0" algn="just">
                        <a:lnSpc>
                          <a:spcPct val="115000"/>
                        </a:lnSpc>
                        <a:spcAft>
                          <a:spcPts val="800"/>
                        </a:spcAft>
                        <a:buNone/>
                      </a:pPr>
                      <a:r>
                        <a:rPr lang="en-US" sz="2000" kern="100">
                          <a:effectLst/>
                        </a:rPr>
                        <a:t>82871.84</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161796" marR="161796" marT="0" marB="0"/>
                </a:tc>
                <a:tc>
                  <a:txBody>
                    <a:bodyPr/>
                    <a:lstStyle/>
                    <a:p>
                      <a:pPr marL="0" marR="0" algn="just">
                        <a:lnSpc>
                          <a:spcPct val="115000"/>
                        </a:lnSpc>
                        <a:spcAft>
                          <a:spcPts val="800"/>
                        </a:spcAft>
                        <a:buNone/>
                      </a:pPr>
                      <a:r>
                        <a:rPr lang="en-US" sz="2000" kern="100">
                          <a:effectLst/>
                        </a:rPr>
                        <a:t>0.1746</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161796" marR="161796" marT="0" marB="0"/>
                </a:tc>
                <a:tc>
                  <a:txBody>
                    <a:bodyPr/>
                    <a:lstStyle/>
                    <a:p>
                      <a:pPr marL="0" marR="0" algn="just">
                        <a:lnSpc>
                          <a:spcPct val="115000"/>
                        </a:lnSpc>
                        <a:spcAft>
                          <a:spcPts val="800"/>
                        </a:spcAft>
                        <a:buNone/>
                      </a:pPr>
                      <a:r>
                        <a:rPr lang="en-US" sz="2000" kern="100">
                          <a:effectLst/>
                        </a:rPr>
                        <a:t>1.9078</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161796" marR="161796" marT="0" marB="0"/>
                </a:tc>
                <a:tc>
                  <a:txBody>
                    <a:bodyPr/>
                    <a:lstStyle/>
                    <a:p>
                      <a:pPr marL="0" marR="0" algn="just">
                        <a:lnSpc>
                          <a:spcPct val="115000"/>
                        </a:lnSpc>
                        <a:spcAft>
                          <a:spcPts val="800"/>
                        </a:spcAft>
                        <a:buNone/>
                      </a:pPr>
                      <a:r>
                        <a:rPr lang="en-US" sz="2000" kern="100" dirty="0">
                          <a:effectLst/>
                        </a:rPr>
                        <a:t>991.787</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161796" marR="161796" marT="0" marB="0"/>
                </a:tc>
                <a:extLst>
                  <a:ext uri="{0D108BD9-81ED-4DB2-BD59-A6C34878D82A}">
                    <a16:rowId xmlns:a16="http://schemas.microsoft.com/office/drawing/2014/main" val="3174579638"/>
                  </a:ext>
                </a:extLst>
              </a:tr>
            </a:tbl>
          </a:graphicData>
        </a:graphic>
      </p:graphicFrame>
      <p:graphicFrame>
        <p:nvGraphicFramePr>
          <p:cNvPr id="5" name="Table 4">
            <a:extLst>
              <a:ext uri="{FF2B5EF4-FFF2-40B4-BE49-F238E27FC236}">
                <a16:creationId xmlns:a16="http://schemas.microsoft.com/office/drawing/2014/main" id="{334C8129-C5DC-7177-594B-7AA2F92B7093}"/>
              </a:ext>
            </a:extLst>
          </p:cNvPr>
          <p:cNvGraphicFramePr>
            <a:graphicFrameLocks noGrp="1"/>
          </p:cNvGraphicFramePr>
          <p:nvPr>
            <p:extLst>
              <p:ext uri="{D42A27DB-BD31-4B8C-83A1-F6EECF244321}">
                <p14:modId xmlns:p14="http://schemas.microsoft.com/office/powerpoint/2010/main" val="4003612434"/>
              </p:ext>
            </p:extLst>
          </p:nvPr>
        </p:nvGraphicFramePr>
        <p:xfrm>
          <a:off x="643468" y="2266015"/>
          <a:ext cx="10790508" cy="4303503"/>
        </p:xfrm>
        <a:graphic>
          <a:graphicData uri="http://schemas.openxmlformats.org/drawingml/2006/table">
            <a:tbl>
              <a:tblPr firstRow="1" firstCol="1" bandRow="1">
                <a:tableStyleId>{5C22544A-7EE6-4342-B048-85BDC9FD1C3A}</a:tableStyleId>
              </a:tblPr>
              <a:tblGrid>
                <a:gridCol w="2666856">
                  <a:extLst>
                    <a:ext uri="{9D8B030D-6E8A-4147-A177-3AD203B41FA5}">
                      <a16:colId xmlns:a16="http://schemas.microsoft.com/office/drawing/2014/main" val="716254697"/>
                    </a:ext>
                  </a:extLst>
                </a:gridCol>
                <a:gridCol w="3981347">
                  <a:extLst>
                    <a:ext uri="{9D8B030D-6E8A-4147-A177-3AD203B41FA5}">
                      <a16:colId xmlns:a16="http://schemas.microsoft.com/office/drawing/2014/main" val="1106943528"/>
                    </a:ext>
                  </a:extLst>
                </a:gridCol>
                <a:gridCol w="4142305">
                  <a:extLst>
                    <a:ext uri="{9D8B030D-6E8A-4147-A177-3AD203B41FA5}">
                      <a16:colId xmlns:a16="http://schemas.microsoft.com/office/drawing/2014/main" val="336578748"/>
                    </a:ext>
                  </a:extLst>
                </a:gridCol>
              </a:tblGrid>
              <a:tr h="1253187">
                <a:tc>
                  <a:txBody>
                    <a:bodyPr/>
                    <a:lstStyle/>
                    <a:p>
                      <a:pPr marL="0" marR="0" algn="ctr">
                        <a:lnSpc>
                          <a:spcPct val="115000"/>
                        </a:lnSpc>
                        <a:spcAft>
                          <a:spcPts val="800"/>
                        </a:spcAft>
                        <a:buNone/>
                      </a:pPr>
                      <a:r>
                        <a:rPr lang="en-US" sz="2000" kern="100" dirty="0">
                          <a:effectLst/>
                        </a:rPr>
                        <a:t>Cluster Number</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tc>
                  <a:txBody>
                    <a:bodyPr/>
                    <a:lstStyle/>
                    <a:p>
                      <a:pPr marL="0" marR="0" algn="ctr">
                        <a:lnSpc>
                          <a:spcPct val="115000"/>
                        </a:lnSpc>
                        <a:spcAft>
                          <a:spcPts val="800"/>
                        </a:spcAft>
                        <a:buNone/>
                      </a:pPr>
                      <a:r>
                        <a:rPr lang="en-US" sz="2000" kern="100">
                          <a:effectLst/>
                        </a:rPr>
                        <a:t>Number of Observations</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tc>
                  <a:txBody>
                    <a:bodyPr/>
                    <a:lstStyle/>
                    <a:p>
                      <a:pPr marL="0" marR="0" algn="ctr">
                        <a:lnSpc>
                          <a:spcPct val="115000"/>
                        </a:lnSpc>
                        <a:spcAft>
                          <a:spcPts val="800"/>
                        </a:spcAft>
                        <a:buNone/>
                      </a:pPr>
                      <a:r>
                        <a:rPr lang="en-US" sz="2000" kern="100">
                          <a:effectLst/>
                        </a:rPr>
                        <a:t>Average Silhouette Width</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extLst>
                  <a:ext uri="{0D108BD9-81ED-4DB2-BD59-A6C34878D82A}">
                    <a16:rowId xmlns:a16="http://schemas.microsoft.com/office/drawing/2014/main" val="2739568082"/>
                  </a:ext>
                </a:extLst>
              </a:tr>
              <a:tr h="762579">
                <a:tc>
                  <a:txBody>
                    <a:bodyPr/>
                    <a:lstStyle/>
                    <a:p>
                      <a:pPr marL="0" marR="0" algn="ctr">
                        <a:lnSpc>
                          <a:spcPct val="115000"/>
                        </a:lnSpc>
                        <a:spcAft>
                          <a:spcPts val="800"/>
                        </a:spcAft>
                        <a:buNone/>
                      </a:pPr>
                      <a:r>
                        <a:rPr lang="en-US" sz="2000" kern="100">
                          <a:effectLst/>
                        </a:rPr>
                        <a:t>1</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tc>
                  <a:txBody>
                    <a:bodyPr/>
                    <a:lstStyle/>
                    <a:p>
                      <a:pPr marL="0" marR="0" algn="ctr">
                        <a:lnSpc>
                          <a:spcPct val="115000"/>
                        </a:lnSpc>
                        <a:spcAft>
                          <a:spcPts val="800"/>
                        </a:spcAft>
                        <a:buNone/>
                      </a:pPr>
                      <a:r>
                        <a:rPr lang="en-US" sz="2000" kern="100" dirty="0">
                          <a:effectLst/>
                        </a:rPr>
                        <a:t>1145</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tc>
                  <a:txBody>
                    <a:bodyPr/>
                    <a:lstStyle/>
                    <a:p>
                      <a:pPr marL="0" marR="0" algn="ctr">
                        <a:lnSpc>
                          <a:spcPct val="115000"/>
                        </a:lnSpc>
                        <a:spcAft>
                          <a:spcPts val="800"/>
                        </a:spcAft>
                        <a:buNone/>
                      </a:pPr>
                      <a:r>
                        <a:rPr lang="en-US" sz="2000" kern="100" dirty="0">
                          <a:effectLst/>
                        </a:rPr>
                        <a:t>0.2395428</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extLst>
                  <a:ext uri="{0D108BD9-81ED-4DB2-BD59-A6C34878D82A}">
                    <a16:rowId xmlns:a16="http://schemas.microsoft.com/office/drawing/2014/main" val="1419402423"/>
                  </a:ext>
                </a:extLst>
              </a:tr>
              <a:tr h="762579">
                <a:tc>
                  <a:txBody>
                    <a:bodyPr/>
                    <a:lstStyle/>
                    <a:p>
                      <a:pPr marL="0" marR="0" algn="ctr">
                        <a:lnSpc>
                          <a:spcPct val="115000"/>
                        </a:lnSpc>
                        <a:spcAft>
                          <a:spcPts val="800"/>
                        </a:spcAft>
                        <a:buNone/>
                      </a:pPr>
                      <a:r>
                        <a:rPr lang="en-US" sz="2000" kern="100" dirty="0">
                          <a:effectLst/>
                        </a:rPr>
                        <a:t>2</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tc>
                  <a:txBody>
                    <a:bodyPr/>
                    <a:lstStyle/>
                    <a:p>
                      <a:pPr marL="0" marR="0" algn="ctr">
                        <a:lnSpc>
                          <a:spcPct val="115000"/>
                        </a:lnSpc>
                        <a:spcAft>
                          <a:spcPts val="800"/>
                        </a:spcAft>
                        <a:buNone/>
                      </a:pPr>
                      <a:r>
                        <a:rPr lang="en-US" sz="2000" kern="100" dirty="0">
                          <a:effectLst/>
                        </a:rPr>
                        <a:t>823</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tc>
                  <a:txBody>
                    <a:bodyPr/>
                    <a:lstStyle/>
                    <a:p>
                      <a:pPr marL="0" marR="0" algn="ctr">
                        <a:lnSpc>
                          <a:spcPct val="115000"/>
                        </a:lnSpc>
                        <a:spcAft>
                          <a:spcPts val="800"/>
                        </a:spcAft>
                        <a:buNone/>
                      </a:pPr>
                      <a:r>
                        <a:rPr lang="en-US" sz="2000" kern="100" dirty="0">
                          <a:effectLst/>
                        </a:rPr>
                        <a:t>-0.1011910</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extLst>
                  <a:ext uri="{0D108BD9-81ED-4DB2-BD59-A6C34878D82A}">
                    <a16:rowId xmlns:a16="http://schemas.microsoft.com/office/drawing/2014/main" val="313517693"/>
                  </a:ext>
                </a:extLst>
              </a:tr>
              <a:tr h="762579">
                <a:tc>
                  <a:txBody>
                    <a:bodyPr/>
                    <a:lstStyle/>
                    <a:p>
                      <a:pPr marL="0" marR="0" algn="ctr">
                        <a:lnSpc>
                          <a:spcPct val="115000"/>
                        </a:lnSpc>
                        <a:spcAft>
                          <a:spcPts val="800"/>
                        </a:spcAft>
                        <a:buNone/>
                      </a:pPr>
                      <a:r>
                        <a:rPr lang="en-US" sz="2000" kern="100">
                          <a:effectLst/>
                        </a:rPr>
                        <a:t>3</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tc>
                  <a:txBody>
                    <a:bodyPr/>
                    <a:lstStyle/>
                    <a:p>
                      <a:pPr marL="0" marR="0" algn="ctr">
                        <a:lnSpc>
                          <a:spcPct val="115000"/>
                        </a:lnSpc>
                        <a:spcAft>
                          <a:spcPts val="800"/>
                        </a:spcAft>
                        <a:buNone/>
                      </a:pPr>
                      <a:r>
                        <a:rPr lang="en-US" sz="2000" kern="100">
                          <a:effectLst/>
                        </a:rPr>
                        <a:t>1970</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tc>
                  <a:txBody>
                    <a:bodyPr/>
                    <a:lstStyle/>
                    <a:p>
                      <a:pPr marL="0" marR="0" algn="ctr">
                        <a:lnSpc>
                          <a:spcPct val="115000"/>
                        </a:lnSpc>
                        <a:spcAft>
                          <a:spcPts val="800"/>
                        </a:spcAft>
                        <a:buNone/>
                      </a:pPr>
                      <a:r>
                        <a:rPr lang="en-US" sz="2000" kern="100" dirty="0">
                          <a:effectLst/>
                        </a:rPr>
                        <a:t>0.2515514</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extLst>
                  <a:ext uri="{0D108BD9-81ED-4DB2-BD59-A6C34878D82A}">
                    <a16:rowId xmlns:a16="http://schemas.microsoft.com/office/drawing/2014/main" val="2605426107"/>
                  </a:ext>
                </a:extLst>
              </a:tr>
              <a:tr h="762579">
                <a:tc>
                  <a:txBody>
                    <a:bodyPr/>
                    <a:lstStyle/>
                    <a:p>
                      <a:pPr marL="0" marR="0" algn="ctr">
                        <a:lnSpc>
                          <a:spcPct val="115000"/>
                        </a:lnSpc>
                        <a:spcAft>
                          <a:spcPts val="800"/>
                        </a:spcAft>
                        <a:buNone/>
                      </a:pPr>
                      <a:r>
                        <a:rPr lang="en-US" sz="2000" kern="100">
                          <a:effectLst/>
                        </a:rPr>
                        <a:t>4</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tc>
                  <a:txBody>
                    <a:bodyPr/>
                    <a:lstStyle/>
                    <a:p>
                      <a:pPr marL="0" marR="0" algn="ctr">
                        <a:lnSpc>
                          <a:spcPct val="115000"/>
                        </a:lnSpc>
                        <a:spcAft>
                          <a:spcPts val="800"/>
                        </a:spcAft>
                        <a:buNone/>
                      </a:pPr>
                      <a:r>
                        <a:rPr lang="en-US" sz="2000" kern="100">
                          <a:effectLst/>
                        </a:rPr>
                        <a:t>1890</a:t>
                      </a:r>
                      <a:endParaRPr lang="en-US" sz="20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tc>
                  <a:txBody>
                    <a:bodyPr/>
                    <a:lstStyle/>
                    <a:p>
                      <a:pPr marL="0" marR="0" algn="ctr">
                        <a:lnSpc>
                          <a:spcPct val="115000"/>
                        </a:lnSpc>
                        <a:spcAft>
                          <a:spcPts val="800"/>
                        </a:spcAft>
                        <a:buNone/>
                      </a:pPr>
                      <a:r>
                        <a:rPr lang="en-US" sz="2000" kern="100" dirty="0">
                          <a:effectLst/>
                        </a:rPr>
                        <a:t>0.1752064</a:t>
                      </a:r>
                      <a:endParaRPr lang="en-US" sz="20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63500" marB="63500"/>
                </a:tc>
                <a:extLst>
                  <a:ext uri="{0D108BD9-81ED-4DB2-BD59-A6C34878D82A}">
                    <a16:rowId xmlns:a16="http://schemas.microsoft.com/office/drawing/2014/main" val="1428761568"/>
                  </a:ext>
                </a:extLst>
              </a:tr>
            </a:tbl>
          </a:graphicData>
        </a:graphic>
      </p:graphicFrame>
    </p:spTree>
    <p:extLst>
      <p:ext uri="{BB962C8B-B14F-4D97-AF65-F5344CB8AC3E}">
        <p14:creationId xmlns:p14="http://schemas.microsoft.com/office/powerpoint/2010/main" val="4002559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22F3646A-4B91-35B8-D6B0-526D25731CB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731378" y="2642616"/>
            <a:ext cx="4791739" cy="3605784"/>
          </a:xfrm>
          <a:prstGeom prst="rect">
            <a:avLst/>
          </a:prstGeom>
          <a:noFill/>
        </p:spPr>
      </p:pic>
      <p:pic>
        <p:nvPicPr>
          <p:cNvPr id="5" name="Picture 4" descr="The diagram illustrates a UMAP visualization of data points clustered into various groups, labeled with numbers and coordinates.&#10;&#10;AI-generated content may be incorrect.">
            <a:extLst>
              <a:ext uri="{FF2B5EF4-FFF2-40B4-BE49-F238E27FC236}">
                <a16:creationId xmlns:a16="http://schemas.microsoft.com/office/drawing/2014/main" id="{2FCABBF2-31BE-A502-52BA-D7BEC100AA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6254496" y="2880490"/>
            <a:ext cx="5614416" cy="3130036"/>
          </a:xfrm>
          <a:prstGeom prst="rect">
            <a:avLst/>
          </a:prstGeom>
          <a:noFill/>
        </p:spPr>
      </p:pic>
    </p:spTree>
    <p:extLst>
      <p:ext uri="{BB962C8B-B14F-4D97-AF65-F5344CB8AC3E}">
        <p14:creationId xmlns:p14="http://schemas.microsoft.com/office/powerpoint/2010/main" val="1958611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ACABCD-4B2E-EE27-A7B6-594A1D1B9A3B}"/>
              </a:ext>
            </a:extLst>
          </p:cNvPr>
          <p:cNvSpPr>
            <a:spLocks noGrp="1"/>
          </p:cNvSpPr>
          <p:nvPr>
            <p:ph type="title"/>
          </p:nvPr>
        </p:nvSpPr>
        <p:spPr>
          <a:xfrm>
            <a:off x="841248" y="548640"/>
            <a:ext cx="3600860" cy="5431536"/>
          </a:xfrm>
        </p:spPr>
        <p:txBody>
          <a:bodyPr>
            <a:normAutofit/>
          </a:bodyPr>
          <a:lstStyle/>
          <a:p>
            <a:r>
              <a:rPr lang="en-US" sz="4600" b="1"/>
              <a:t>K-MEANS CLUSTERING ANALYSIS</a:t>
            </a:r>
            <a:endParaRPr lang="en-US" sz="4600"/>
          </a:p>
        </p:txBody>
      </p:sp>
      <p:sp>
        <p:nvSpPr>
          <p:cNvPr id="1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0EE3ABE-06C9-3FE1-178A-5775C4096756}"/>
              </a:ext>
            </a:extLst>
          </p:cNvPr>
          <p:cNvSpPr>
            <a:spLocks noGrp="1"/>
          </p:cNvSpPr>
          <p:nvPr>
            <p:ph idx="1"/>
          </p:nvPr>
        </p:nvSpPr>
        <p:spPr>
          <a:xfrm>
            <a:off x="4924243" y="313899"/>
            <a:ext cx="7167306" cy="6293636"/>
          </a:xfrm>
        </p:spPr>
        <p:txBody>
          <a:bodyPr anchor="ctr">
            <a:normAutofit/>
          </a:bodyPr>
          <a:lstStyle/>
          <a:p>
            <a:pPr marL="0" indent="0">
              <a:buNone/>
            </a:pPr>
            <a:r>
              <a:rPr lang="en-US" sz="1800" dirty="0"/>
              <a:t>• K-means was selected because it is </a:t>
            </a:r>
            <a:r>
              <a:rPr lang="en-US" sz="1800" b="1" dirty="0"/>
              <a:t>simple, fast, widely used, and easy to interpret</a:t>
            </a:r>
            <a:r>
              <a:rPr lang="en-US" sz="1800" dirty="0"/>
              <a:t>.</a:t>
            </a:r>
          </a:p>
          <a:p>
            <a:pPr marL="0" indent="0">
              <a:buNone/>
            </a:pPr>
            <a:r>
              <a:rPr lang="en-US" sz="1800" dirty="0"/>
              <a:t>• It is appropriate for </a:t>
            </a:r>
            <a:r>
              <a:rPr lang="en-US" sz="1800" b="1" dirty="0"/>
              <a:t>continuous numeric health variables</a:t>
            </a:r>
            <a:r>
              <a:rPr lang="en-US" sz="1800" dirty="0"/>
              <a:t> in the NHANES dataset.</a:t>
            </a:r>
          </a:p>
          <a:p>
            <a:pPr marL="0" indent="0">
              <a:buNone/>
            </a:pPr>
            <a:r>
              <a:rPr lang="en-US" sz="1800" dirty="0"/>
              <a:t>• K-means assigns each observation to the nearest </a:t>
            </a:r>
            <a:r>
              <a:rPr lang="en-US" sz="1800" b="1" dirty="0"/>
              <a:t>cluster centroid</a:t>
            </a:r>
            <a:r>
              <a:rPr lang="en-US" sz="1800" dirty="0"/>
              <a:t>.</a:t>
            </a:r>
          </a:p>
          <a:p>
            <a:pPr marL="0" indent="0">
              <a:buNone/>
            </a:pPr>
            <a:r>
              <a:rPr lang="en-US" sz="1800" dirty="0"/>
              <a:t>• Centroids are recalculated repeatedly until cluster assignments become stable.</a:t>
            </a:r>
          </a:p>
          <a:p>
            <a:pPr marL="0" indent="0">
              <a:buNone/>
            </a:pPr>
            <a:r>
              <a:rPr lang="en-US" sz="1800" dirty="0"/>
              <a:t>• The main parameter is </a:t>
            </a:r>
            <a:r>
              <a:rPr lang="en-US" sz="1800" b="1" dirty="0"/>
              <a:t>K</a:t>
            </a:r>
            <a:r>
              <a:rPr lang="en-US" sz="1800" dirty="0"/>
              <a:t>, or the number of clusters.</a:t>
            </a:r>
          </a:p>
          <a:p>
            <a:pPr marL="0" indent="0">
              <a:buNone/>
            </a:pPr>
            <a:r>
              <a:rPr lang="en-US" sz="1800" dirty="0"/>
              <a:t>• Different K values were tested using the </a:t>
            </a:r>
            <a:r>
              <a:rPr lang="en-US" sz="1800" b="1" dirty="0"/>
              <a:t>Elbow Method</a:t>
            </a:r>
            <a:r>
              <a:rPr lang="en-US" sz="1800" dirty="0"/>
              <a:t>, </a:t>
            </a:r>
            <a:r>
              <a:rPr lang="en-US" sz="1800" b="1" dirty="0"/>
              <a:t>Silhouette Score</a:t>
            </a:r>
            <a:r>
              <a:rPr lang="en-US" sz="1800" dirty="0"/>
              <a:t>, </a:t>
            </a:r>
            <a:r>
              <a:rPr lang="en-US" sz="1800" b="1" dirty="0"/>
              <a:t>Davies-Bouldin Index</a:t>
            </a:r>
            <a:r>
              <a:rPr lang="en-US" sz="1800" dirty="0"/>
              <a:t>, and </a:t>
            </a:r>
            <a:r>
              <a:rPr lang="en-US" sz="1800" b="1" dirty="0" err="1"/>
              <a:t>Calinski-Harabasz</a:t>
            </a:r>
            <a:r>
              <a:rPr lang="en-US" sz="1800" b="1" dirty="0"/>
              <a:t> Index</a:t>
            </a:r>
            <a:r>
              <a:rPr lang="en-US" sz="1800" dirty="0"/>
              <a:t>.</a:t>
            </a:r>
          </a:p>
          <a:p>
            <a:pPr marL="0" indent="0">
              <a:buNone/>
            </a:pPr>
            <a:r>
              <a:rPr lang="en-US" sz="1800" dirty="0"/>
              <a:t>• K-means is useful for creating </a:t>
            </a:r>
            <a:r>
              <a:rPr lang="en-US" sz="1800" b="1" dirty="0"/>
              <a:t>clear and meaningful health profiles</a:t>
            </a:r>
            <a:r>
              <a:rPr lang="en-US" sz="1800" dirty="0"/>
              <a:t>.</a:t>
            </a:r>
          </a:p>
          <a:p>
            <a:r>
              <a:rPr lang="en-US" sz="1800" dirty="0"/>
              <a:t>K-means assumes that clusters are </a:t>
            </a:r>
            <a:r>
              <a:rPr lang="en-US" sz="1800" b="1" dirty="0"/>
              <a:t>roughly round, similar in size, and separated by distance from their centroids</a:t>
            </a:r>
            <a:r>
              <a:rPr lang="en-US" sz="1800" dirty="0"/>
              <a:t>.</a:t>
            </a:r>
          </a:p>
          <a:p>
            <a:pPr marL="0" indent="0">
              <a:buNone/>
            </a:pPr>
            <a:r>
              <a:rPr lang="en-US" sz="1800" dirty="0"/>
              <a:t>• Its limitations include needing to choose K in advance and sensitivity to </a:t>
            </a:r>
            <a:r>
              <a:rPr lang="en-US" sz="1800" b="1" dirty="0"/>
              <a:t>outliers</a:t>
            </a:r>
            <a:r>
              <a:rPr lang="en-US" sz="1800" dirty="0"/>
              <a:t> and </a:t>
            </a:r>
            <a:r>
              <a:rPr lang="en-US" sz="1800" b="1" dirty="0"/>
              <a:t>initial centroid placement</a:t>
            </a:r>
            <a:r>
              <a:rPr lang="en-US" sz="1800" dirty="0"/>
              <a:t>.</a:t>
            </a:r>
          </a:p>
          <a:p>
            <a:pPr marL="0" indent="0">
              <a:buNone/>
            </a:pPr>
            <a:r>
              <a:rPr lang="en-US" sz="1800" dirty="0"/>
              <a:t>• Final method selection was based on both </a:t>
            </a:r>
            <a:r>
              <a:rPr lang="en-US" sz="1800" b="1" dirty="0"/>
              <a:t>validation metrics</a:t>
            </a:r>
            <a:r>
              <a:rPr lang="en-US" sz="1800" dirty="0"/>
              <a:t> and </a:t>
            </a:r>
            <a:r>
              <a:rPr lang="en-US" sz="1800" b="1" dirty="0"/>
              <a:t>practical interpretability</a:t>
            </a:r>
            <a:r>
              <a:rPr lang="en-US" sz="1800" dirty="0"/>
              <a:t>.</a:t>
            </a:r>
          </a:p>
          <a:p>
            <a:pPr marL="0" indent="0">
              <a:buNone/>
            </a:pPr>
            <a:r>
              <a:rPr lang="en-US" sz="1800" dirty="0"/>
              <a:t>• Cluster sizes and health profiles were examined to determine whether the results were meaningful.</a:t>
            </a:r>
          </a:p>
          <a:p>
            <a:endParaRPr lang="en-US" sz="1800" dirty="0"/>
          </a:p>
        </p:txBody>
      </p:sp>
    </p:spTree>
    <p:extLst>
      <p:ext uri="{BB962C8B-B14F-4D97-AF65-F5344CB8AC3E}">
        <p14:creationId xmlns:p14="http://schemas.microsoft.com/office/powerpoint/2010/main" val="2694619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The diagram illustrates the Elbow Method for determining the optimal number of clusters (k) in K-Means clustering, showing the Within-Cluster Sum of Squares (WSS) values for k values ranging from 0 to 10.&#10;&#10;AI-generated content may be incorrect.">
            <a:extLst>
              <a:ext uri="{FF2B5EF4-FFF2-40B4-BE49-F238E27FC236}">
                <a16:creationId xmlns:a16="http://schemas.microsoft.com/office/drawing/2014/main" id="{D85CDBB9-65A7-07F3-01DC-077124EB746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1922916" y="643466"/>
            <a:ext cx="8346167" cy="5571067"/>
          </a:xfrm>
          <a:prstGeom prst="rect">
            <a:avLst/>
          </a:prstGeom>
          <a:noFill/>
        </p:spPr>
      </p:pic>
    </p:spTree>
    <p:extLst>
      <p:ext uri="{BB962C8B-B14F-4D97-AF65-F5344CB8AC3E}">
        <p14:creationId xmlns:p14="http://schemas.microsoft.com/office/powerpoint/2010/main" val="3121423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A6D0352-99F9-2DD8-4B2A-B08677EED313}"/>
              </a:ext>
            </a:extLst>
          </p:cNvPr>
          <p:cNvSpPr>
            <a:spLocks noGrp="1"/>
          </p:cNvSpPr>
          <p:nvPr>
            <p:ph idx="1"/>
          </p:nvPr>
        </p:nvSpPr>
        <p:spPr>
          <a:xfrm>
            <a:off x="838200" y="1929384"/>
            <a:ext cx="10515600" cy="4251960"/>
          </a:xfrm>
        </p:spPr>
        <p:txBody>
          <a:bodyPr>
            <a:normAutofit/>
          </a:bodyPr>
          <a:lstStyle/>
          <a:p>
            <a:pPr marL="0" indent="0">
              <a:buNone/>
            </a:pPr>
            <a:r>
              <a:rPr lang="en-US" sz="2200" b="1" dirty="0"/>
              <a:t>Validation Metrics for Different K Values</a:t>
            </a:r>
            <a:br>
              <a:rPr lang="en-US" sz="2200" b="1" dirty="0"/>
            </a:br>
            <a:br>
              <a:rPr lang="en-US" sz="2200" b="1" dirty="0"/>
            </a:br>
            <a:r>
              <a:rPr lang="en-US" sz="2200" dirty="0"/>
              <a:t>     K Silhouette_Score </a:t>
            </a:r>
            <a:r>
              <a:rPr lang="en-US" sz="2200" dirty="0" err="1"/>
              <a:t>Davies_Bouldin_Index</a:t>
            </a:r>
            <a:r>
              <a:rPr lang="en-US" sz="2200" dirty="0"/>
              <a:t> </a:t>
            </a:r>
            <a:r>
              <a:rPr lang="en-US" sz="2200" dirty="0" err="1"/>
              <a:t>Calinski_Harabasz_Index</a:t>
            </a:r>
            <a:br>
              <a:rPr lang="en-US" sz="2200" dirty="0"/>
            </a:br>
            <a:r>
              <a:rPr lang="en-US" sz="2200" dirty="0"/>
              <a:t> 1  2    	0.2019203         	1.757493            	1534.722</a:t>
            </a:r>
            <a:br>
              <a:rPr lang="en-US" sz="2200" dirty="0"/>
            </a:br>
            <a:r>
              <a:rPr lang="en-US" sz="2200" dirty="0"/>
              <a:t> 2  3    	0.1940932         	1.635532            	1259.597</a:t>
            </a:r>
            <a:br>
              <a:rPr lang="en-US" sz="2200" dirty="0"/>
            </a:br>
            <a:r>
              <a:rPr lang="en-US" sz="2200" dirty="0"/>
              <a:t> 3  4    	0.2113755         	1.497466            	1223.244</a:t>
            </a:r>
            <a:br>
              <a:rPr lang="en-US" sz="2200" dirty="0"/>
            </a:br>
            <a:r>
              <a:rPr lang="en-US" sz="2200" dirty="0"/>
              <a:t> 4  5    	0.2153430         	1.412943            	1205.100</a:t>
            </a:r>
            <a:br>
              <a:rPr lang="en-US" sz="2200" dirty="0"/>
            </a:br>
            <a:r>
              <a:rPr lang="en-US" sz="2200" dirty="0"/>
              <a:t> 5  6    	0.2134919         	1.364325            	1195.268</a:t>
            </a:r>
            <a:br>
              <a:rPr lang="en-US" sz="2200" dirty="0"/>
            </a:br>
            <a:r>
              <a:rPr lang="en-US" sz="2200" dirty="0"/>
              <a:t> 6  7    	0.2149356         	1.261704            	1131.680</a:t>
            </a:r>
            <a:br>
              <a:rPr lang="en-US" sz="2200" dirty="0"/>
            </a:br>
            <a:r>
              <a:rPr lang="en-US" sz="2200" dirty="0"/>
              <a:t> 7  8    	0.2024621         	1.273045            	1101.250</a:t>
            </a:r>
            <a:br>
              <a:rPr lang="en-US" sz="2200" dirty="0"/>
            </a:br>
            <a:r>
              <a:rPr lang="en-US" sz="2200" dirty="0"/>
              <a:t> 8  9    	0.1842117         	1.308878            	1067.824</a:t>
            </a:r>
            <a:br>
              <a:rPr lang="en-US" sz="2200" dirty="0"/>
            </a:br>
            <a:r>
              <a:rPr lang="en-US" sz="2200" dirty="0"/>
              <a:t> 9 10     0.1798195            1.328546            1015.720</a:t>
            </a:r>
          </a:p>
          <a:p>
            <a:pPr marL="0" indent="0">
              <a:buNone/>
            </a:pPr>
            <a:endParaRPr lang="en-US" sz="2200" dirty="0"/>
          </a:p>
        </p:txBody>
      </p:sp>
    </p:spTree>
    <p:extLst>
      <p:ext uri="{BB962C8B-B14F-4D97-AF65-F5344CB8AC3E}">
        <p14:creationId xmlns:p14="http://schemas.microsoft.com/office/powerpoint/2010/main" val="1905527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The diagram displays the Davies-Bouldin Index, a measure of cluster quality, plotted against the number of clusters (K) for a range from 2 to 10.&#10;&#10;AI-generated content may be incorrect.">
            <a:extLst>
              <a:ext uri="{FF2B5EF4-FFF2-40B4-BE49-F238E27FC236}">
                <a16:creationId xmlns:a16="http://schemas.microsoft.com/office/drawing/2014/main" id="{3A170E4D-6893-9202-6EFF-FDFAC7B82B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643467" y="882595"/>
            <a:ext cx="5291666" cy="4492487"/>
          </a:xfrm>
          <a:prstGeom prst="rect">
            <a:avLst/>
          </a:prstGeom>
          <a:noFill/>
        </p:spPr>
      </p:pic>
      <p:pic>
        <p:nvPicPr>
          <p:cNvPr id="4" name="Content Placeholder 3">
            <a:extLst>
              <a:ext uri="{FF2B5EF4-FFF2-40B4-BE49-F238E27FC236}">
                <a16:creationId xmlns:a16="http://schemas.microsoft.com/office/drawing/2014/main" id="{049CEB07-45A1-CA7B-DC59-279F4BB6894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bwMode="auto">
          <a:xfrm>
            <a:off x="6256865" y="1081377"/>
            <a:ext cx="5291667" cy="4436828"/>
          </a:xfrm>
          <a:prstGeom prst="rect">
            <a:avLst/>
          </a:prstGeom>
          <a:noFill/>
        </p:spPr>
      </p:pic>
    </p:spTree>
    <p:extLst>
      <p:ext uri="{BB962C8B-B14F-4D97-AF65-F5344CB8AC3E}">
        <p14:creationId xmlns:p14="http://schemas.microsoft.com/office/powerpoint/2010/main" val="33060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D7600BF-2D0E-4574-FFA9-48ECD847ACB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02912" y="534441"/>
            <a:ext cx="8319384" cy="2809259"/>
          </a:xfrm>
          <a:prstGeom prst="rect">
            <a:avLst/>
          </a:prstGeom>
          <a:noFill/>
          <a:ln>
            <a:noFill/>
          </a:ln>
        </p:spPr>
      </p:pic>
      <p:graphicFrame>
        <p:nvGraphicFramePr>
          <p:cNvPr id="5" name="Table 4">
            <a:extLst>
              <a:ext uri="{FF2B5EF4-FFF2-40B4-BE49-F238E27FC236}">
                <a16:creationId xmlns:a16="http://schemas.microsoft.com/office/drawing/2014/main" id="{51E1DD70-63D7-9F56-920F-50E9D0B391AE}"/>
              </a:ext>
            </a:extLst>
          </p:cNvPr>
          <p:cNvGraphicFramePr>
            <a:graphicFrameLocks noGrp="1"/>
          </p:cNvGraphicFramePr>
          <p:nvPr>
            <p:extLst>
              <p:ext uri="{D42A27DB-BD31-4B8C-83A1-F6EECF244321}">
                <p14:modId xmlns:p14="http://schemas.microsoft.com/office/powerpoint/2010/main" val="3450156399"/>
              </p:ext>
            </p:extLst>
          </p:nvPr>
        </p:nvGraphicFramePr>
        <p:xfrm>
          <a:off x="838200" y="3848894"/>
          <a:ext cx="9772934" cy="1207602"/>
        </p:xfrm>
        <a:graphic>
          <a:graphicData uri="http://schemas.openxmlformats.org/drawingml/2006/table">
            <a:tbl>
              <a:tblPr firstRow="1" bandRow="1" bandCol="1">
                <a:tableStyleId>{5C22544A-7EE6-4342-B048-85BDC9FD1C3A}</a:tableStyleId>
              </a:tblPr>
              <a:tblGrid>
                <a:gridCol w="1439555">
                  <a:extLst>
                    <a:ext uri="{9D8B030D-6E8A-4147-A177-3AD203B41FA5}">
                      <a16:colId xmlns:a16="http://schemas.microsoft.com/office/drawing/2014/main" val="1667207955"/>
                    </a:ext>
                  </a:extLst>
                </a:gridCol>
                <a:gridCol w="2777793">
                  <a:extLst>
                    <a:ext uri="{9D8B030D-6E8A-4147-A177-3AD203B41FA5}">
                      <a16:colId xmlns:a16="http://schemas.microsoft.com/office/drawing/2014/main" val="248408079"/>
                    </a:ext>
                  </a:extLst>
                </a:gridCol>
                <a:gridCol w="2777793">
                  <a:extLst>
                    <a:ext uri="{9D8B030D-6E8A-4147-A177-3AD203B41FA5}">
                      <a16:colId xmlns:a16="http://schemas.microsoft.com/office/drawing/2014/main" val="3200607120"/>
                    </a:ext>
                  </a:extLst>
                </a:gridCol>
                <a:gridCol w="2777793">
                  <a:extLst>
                    <a:ext uri="{9D8B030D-6E8A-4147-A177-3AD203B41FA5}">
                      <a16:colId xmlns:a16="http://schemas.microsoft.com/office/drawing/2014/main" val="3403658607"/>
                    </a:ext>
                  </a:extLst>
                </a:gridCol>
              </a:tblGrid>
              <a:tr h="603801">
                <a:tc>
                  <a:txBody>
                    <a:bodyPr/>
                    <a:lstStyle/>
                    <a:p>
                      <a:pPr marL="0" marR="0">
                        <a:spcBef>
                          <a:spcPts val="180"/>
                        </a:spcBef>
                        <a:spcAft>
                          <a:spcPts val="180"/>
                        </a:spcAft>
                        <a:buNone/>
                      </a:pPr>
                      <a:r>
                        <a:rPr lang="en-US" sz="2400">
                          <a:effectLst/>
                        </a:rPr>
                        <a:t>Method</a:t>
                      </a:r>
                      <a:endParaRPr lang="en-US" sz="24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nchor="b"/>
                </a:tc>
                <a:tc>
                  <a:txBody>
                    <a:bodyPr/>
                    <a:lstStyle/>
                    <a:p>
                      <a:pPr marL="0" marR="0" algn="r">
                        <a:spcBef>
                          <a:spcPts val="180"/>
                        </a:spcBef>
                        <a:spcAft>
                          <a:spcPts val="180"/>
                        </a:spcAft>
                        <a:buNone/>
                      </a:pPr>
                      <a:r>
                        <a:rPr lang="en-US" sz="2400">
                          <a:effectLst/>
                        </a:rPr>
                        <a:t>Silhouette</a:t>
                      </a:r>
                      <a:endParaRPr lang="en-US" sz="24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nchor="b"/>
                </a:tc>
                <a:tc>
                  <a:txBody>
                    <a:bodyPr/>
                    <a:lstStyle/>
                    <a:p>
                      <a:pPr marL="0" marR="0" algn="r">
                        <a:spcBef>
                          <a:spcPts val="180"/>
                        </a:spcBef>
                        <a:spcAft>
                          <a:spcPts val="180"/>
                        </a:spcAft>
                        <a:buNone/>
                      </a:pPr>
                      <a:r>
                        <a:rPr lang="en-US" sz="2400">
                          <a:effectLst/>
                        </a:rPr>
                        <a:t>Davies_Bouldin</a:t>
                      </a:r>
                      <a:endParaRPr lang="en-US" sz="24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nchor="b"/>
                </a:tc>
                <a:tc>
                  <a:txBody>
                    <a:bodyPr/>
                    <a:lstStyle/>
                    <a:p>
                      <a:pPr marL="0" marR="0" algn="r">
                        <a:spcBef>
                          <a:spcPts val="180"/>
                        </a:spcBef>
                        <a:spcAft>
                          <a:spcPts val="180"/>
                        </a:spcAft>
                        <a:buNone/>
                      </a:pPr>
                      <a:r>
                        <a:rPr lang="en-US" sz="2400">
                          <a:effectLst/>
                        </a:rPr>
                        <a:t>Calinski_Harabasz</a:t>
                      </a:r>
                      <a:endParaRPr lang="en-US" sz="24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nchor="b"/>
                </a:tc>
                <a:extLst>
                  <a:ext uri="{0D108BD9-81ED-4DB2-BD59-A6C34878D82A}">
                    <a16:rowId xmlns:a16="http://schemas.microsoft.com/office/drawing/2014/main" val="609838781"/>
                  </a:ext>
                </a:extLst>
              </a:tr>
              <a:tr h="603801">
                <a:tc>
                  <a:txBody>
                    <a:bodyPr/>
                    <a:lstStyle/>
                    <a:p>
                      <a:pPr marL="0" marR="0">
                        <a:spcBef>
                          <a:spcPts val="180"/>
                        </a:spcBef>
                        <a:spcAft>
                          <a:spcPts val="180"/>
                        </a:spcAft>
                        <a:buNone/>
                      </a:pPr>
                      <a:r>
                        <a:rPr lang="en-US" sz="2400">
                          <a:effectLst/>
                        </a:rPr>
                        <a:t>K-means</a:t>
                      </a:r>
                      <a:endParaRPr lang="en-US" sz="24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r">
                        <a:spcBef>
                          <a:spcPts val="180"/>
                        </a:spcBef>
                        <a:spcAft>
                          <a:spcPts val="180"/>
                        </a:spcAft>
                        <a:buNone/>
                      </a:pPr>
                      <a:r>
                        <a:rPr lang="en-US" sz="2400">
                          <a:effectLst/>
                        </a:rPr>
                        <a:t>0.2153</a:t>
                      </a:r>
                      <a:endParaRPr lang="en-US" sz="24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r">
                        <a:spcBef>
                          <a:spcPts val="180"/>
                        </a:spcBef>
                        <a:spcAft>
                          <a:spcPts val="180"/>
                        </a:spcAft>
                        <a:buNone/>
                      </a:pPr>
                      <a:r>
                        <a:rPr lang="en-US" sz="2400">
                          <a:effectLst/>
                        </a:rPr>
                        <a:t>1.4129</a:t>
                      </a:r>
                      <a:endParaRPr lang="en-US" sz="24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marL="0" marR="0" algn="r">
                        <a:spcBef>
                          <a:spcPts val="180"/>
                        </a:spcBef>
                        <a:spcAft>
                          <a:spcPts val="180"/>
                        </a:spcAft>
                        <a:buNone/>
                      </a:pPr>
                      <a:r>
                        <a:rPr lang="en-US" sz="2400" dirty="0">
                          <a:effectLst/>
                        </a:rPr>
                        <a:t>1205.1</a:t>
                      </a:r>
                      <a:endParaRPr lang="en-US" sz="24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1306369908"/>
                  </a:ext>
                </a:extLst>
              </a:tr>
            </a:tbl>
          </a:graphicData>
        </a:graphic>
      </p:graphicFrame>
    </p:spTree>
    <p:extLst>
      <p:ext uri="{BB962C8B-B14F-4D97-AF65-F5344CB8AC3E}">
        <p14:creationId xmlns:p14="http://schemas.microsoft.com/office/powerpoint/2010/main" val="1818831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The image depicts a visualization of K-Means clusters using two different UMAP (Uniform Manifold Approximation and Projection) dimensionality reduction techniques, with data points plotted on a two-dimensional plane, indicating different cluster groupings and their proximity.&#10;&#10;AI-generated content may be incorrect.">
            <a:extLst>
              <a:ext uri="{FF2B5EF4-FFF2-40B4-BE49-F238E27FC236}">
                <a16:creationId xmlns:a16="http://schemas.microsoft.com/office/drawing/2014/main" id="{FC681AFE-FF7D-EB4C-9D30-763BADDF81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764109" y="1097281"/>
            <a:ext cx="5291666" cy="4285751"/>
          </a:xfrm>
          <a:prstGeom prst="rect">
            <a:avLst/>
          </a:prstGeom>
          <a:noFill/>
        </p:spPr>
      </p:pic>
      <p:pic>
        <p:nvPicPr>
          <p:cNvPr id="4" name="Content Placeholder 3">
            <a:extLst>
              <a:ext uri="{FF2B5EF4-FFF2-40B4-BE49-F238E27FC236}">
                <a16:creationId xmlns:a16="http://schemas.microsoft.com/office/drawing/2014/main" id="{5748A47C-C561-B4D2-1941-3039B4EC321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bwMode="auto">
          <a:xfrm>
            <a:off x="555780" y="1097281"/>
            <a:ext cx="5291667" cy="4663438"/>
          </a:xfrm>
          <a:prstGeom prst="rect">
            <a:avLst/>
          </a:prstGeom>
          <a:noFill/>
        </p:spPr>
      </p:pic>
    </p:spTree>
    <p:extLst>
      <p:ext uri="{BB962C8B-B14F-4D97-AF65-F5344CB8AC3E}">
        <p14:creationId xmlns:p14="http://schemas.microsoft.com/office/powerpoint/2010/main" val="1941200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Freeform: Shape 18">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EAAEC01-F062-7195-90F3-1B9DE543BF24}"/>
              </a:ext>
            </a:extLst>
          </p:cNvPr>
          <p:cNvSpPr>
            <a:spLocks noGrp="1"/>
          </p:cNvSpPr>
          <p:nvPr>
            <p:ph type="ctrTitle"/>
          </p:nvPr>
        </p:nvSpPr>
        <p:spPr>
          <a:xfrm>
            <a:off x="1524003" y="1999615"/>
            <a:ext cx="9144000" cy="2764028"/>
          </a:xfrm>
        </p:spPr>
        <p:txBody>
          <a:bodyPr anchor="ctr">
            <a:normAutofit/>
          </a:bodyPr>
          <a:lstStyle/>
          <a:p>
            <a:r>
              <a:rPr lang="en-US" sz="7200" dirty="0"/>
              <a:t>Comparison</a:t>
            </a:r>
            <a:br>
              <a:rPr lang="en-US" sz="7200" dirty="0"/>
            </a:br>
            <a:r>
              <a:rPr lang="en-US" sz="7200" dirty="0"/>
              <a:t>of Methods</a:t>
            </a:r>
          </a:p>
        </p:txBody>
      </p:sp>
      <p:sp>
        <p:nvSpPr>
          <p:cNvPr id="20" name="Rectangle 19">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0190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6152AB-DB4E-43E1-BE8B-9E2B5DE4C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74329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729038"/>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3756C35-4740-BFC3-EF86-A93F71286126}"/>
              </a:ext>
            </a:extLst>
          </p:cNvPr>
          <p:cNvSpPr>
            <a:spLocks noGrp="1"/>
          </p:cNvSpPr>
          <p:nvPr>
            <p:ph type="title"/>
          </p:nvPr>
        </p:nvSpPr>
        <p:spPr>
          <a:xfrm>
            <a:off x="1115568" y="347730"/>
            <a:ext cx="10168128" cy="2052034"/>
          </a:xfrm>
        </p:spPr>
        <p:txBody>
          <a:bodyPr>
            <a:normAutofit/>
          </a:bodyPr>
          <a:lstStyle/>
          <a:p>
            <a:r>
              <a:rPr lang="en-US" sz="4800"/>
              <a:t>Metrics by Clustering Method</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101050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040894F2-FAB5-B4BC-7D64-980EBAAD1B21}"/>
              </a:ext>
            </a:extLst>
          </p:cNvPr>
          <p:cNvGraphicFramePr>
            <a:graphicFrameLocks noGrp="1"/>
          </p:cNvGraphicFramePr>
          <p:nvPr>
            <p:ph idx="1"/>
            <p:extLst>
              <p:ext uri="{D42A27DB-BD31-4B8C-83A1-F6EECF244321}">
                <p14:modId xmlns:p14="http://schemas.microsoft.com/office/powerpoint/2010/main" val="2520980659"/>
              </p:ext>
            </p:extLst>
          </p:nvPr>
        </p:nvGraphicFramePr>
        <p:xfrm>
          <a:off x="1115568" y="2743290"/>
          <a:ext cx="10168129" cy="2932965"/>
        </p:xfrm>
        <a:graphic>
          <a:graphicData uri="http://schemas.openxmlformats.org/drawingml/2006/table">
            <a:tbl>
              <a:tblPr firstRow="1" firstCol="1" bandRow="1">
                <a:tableStyleId>{5C22544A-7EE6-4342-B048-85BDC9FD1C3A}</a:tableStyleId>
              </a:tblPr>
              <a:tblGrid>
                <a:gridCol w="1123995">
                  <a:extLst>
                    <a:ext uri="{9D8B030D-6E8A-4147-A177-3AD203B41FA5}">
                      <a16:colId xmlns:a16="http://schemas.microsoft.com/office/drawing/2014/main" val="3122825980"/>
                    </a:ext>
                  </a:extLst>
                </a:gridCol>
                <a:gridCol w="1836186">
                  <a:extLst>
                    <a:ext uri="{9D8B030D-6E8A-4147-A177-3AD203B41FA5}">
                      <a16:colId xmlns:a16="http://schemas.microsoft.com/office/drawing/2014/main" val="3585042791"/>
                    </a:ext>
                  </a:extLst>
                </a:gridCol>
                <a:gridCol w="1711612">
                  <a:extLst>
                    <a:ext uri="{9D8B030D-6E8A-4147-A177-3AD203B41FA5}">
                      <a16:colId xmlns:a16="http://schemas.microsoft.com/office/drawing/2014/main" val="661496332"/>
                    </a:ext>
                  </a:extLst>
                </a:gridCol>
                <a:gridCol w="2621243">
                  <a:extLst>
                    <a:ext uri="{9D8B030D-6E8A-4147-A177-3AD203B41FA5}">
                      <a16:colId xmlns:a16="http://schemas.microsoft.com/office/drawing/2014/main" val="2166331216"/>
                    </a:ext>
                  </a:extLst>
                </a:gridCol>
                <a:gridCol w="2875093">
                  <a:extLst>
                    <a:ext uri="{9D8B030D-6E8A-4147-A177-3AD203B41FA5}">
                      <a16:colId xmlns:a16="http://schemas.microsoft.com/office/drawing/2014/main" val="3599618300"/>
                    </a:ext>
                  </a:extLst>
                </a:gridCol>
              </a:tblGrid>
              <a:tr h="960968">
                <a:tc>
                  <a:txBody>
                    <a:bodyPr/>
                    <a:lstStyle/>
                    <a:p>
                      <a:pPr marL="0" marR="0" algn="just">
                        <a:lnSpc>
                          <a:spcPct val="115000"/>
                        </a:lnSpc>
                        <a:spcAft>
                          <a:spcPts val="800"/>
                        </a:spcAft>
                        <a:buNone/>
                      </a:pPr>
                      <a:r>
                        <a:rPr lang="en-US" sz="1800" kern="100">
                          <a:effectLst/>
                        </a:rPr>
                        <a:t>Method</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Silhouette Score</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dirty="0">
                          <a:effectLst/>
                        </a:rPr>
                        <a:t>Davies-Bouldin Index</a:t>
                      </a: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dirty="0" err="1">
                          <a:effectLst/>
                        </a:rPr>
                        <a:t>Calinski-Harabasz</a:t>
                      </a:r>
                      <a:r>
                        <a:rPr lang="en-US" sz="1800" kern="100" dirty="0">
                          <a:effectLst/>
                        </a:rPr>
                        <a:t> Index</a:t>
                      </a: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BIC and AIC (GMM only)</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extLst>
                  <a:ext uri="{0D108BD9-81ED-4DB2-BD59-A6C34878D82A}">
                    <a16:rowId xmlns:a16="http://schemas.microsoft.com/office/drawing/2014/main" val="4049163273"/>
                  </a:ext>
                </a:extLst>
              </a:tr>
              <a:tr h="531451">
                <a:tc>
                  <a:txBody>
                    <a:bodyPr/>
                    <a:lstStyle/>
                    <a:p>
                      <a:pPr marL="0" marR="0" algn="just">
                        <a:lnSpc>
                          <a:spcPct val="115000"/>
                        </a:lnSpc>
                        <a:spcAft>
                          <a:spcPts val="800"/>
                        </a:spcAft>
                        <a:buNone/>
                      </a:pPr>
                      <a:r>
                        <a:rPr lang="en-US" sz="1800" kern="100">
                          <a:effectLst/>
                        </a:rPr>
                        <a:t>K-means</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0.2153</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1.4129</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1205.100</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N/A</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extLst>
                  <a:ext uri="{0D108BD9-81ED-4DB2-BD59-A6C34878D82A}">
                    <a16:rowId xmlns:a16="http://schemas.microsoft.com/office/drawing/2014/main" val="3704735058"/>
                  </a:ext>
                </a:extLst>
              </a:tr>
              <a:tr h="531451">
                <a:tc>
                  <a:txBody>
                    <a:bodyPr/>
                    <a:lstStyle/>
                    <a:p>
                      <a:pPr marL="0" marR="0" algn="just">
                        <a:lnSpc>
                          <a:spcPct val="115000"/>
                        </a:lnSpc>
                        <a:spcAft>
                          <a:spcPts val="800"/>
                        </a:spcAft>
                        <a:buNone/>
                      </a:pPr>
                      <a:r>
                        <a:rPr lang="en-US" sz="1800" kern="100">
                          <a:effectLst/>
                        </a:rPr>
                        <a:t>DBSCAN</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0.4811</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0.7432</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96.64</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N/A</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extLst>
                  <a:ext uri="{0D108BD9-81ED-4DB2-BD59-A6C34878D82A}">
                    <a16:rowId xmlns:a16="http://schemas.microsoft.com/office/drawing/2014/main" val="2914779083"/>
                  </a:ext>
                </a:extLst>
              </a:tr>
              <a:tr h="909095">
                <a:tc>
                  <a:txBody>
                    <a:bodyPr/>
                    <a:lstStyle/>
                    <a:p>
                      <a:pPr marL="0" marR="0" algn="just">
                        <a:lnSpc>
                          <a:spcPct val="115000"/>
                        </a:lnSpc>
                        <a:spcAft>
                          <a:spcPts val="800"/>
                        </a:spcAft>
                        <a:buNone/>
                      </a:pPr>
                      <a:r>
                        <a:rPr lang="en-US" sz="1800" kern="100">
                          <a:effectLst/>
                        </a:rPr>
                        <a:t>GMM</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0.1746</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1.9078</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a:effectLst/>
                        </a:rPr>
                        <a:t>991.79</a:t>
                      </a:r>
                      <a:endParaRPr lang="en-US" sz="1800" kern="100">
                        <a:effectLst/>
                        <a:latin typeface="Aptos" panose="020B0004020202020204" pitchFamily="34" charset="0"/>
                        <a:ea typeface="Aptos" panose="020B0004020202020204" pitchFamily="34" charset="0"/>
                        <a:cs typeface="Mangal" panose="02040503050203030202" pitchFamily="18" charset="0"/>
                      </a:endParaRPr>
                    </a:p>
                  </a:txBody>
                  <a:tcPr marL="18804" marR="18804" marT="18804" marB="18804"/>
                </a:tc>
                <a:tc>
                  <a:txBody>
                    <a:bodyPr/>
                    <a:lstStyle/>
                    <a:p>
                      <a:pPr marL="0" marR="0" algn="just">
                        <a:lnSpc>
                          <a:spcPct val="115000"/>
                        </a:lnSpc>
                        <a:spcAft>
                          <a:spcPts val="800"/>
                        </a:spcAft>
                        <a:buNone/>
                      </a:pPr>
                      <a:r>
                        <a:rPr lang="en-US" sz="1800" kern="100" dirty="0">
                          <a:effectLst/>
                        </a:rPr>
                        <a:t>-83512.20 (BIC)            -82871.84 (AIC)</a:t>
                      </a: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txBody>
                  <a:tcPr marL="94019" marR="94019" marT="0" marB="0"/>
                </a:tc>
                <a:extLst>
                  <a:ext uri="{0D108BD9-81ED-4DB2-BD59-A6C34878D82A}">
                    <a16:rowId xmlns:a16="http://schemas.microsoft.com/office/drawing/2014/main" val="1964473350"/>
                  </a:ext>
                </a:extLst>
              </a:tr>
            </a:tbl>
          </a:graphicData>
        </a:graphic>
      </p:graphicFrame>
    </p:spTree>
    <p:extLst>
      <p:ext uri="{BB962C8B-B14F-4D97-AF65-F5344CB8AC3E}">
        <p14:creationId xmlns:p14="http://schemas.microsoft.com/office/powerpoint/2010/main" val="1189733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0EF09-E629-046F-A70B-46185501A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DA26D-E7C7-52CB-C160-D71817CD687F}"/>
              </a:ext>
            </a:extLst>
          </p:cNvPr>
          <p:cNvSpPr>
            <a:spLocks noGrp="1"/>
          </p:cNvSpPr>
          <p:nvPr>
            <p:ph type="title"/>
          </p:nvPr>
        </p:nvSpPr>
        <p:spPr/>
        <p:txBody>
          <a:bodyPr/>
          <a:lstStyle/>
          <a:p>
            <a:r>
              <a:rPr lang="en-US" dirty="0"/>
              <a:t>DBSCAN</a:t>
            </a:r>
          </a:p>
        </p:txBody>
      </p:sp>
      <p:graphicFrame>
        <p:nvGraphicFramePr>
          <p:cNvPr id="4" name="Content Placeholder 3">
            <a:extLst>
              <a:ext uri="{FF2B5EF4-FFF2-40B4-BE49-F238E27FC236}">
                <a16:creationId xmlns:a16="http://schemas.microsoft.com/office/drawing/2014/main" id="{0F3ED678-CA7A-64A6-0C4B-CEBF045DB9FC}"/>
              </a:ext>
            </a:extLst>
          </p:cNvPr>
          <p:cNvGraphicFramePr>
            <a:graphicFrameLocks noGrp="1"/>
          </p:cNvGraphicFramePr>
          <p:nvPr>
            <p:ph idx="1"/>
          </p:nvPr>
        </p:nvGraphicFramePr>
        <p:xfrm>
          <a:off x="838200" y="1719179"/>
          <a:ext cx="10698126" cy="971550"/>
        </p:xfrm>
        <a:graphic>
          <a:graphicData uri="http://schemas.openxmlformats.org/drawingml/2006/table">
            <a:tbl>
              <a:tblPr firstRow="1" firstCol="1" bandRow="1">
                <a:tableStyleId>{5C22544A-7EE6-4342-B048-85BDC9FD1C3A}</a:tableStyleId>
              </a:tblPr>
              <a:tblGrid>
                <a:gridCol w="1751343">
                  <a:extLst>
                    <a:ext uri="{9D8B030D-6E8A-4147-A177-3AD203B41FA5}">
                      <a16:colId xmlns:a16="http://schemas.microsoft.com/office/drawing/2014/main" val="3122825980"/>
                    </a:ext>
                  </a:extLst>
                </a:gridCol>
                <a:gridCol w="1751343">
                  <a:extLst>
                    <a:ext uri="{9D8B030D-6E8A-4147-A177-3AD203B41FA5}">
                      <a16:colId xmlns:a16="http://schemas.microsoft.com/office/drawing/2014/main" val="3585042791"/>
                    </a:ext>
                  </a:extLst>
                </a:gridCol>
                <a:gridCol w="1751343">
                  <a:extLst>
                    <a:ext uri="{9D8B030D-6E8A-4147-A177-3AD203B41FA5}">
                      <a16:colId xmlns:a16="http://schemas.microsoft.com/office/drawing/2014/main" val="661496332"/>
                    </a:ext>
                  </a:extLst>
                </a:gridCol>
                <a:gridCol w="2169269">
                  <a:extLst>
                    <a:ext uri="{9D8B030D-6E8A-4147-A177-3AD203B41FA5}">
                      <a16:colId xmlns:a16="http://schemas.microsoft.com/office/drawing/2014/main" val="2166331216"/>
                    </a:ext>
                  </a:extLst>
                </a:gridCol>
                <a:gridCol w="3274828">
                  <a:extLst>
                    <a:ext uri="{9D8B030D-6E8A-4147-A177-3AD203B41FA5}">
                      <a16:colId xmlns:a16="http://schemas.microsoft.com/office/drawing/2014/main" val="3599618300"/>
                    </a:ext>
                  </a:extLst>
                </a:gridCol>
              </a:tblGrid>
              <a:tr h="485775">
                <a:tc>
                  <a:txBody>
                    <a:bodyPr/>
                    <a:lstStyle/>
                    <a:p>
                      <a:pPr marL="0" marR="0" algn="just">
                        <a:lnSpc>
                          <a:spcPct val="115000"/>
                        </a:lnSpc>
                        <a:spcAft>
                          <a:spcPts val="800"/>
                        </a:spcAft>
                        <a:buNone/>
                      </a:pPr>
                      <a:r>
                        <a:rPr lang="en-US" sz="1200" kern="100" dirty="0">
                          <a:effectLst/>
                        </a:rPr>
                        <a:t>Method</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Silhouette Score</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a:effectLst/>
                        </a:rPr>
                        <a:t>Davies-Bouldin Index</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Calinski-</a:t>
                      </a:r>
                      <a:r>
                        <a:rPr lang="en-US" sz="1200" kern="100" dirty="0" err="1">
                          <a:effectLst/>
                        </a:rPr>
                        <a:t>Harabasz</a:t>
                      </a:r>
                      <a:r>
                        <a:rPr lang="en-US" sz="1200" kern="100" dirty="0">
                          <a:effectLst/>
                        </a:rPr>
                        <a:t> Index</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BIC and AIC (GMM only)</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extLst>
                  <a:ext uri="{0D108BD9-81ED-4DB2-BD59-A6C34878D82A}">
                    <a16:rowId xmlns:a16="http://schemas.microsoft.com/office/drawing/2014/main" val="4049163273"/>
                  </a:ext>
                </a:extLst>
              </a:tr>
              <a:tr h="485775">
                <a:tc>
                  <a:txBody>
                    <a:bodyPr/>
                    <a:lstStyle/>
                    <a:p>
                      <a:pPr marL="0" marR="0" algn="just">
                        <a:lnSpc>
                          <a:spcPct val="115000"/>
                        </a:lnSpc>
                        <a:spcAft>
                          <a:spcPts val="800"/>
                        </a:spcAft>
                        <a:buNone/>
                      </a:pPr>
                      <a:r>
                        <a:rPr lang="en-US" sz="1200" kern="100">
                          <a:effectLst/>
                        </a:rPr>
                        <a:t>DBSCAN</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a:effectLst/>
                        </a:rPr>
                        <a:t>0.4811</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a:effectLst/>
                        </a:rPr>
                        <a:t>0.7432</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a:effectLst/>
                        </a:rPr>
                        <a:t>96.64</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N/A</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extLst>
                  <a:ext uri="{0D108BD9-81ED-4DB2-BD59-A6C34878D82A}">
                    <a16:rowId xmlns:a16="http://schemas.microsoft.com/office/drawing/2014/main" val="2914779083"/>
                  </a:ext>
                </a:extLst>
              </a:tr>
            </a:tbl>
          </a:graphicData>
        </a:graphic>
      </p:graphicFrame>
      <p:pic>
        <p:nvPicPr>
          <p:cNvPr id="3" name="Picture 2">
            <a:extLst>
              <a:ext uri="{FF2B5EF4-FFF2-40B4-BE49-F238E27FC236}">
                <a16:creationId xmlns:a16="http://schemas.microsoft.com/office/drawing/2014/main" id="{ED72BE21-6C64-16AF-2444-2DC1CB6657A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23089" y="3293871"/>
            <a:ext cx="4524817" cy="2653009"/>
          </a:xfrm>
          <a:prstGeom prst="rect">
            <a:avLst/>
          </a:prstGeom>
          <a:noFill/>
          <a:ln>
            <a:noFill/>
          </a:ln>
        </p:spPr>
      </p:pic>
      <p:sp>
        <p:nvSpPr>
          <p:cNvPr id="5" name="TextBox 4">
            <a:extLst>
              <a:ext uri="{FF2B5EF4-FFF2-40B4-BE49-F238E27FC236}">
                <a16:creationId xmlns:a16="http://schemas.microsoft.com/office/drawing/2014/main" id="{2C55061F-9BBC-E251-73F7-46336843AC9C}"/>
              </a:ext>
            </a:extLst>
          </p:cNvPr>
          <p:cNvSpPr txBox="1"/>
          <p:nvPr/>
        </p:nvSpPr>
        <p:spPr>
          <a:xfrm>
            <a:off x="838200" y="3429000"/>
            <a:ext cx="6498264" cy="2308324"/>
          </a:xfrm>
          <a:prstGeom prst="rect">
            <a:avLst/>
          </a:prstGeom>
          <a:noFill/>
        </p:spPr>
        <p:txBody>
          <a:bodyPr wrap="square" rtlCol="0">
            <a:spAutoFit/>
          </a:bodyPr>
          <a:lstStyle/>
          <a:p>
            <a:pPr marL="285750" indent="-285750">
              <a:buFont typeface="Arial" panose="020B0604020202020204" pitchFamily="34" charset="0"/>
              <a:buChar char="•"/>
            </a:pPr>
            <a:r>
              <a:rPr lang="en-US" dirty="0"/>
              <a:t>Scores highest for Davies-Bouldin index and silhouette width</a:t>
            </a:r>
          </a:p>
          <a:p>
            <a:pPr marL="285750" indent="-285750">
              <a:buFont typeface="Arial" panose="020B0604020202020204" pitchFamily="34" charset="0"/>
              <a:buChar char="•"/>
            </a:pPr>
            <a:r>
              <a:rPr lang="en-US" dirty="0"/>
              <a:t>Most distinct and well-separated clusters</a:t>
            </a:r>
          </a:p>
          <a:p>
            <a:pPr marL="285750" indent="-285750">
              <a:buFont typeface="Arial" panose="020B0604020202020204" pitchFamily="34" charset="0"/>
              <a:buChar char="•"/>
            </a:pPr>
            <a:r>
              <a:rPr lang="en-US" dirty="0"/>
              <a:t>Very low </a:t>
            </a:r>
            <a:r>
              <a:rPr lang="en-US" dirty="0" err="1"/>
              <a:t>Calinski-Harabasz</a:t>
            </a:r>
            <a:r>
              <a:rPr lang="en-US" dirty="0"/>
              <a:t> index, likely due to the non-spherical cluster shapes</a:t>
            </a:r>
          </a:p>
          <a:p>
            <a:pPr marL="285750" indent="-285750">
              <a:buFont typeface="Arial" panose="020B0604020202020204" pitchFamily="34" charset="0"/>
              <a:buChar char="•"/>
            </a:pPr>
            <a:r>
              <a:rPr lang="en-US" dirty="0"/>
              <a:t>Dominated by cluster 1 with 5,728 observations while cluster two has 26 and cluster three has 5</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267056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44862-EE94-1ACB-3452-DE3064FDD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CCFCB-E0C4-47A6-357B-39D8AB587B13}"/>
              </a:ext>
            </a:extLst>
          </p:cNvPr>
          <p:cNvSpPr>
            <a:spLocks noGrp="1"/>
          </p:cNvSpPr>
          <p:nvPr>
            <p:ph type="title"/>
          </p:nvPr>
        </p:nvSpPr>
        <p:spPr/>
        <p:txBody>
          <a:bodyPr/>
          <a:lstStyle/>
          <a:p>
            <a:r>
              <a:rPr lang="en-US" dirty="0"/>
              <a:t>GMM</a:t>
            </a:r>
          </a:p>
        </p:txBody>
      </p:sp>
      <p:graphicFrame>
        <p:nvGraphicFramePr>
          <p:cNvPr id="4" name="Content Placeholder 3">
            <a:extLst>
              <a:ext uri="{FF2B5EF4-FFF2-40B4-BE49-F238E27FC236}">
                <a16:creationId xmlns:a16="http://schemas.microsoft.com/office/drawing/2014/main" id="{C7B74633-1302-269F-404A-C26370D22DCE}"/>
              </a:ext>
            </a:extLst>
          </p:cNvPr>
          <p:cNvGraphicFramePr>
            <a:graphicFrameLocks noGrp="1"/>
          </p:cNvGraphicFramePr>
          <p:nvPr>
            <p:ph idx="1"/>
          </p:nvPr>
        </p:nvGraphicFramePr>
        <p:xfrm>
          <a:off x="838200" y="1719179"/>
          <a:ext cx="10698126" cy="971550"/>
        </p:xfrm>
        <a:graphic>
          <a:graphicData uri="http://schemas.openxmlformats.org/drawingml/2006/table">
            <a:tbl>
              <a:tblPr firstRow="1" firstCol="1" bandRow="1">
                <a:tableStyleId>{5C22544A-7EE6-4342-B048-85BDC9FD1C3A}</a:tableStyleId>
              </a:tblPr>
              <a:tblGrid>
                <a:gridCol w="1751343">
                  <a:extLst>
                    <a:ext uri="{9D8B030D-6E8A-4147-A177-3AD203B41FA5}">
                      <a16:colId xmlns:a16="http://schemas.microsoft.com/office/drawing/2014/main" val="3122825980"/>
                    </a:ext>
                  </a:extLst>
                </a:gridCol>
                <a:gridCol w="1751343">
                  <a:extLst>
                    <a:ext uri="{9D8B030D-6E8A-4147-A177-3AD203B41FA5}">
                      <a16:colId xmlns:a16="http://schemas.microsoft.com/office/drawing/2014/main" val="3585042791"/>
                    </a:ext>
                  </a:extLst>
                </a:gridCol>
                <a:gridCol w="1751343">
                  <a:extLst>
                    <a:ext uri="{9D8B030D-6E8A-4147-A177-3AD203B41FA5}">
                      <a16:colId xmlns:a16="http://schemas.microsoft.com/office/drawing/2014/main" val="661496332"/>
                    </a:ext>
                  </a:extLst>
                </a:gridCol>
                <a:gridCol w="2169269">
                  <a:extLst>
                    <a:ext uri="{9D8B030D-6E8A-4147-A177-3AD203B41FA5}">
                      <a16:colId xmlns:a16="http://schemas.microsoft.com/office/drawing/2014/main" val="2166331216"/>
                    </a:ext>
                  </a:extLst>
                </a:gridCol>
                <a:gridCol w="3274828">
                  <a:extLst>
                    <a:ext uri="{9D8B030D-6E8A-4147-A177-3AD203B41FA5}">
                      <a16:colId xmlns:a16="http://schemas.microsoft.com/office/drawing/2014/main" val="3599618300"/>
                    </a:ext>
                  </a:extLst>
                </a:gridCol>
              </a:tblGrid>
              <a:tr h="485775">
                <a:tc>
                  <a:txBody>
                    <a:bodyPr/>
                    <a:lstStyle/>
                    <a:p>
                      <a:pPr marL="0" marR="0" algn="just">
                        <a:lnSpc>
                          <a:spcPct val="115000"/>
                        </a:lnSpc>
                        <a:spcAft>
                          <a:spcPts val="800"/>
                        </a:spcAft>
                        <a:buNone/>
                      </a:pPr>
                      <a:r>
                        <a:rPr lang="en-US" sz="1200" kern="100" dirty="0">
                          <a:effectLst/>
                        </a:rPr>
                        <a:t>Method</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Silhouette Score</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a:effectLst/>
                        </a:rPr>
                        <a:t>Davies-Bouldin Index</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Calinski-</a:t>
                      </a:r>
                      <a:r>
                        <a:rPr lang="en-US" sz="1200" kern="100" dirty="0" err="1">
                          <a:effectLst/>
                        </a:rPr>
                        <a:t>Harabasz</a:t>
                      </a:r>
                      <a:r>
                        <a:rPr lang="en-US" sz="1200" kern="100" dirty="0">
                          <a:effectLst/>
                        </a:rPr>
                        <a:t> Index</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BIC and AIC (GMM only)</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extLst>
                  <a:ext uri="{0D108BD9-81ED-4DB2-BD59-A6C34878D82A}">
                    <a16:rowId xmlns:a16="http://schemas.microsoft.com/office/drawing/2014/main" val="4049163273"/>
                  </a:ext>
                </a:extLst>
              </a:tr>
              <a:tr h="485775">
                <a:tc>
                  <a:txBody>
                    <a:bodyPr/>
                    <a:lstStyle/>
                    <a:p>
                      <a:pPr marL="0" marR="0" algn="just">
                        <a:lnSpc>
                          <a:spcPct val="115000"/>
                        </a:lnSpc>
                        <a:spcAft>
                          <a:spcPts val="800"/>
                        </a:spcAft>
                        <a:buNone/>
                      </a:pPr>
                      <a:r>
                        <a:rPr lang="en-US" sz="1200" kern="100">
                          <a:effectLst/>
                        </a:rPr>
                        <a:t>GMM</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a:effectLst/>
                        </a:rPr>
                        <a:t>0.1746</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a:effectLst/>
                        </a:rPr>
                        <a:t>1.9078</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991.79</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-83512.20 (BIC)            -82871.84 (AIC)</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extLst>
                  <a:ext uri="{0D108BD9-81ED-4DB2-BD59-A6C34878D82A}">
                    <a16:rowId xmlns:a16="http://schemas.microsoft.com/office/drawing/2014/main" val="2914779083"/>
                  </a:ext>
                </a:extLst>
              </a:tr>
            </a:tbl>
          </a:graphicData>
        </a:graphic>
      </p:graphicFrame>
      <p:sp>
        <p:nvSpPr>
          <p:cNvPr id="5" name="TextBox 4">
            <a:extLst>
              <a:ext uri="{FF2B5EF4-FFF2-40B4-BE49-F238E27FC236}">
                <a16:creationId xmlns:a16="http://schemas.microsoft.com/office/drawing/2014/main" id="{D51A2324-3E05-F15C-0C64-CC37B912EB8A}"/>
              </a:ext>
            </a:extLst>
          </p:cNvPr>
          <p:cNvSpPr txBox="1"/>
          <p:nvPr/>
        </p:nvSpPr>
        <p:spPr>
          <a:xfrm>
            <a:off x="574158" y="3429000"/>
            <a:ext cx="6485861" cy="2585323"/>
          </a:xfrm>
          <a:prstGeom prst="rect">
            <a:avLst/>
          </a:prstGeom>
          <a:noFill/>
        </p:spPr>
        <p:txBody>
          <a:bodyPr wrap="square" rtlCol="0">
            <a:spAutoFit/>
          </a:bodyPr>
          <a:lstStyle/>
          <a:p>
            <a:pPr marL="285750" indent="-285750">
              <a:buFont typeface="Arial" panose="020B0604020202020204" pitchFamily="34" charset="0"/>
              <a:buChar char="•"/>
            </a:pPr>
            <a:r>
              <a:rPr lang="en-US" dirty="0"/>
              <a:t>Performed the worst for both silhouette score and the Davies-Bouldin index</a:t>
            </a:r>
          </a:p>
          <a:p>
            <a:pPr marL="285750" indent="-285750">
              <a:buFont typeface="Arial" panose="020B0604020202020204" pitchFamily="34" charset="0"/>
              <a:buChar char="•"/>
            </a:pPr>
            <a:r>
              <a:rPr lang="en-US" dirty="0"/>
              <a:t>Least distinct clusters, with overlap between all clusters</a:t>
            </a:r>
          </a:p>
          <a:p>
            <a:pPr marL="285750" indent="-285750">
              <a:buFont typeface="Arial" panose="020B0604020202020204" pitchFamily="34" charset="0"/>
              <a:buChar char="•"/>
            </a:pPr>
            <a:r>
              <a:rPr lang="en-US" dirty="0"/>
              <a:t>Cluster two has a negative silhouette width, indicating that its members may belong to a different natural grouping</a:t>
            </a:r>
          </a:p>
          <a:p>
            <a:pPr marL="285750" indent="-285750">
              <a:buFont typeface="Arial" panose="020B0604020202020204" pitchFamily="34" charset="0"/>
              <a:buChar char="•"/>
            </a:pPr>
            <a:r>
              <a:rPr lang="en-US" dirty="0"/>
              <a:t>The </a:t>
            </a:r>
            <a:r>
              <a:rPr lang="en-US" dirty="0" err="1"/>
              <a:t>Calinski-Harabasz</a:t>
            </a:r>
            <a:r>
              <a:rPr lang="en-US" dirty="0"/>
              <a:t> index is much higher than we saw with DBSCAN, as the GMM produced more spherical clusters</a:t>
            </a:r>
          </a:p>
          <a:p>
            <a:pPr marL="285750" indent="-285750">
              <a:buFont typeface="Arial" panose="020B0604020202020204" pitchFamily="34" charset="0"/>
              <a:buChar char="•"/>
            </a:pPr>
            <a:r>
              <a:rPr lang="en-US" dirty="0"/>
              <a:t>The cluster sizes are much more reasonable and balanced</a:t>
            </a:r>
          </a:p>
          <a:p>
            <a:pPr marL="285750" indent="-285750">
              <a:buFont typeface="Arial" panose="020B0604020202020204" pitchFamily="34" charset="0"/>
              <a:buChar char="•"/>
            </a:pPr>
            <a:endParaRPr lang="en-US" dirty="0"/>
          </a:p>
        </p:txBody>
      </p:sp>
      <p:pic>
        <p:nvPicPr>
          <p:cNvPr id="6" name="Picture 5">
            <a:extLst>
              <a:ext uri="{FF2B5EF4-FFF2-40B4-BE49-F238E27FC236}">
                <a16:creationId xmlns:a16="http://schemas.microsoft.com/office/drawing/2014/main" id="{FEF3F031-D5CF-328C-DA77-7FCE92CD126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66345" y="3052528"/>
            <a:ext cx="4804144" cy="3025141"/>
          </a:xfrm>
          <a:prstGeom prst="rect">
            <a:avLst/>
          </a:prstGeom>
          <a:noFill/>
          <a:ln>
            <a:noFill/>
          </a:ln>
        </p:spPr>
      </p:pic>
    </p:spTree>
    <p:extLst>
      <p:ext uri="{BB962C8B-B14F-4D97-AF65-F5344CB8AC3E}">
        <p14:creationId xmlns:p14="http://schemas.microsoft.com/office/powerpoint/2010/main" val="9382653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470EC-F61E-D80C-3827-502054899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5484B-7120-D333-A615-2D08A9458F37}"/>
              </a:ext>
            </a:extLst>
          </p:cNvPr>
          <p:cNvSpPr>
            <a:spLocks noGrp="1"/>
          </p:cNvSpPr>
          <p:nvPr>
            <p:ph type="title"/>
          </p:nvPr>
        </p:nvSpPr>
        <p:spPr/>
        <p:txBody>
          <a:bodyPr/>
          <a:lstStyle/>
          <a:p>
            <a:r>
              <a:rPr lang="en-US" dirty="0"/>
              <a:t>K-Means</a:t>
            </a:r>
          </a:p>
        </p:txBody>
      </p:sp>
      <p:graphicFrame>
        <p:nvGraphicFramePr>
          <p:cNvPr id="4" name="Content Placeholder 3">
            <a:extLst>
              <a:ext uri="{FF2B5EF4-FFF2-40B4-BE49-F238E27FC236}">
                <a16:creationId xmlns:a16="http://schemas.microsoft.com/office/drawing/2014/main" id="{62DFF764-C93B-1AB3-498D-AFFFC45D26E9}"/>
              </a:ext>
            </a:extLst>
          </p:cNvPr>
          <p:cNvGraphicFramePr>
            <a:graphicFrameLocks noGrp="1"/>
          </p:cNvGraphicFramePr>
          <p:nvPr>
            <p:ph idx="1"/>
          </p:nvPr>
        </p:nvGraphicFramePr>
        <p:xfrm>
          <a:off x="838200" y="1719179"/>
          <a:ext cx="10698126" cy="971550"/>
        </p:xfrm>
        <a:graphic>
          <a:graphicData uri="http://schemas.openxmlformats.org/drawingml/2006/table">
            <a:tbl>
              <a:tblPr firstRow="1" firstCol="1" bandRow="1">
                <a:tableStyleId>{5C22544A-7EE6-4342-B048-85BDC9FD1C3A}</a:tableStyleId>
              </a:tblPr>
              <a:tblGrid>
                <a:gridCol w="1751343">
                  <a:extLst>
                    <a:ext uri="{9D8B030D-6E8A-4147-A177-3AD203B41FA5}">
                      <a16:colId xmlns:a16="http://schemas.microsoft.com/office/drawing/2014/main" val="3122825980"/>
                    </a:ext>
                  </a:extLst>
                </a:gridCol>
                <a:gridCol w="1751343">
                  <a:extLst>
                    <a:ext uri="{9D8B030D-6E8A-4147-A177-3AD203B41FA5}">
                      <a16:colId xmlns:a16="http://schemas.microsoft.com/office/drawing/2014/main" val="3585042791"/>
                    </a:ext>
                  </a:extLst>
                </a:gridCol>
                <a:gridCol w="1751343">
                  <a:extLst>
                    <a:ext uri="{9D8B030D-6E8A-4147-A177-3AD203B41FA5}">
                      <a16:colId xmlns:a16="http://schemas.microsoft.com/office/drawing/2014/main" val="661496332"/>
                    </a:ext>
                  </a:extLst>
                </a:gridCol>
                <a:gridCol w="2169269">
                  <a:extLst>
                    <a:ext uri="{9D8B030D-6E8A-4147-A177-3AD203B41FA5}">
                      <a16:colId xmlns:a16="http://schemas.microsoft.com/office/drawing/2014/main" val="2166331216"/>
                    </a:ext>
                  </a:extLst>
                </a:gridCol>
                <a:gridCol w="3274828">
                  <a:extLst>
                    <a:ext uri="{9D8B030D-6E8A-4147-A177-3AD203B41FA5}">
                      <a16:colId xmlns:a16="http://schemas.microsoft.com/office/drawing/2014/main" val="3599618300"/>
                    </a:ext>
                  </a:extLst>
                </a:gridCol>
              </a:tblGrid>
              <a:tr h="485775">
                <a:tc>
                  <a:txBody>
                    <a:bodyPr/>
                    <a:lstStyle/>
                    <a:p>
                      <a:pPr marL="0" marR="0" algn="just">
                        <a:lnSpc>
                          <a:spcPct val="115000"/>
                        </a:lnSpc>
                        <a:spcAft>
                          <a:spcPts val="800"/>
                        </a:spcAft>
                        <a:buNone/>
                      </a:pPr>
                      <a:r>
                        <a:rPr lang="en-US" sz="1200" kern="100" dirty="0">
                          <a:effectLst/>
                        </a:rPr>
                        <a:t>Method</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Silhouette Score</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a:effectLst/>
                        </a:rPr>
                        <a:t>Davies-Bouldin Index</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Calinski-</a:t>
                      </a:r>
                      <a:r>
                        <a:rPr lang="en-US" sz="1200" kern="100" dirty="0" err="1">
                          <a:effectLst/>
                        </a:rPr>
                        <a:t>Harabasz</a:t>
                      </a:r>
                      <a:r>
                        <a:rPr lang="en-US" sz="1200" kern="100" dirty="0">
                          <a:effectLst/>
                        </a:rPr>
                        <a:t> Index</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BIC and AIC (GMM only)</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extLst>
                  <a:ext uri="{0D108BD9-81ED-4DB2-BD59-A6C34878D82A}">
                    <a16:rowId xmlns:a16="http://schemas.microsoft.com/office/drawing/2014/main" val="4049163273"/>
                  </a:ext>
                </a:extLst>
              </a:tr>
              <a:tr h="485775">
                <a:tc>
                  <a:txBody>
                    <a:bodyPr/>
                    <a:lstStyle/>
                    <a:p>
                      <a:pPr marL="0" marR="0" algn="just">
                        <a:lnSpc>
                          <a:spcPct val="115000"/>
                        </a:lnSpc>
                        <a:spcAft>
                          <a:spcPts val="800"/>
                        </a:spcAft>
                        <a:buNone/>
                      </a:pPr>
                      <a:r>
                        <a:rPr lang="en-US" sz="1200" kern="100">
                          <a:effectLst/>
                        </a:rPr>
                        <a:t>K-means</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a:effectLst/>
                        </a:rPr>
                        <a:t>0.2153</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a:effectLst/>
                        </a:rPr>
                        <a:t>1.4129</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a:effectLst/>
                        </a:rPr>
                        <a:t>1205.100</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tc>
                  <a:txBody>
                    <a:bodyPr/>
                    <a:lstStyle/>
                    <a:p>
                      <a:pPr marL="0" marR="0" algn="just">
                        <a:lnSpc>
                          <a:spcPct val="115000"/>
                        </a:lnSpc>
                        <a:spcAft>
                          <a:spcPts val="800"/>
                        </a:spcAft>
                        <a:buNone/>
                      </a:pPr>
                      <a:r>
                        <a:rPr lang="en-US" sz="1200" kern="100" dirty="0">
                          <a:effectLst/>
                        </a:rPr>
                        <a:t>N/A</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12700" marR="12700" marT="12700" marB="12700"/>
                </a:tc>
                <a:extLst>
                  <a:ext uri="{0D108BD9-81ED-4DB2-BD59-A6C34878D82A}">
                    <a16:rowId xmlns:a16="http://schemas.microsoft.com/office/drawing/2014/main" val="2914779083"/>
                  </a:ext>
                </a:extLst>
              </a:tr>
            </a:tbl>
          </a:graphicData>
        </a:graphic>
      </p:graphicFrame>
      <p:sp>
        <p:nvSpPr>
          <p:cNvPr id="5" name="TextBox 4">
            <a:extLst>
              <a:ext uri="{FF2B5EF4-FFF2-40B4-BE49-F238E27FC236}">
                <a16:creationId xmlns:a16="http://schemas.microsoft.com/office/drawing/2014/main" id="{18E4D6F9-A1AA-F837-6C63-3881335445C0}"/>
              </a:ext>
            </a:extLst>
          </p:cNvPr>
          <p:cNvSpPr txBox="1"/>
          <p:nvPr/>
        </p:nvSpPr>
        <p:spPr>
          <a:xfrm>
            <a:off x="733646" y="3429000"/>
            <a:ext cx="6485861" cy="2308324"/>
          </a:xfrm>
          <a:prstGeom prst="rect">
            <a:avLst/>
          </a:prstGeom>
          <a:noFill/>
        </p:spPr>
        <p:txBody>
          <a:bodyPr wrap="square" rtlCol="0">
            <a:spAutoFit/>
          </a:bodyPr>
          <a:lstStyle/>
          <a:p>
            <a:pPr marL="285750" indent="-285750">
              <a:buFont typeface="Arial" panose="020B0604020202020204" pitchFamily="34" charset="0"/>
              <a:buChar char="•"/>
            </a:pPr>
            <a:r>
              <a:rPr lang="en-US" dirty="0"/>
              <a:t>Performed between the two prior models for both silhouette score and the Davies-Bouldin index</a:t>
            </a:r>
          </a:p>
          <a:p>
            <a:pPr marL="285750" indent="-285750">
              <a:buFont typeface="Arial" panose="020B0604020202020204" pitchFamily="34" charset="0"/>
              <a:buChar char="•"/>
            </a:pPr>
            <a:r>
              <a:rPr lang="en-US" dirty="0"/>
              <a:t>Cluster are better separated with less overlap when compared to GMM</a:t>
            </a:r>
          </a:p>
          <a:p>
            <a:pPr marL="285750" indent="-285750">
              <a:buFont typeface="Arial" panose="020B0604020202020204" pitchFamily="34" charset="0"/>
              <a:buChar char="•"/>
            </a:pPr>
            <a:r>
              <a:rPr lang="en-US" dirty="0"/>
              <a:t>Cluster sizes remain balanced compared to DBSCAN</a:t>
            </a:r>
          </a:p>
          <a:p>
            <a:pPr marL="285750" indent="-285750">
              <a:buFont typeface="Arial" panose="020B0604020202020204" pitchFamily="34" charset="0"/>
              <a:buChar char="•"/>
            </a:pPr>
            <a:r>
              <a:rPr lang="en-US" dirty="0"/>
              <a:t>The </a:t>
            </a:r>
            <a:r>
              <a:rPr lang="en-US" dirty="0" err="1"/>
              <a:t>Calinski-Harabasz</a:t>
            </a:r>
            <a:r>
              <a:rPr lang="en-US" dirty="0"/>
              <a:t> index is the highest of all three methods, due in part to the spherical clusters produced by K-Means</a:t>
            </a:r>
          </a:p>
        </p:txBody>
      </p:sp>
      <p:pic>
        <p:nvPicPr>
          <p:cNvPr id="3" name="Picture 2">
            <a:extLst>
              <a:ext uri="{FF2B5EF4-FFF2-40B4-BE49-F238E27FC236}">
                <a16:creationId xmlns:a16="http://schemas.microsoft.com/office/drawing/2014/main" id="{96C65344-0EFB-DCCA-54B3-77E903C11F3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81015" y="3348387"/>
            <a:ext cx="4414288" cy="2790382"/>
          </a:xfrm>
          <a:prstGeom prst="rect">
            <a:avLst/>
          </a:prstGeom>
          <a:noFill/>
          <a:ln>
            <a:noFill/>
          </a:ln>
        </p:spPr>
      </p:pic>
    </p:spTree>
    <p:extLst>
      <p:ext uri="{BB962C8B-B14F-4D97-AF65-F5344CB8AC3E}">
        <p14:creationId xmlns:p14="http://schemas.microsoft.com/office/powerpoint/2010/main" val="2243210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E62E8A-4F62-0A82-9DCD-1C160323F6BA}"/>
              </a:ext>
            </a:extLst>
          </p:cNvPr>
          <p:cNvSpPr>
            <a:spLocks noGrp="1"/>
          </p:cNvSpPr>
          <p:nvPr>
            <p:ph type="title"/>
          </p:nvPr>
        </p:nvSpPr>
        <p:spPr>
          <a:xfrm>
            <a:off x="838200" y="365125"/>
            <a:ext cx="10515600" cy="1325563"/>
          </a:xfrm>
        </p:spPr>
        <p:txBody>
          <a:bodyPr>
            <a:normAutofit/>
          </a:bodyPr>
          <a:lstStyle/>
          <a:p>
            <a:r>
              <a:rPr lang="en-US" sz="5400"/>
              <a:t>Selecting the Best Method</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3530A46-7C2B-A27D-F76D-A0413D1219BE}"/>
              </a:ext>
            </a:extLst>
          </p:cNvPr>
          <p:cNvSpPr>
            <a:spLocks noGrp="1"/>
          </p:cNvSpPr>
          <p:nvPr>
            <p:ph idx="1"/>
          </p:nvPr>
        </p:nvSpPr>
        <p:spPr>
          <a:xfrm>
            <a:off x="838200" y="1929384"/>
            <a:ext cx="10515600" cy="4251960"/>
          </a:xfrm>
        </p:spPr>
        <p:txBody>
          <a:bodyPr>
            <a:noAutofit/>
          </a:bodyPr>
          <a:lstStyle/>
          <a:p>
            <a:r>
              <a:rPr lang="en-US" sz="3200" dirty="0"/>
              <a:t>While DBSCAN had metrics indicating that it had produced the highest quality clusters, It’s enormous imbalance in cluster sizes does not allow us to distinguish between natural groupings withing the data set</a:t>
            </a:r>
          </a:p>
          <a:p>
            <a:r>
              <a:rPr lang="en-US" sz="3200" dirty="0"/>
              <a:t>The GMM method produced the least-separated clusters with high overlap, so we will not select this method either</a:t>
            </a:r>
          </a:p>
          <a:p>
            <a:r>
              <a:rPr lang="en-US" sz="3200" dirty="0"/>
              <a:t>The K-means method provided modest validation scores, but outperformed GMM while maintaining balanced clusters, making it our chosen “best method”</a:t>
            </a:r>
          </a:p>
        </p:txBody>
      </p:sp>
    </p:spTree>
    <p:extLst>
      <p:ext uri="{BB962C8B-B14F-4D97-AF65-F5344CB8AC3E}">
        <p14:creationId xmlns:p14="http://schemas.microsoft.com/office/powerpoint/2010/main" val="2049629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DB9841-E31B-5A09-E634-35F9284D6CC9}"/>
              </a:ext>
            </a:extLst>
          </p:cNvPr>
          <p:cNvSpPr>
            <a:spLocks noGrp="1"/>
          </p:cNvSpPr>
          <p:nvPr>
            <p:ph type="title"/>
          </p:nvPr>
        </p:nvSpPr>
        <p:spPr>
          <a:xfrm>
            <a:off x="838200" y="365125"/>
            <a:ext cx="10515600" cy="1325563"/>
          </a:xfrm>
        </p:spPr>
        <p:txBody>
          <a:bodyPr>
            <a:normAutofit/>
          </a:bodyPr>
          <a:lstStyle/>
          <a:p>
            <a:r>
              <a:rPr lang="en-US" sz="5400"/>
              <a:t>Cluster 1 Profile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77F3B97-844A-832B-C8FC-A55C63785C4C}"/>
              </a:ext>
            </a:extLst>
          </p:cNvPr>
          <p:cNvSpPr>
            <a:spLocks noGrp="1"/>
          </p:cNvSpPr>
          <p:nvPr>
            <p:ph idx="1"/>
          </p:nvPr>
        </p:nvSpPr>
        <p:spPr>
          <a:xfrm>
            <a:off x="838200" y="1929384"/>
            <a:ext cx="10515600" cy="4251960"/>
          </a:xfrm>
        </p:spPr>
        <p:txBody>
          <a:bodyPr>
            <a:normAutofit/>
          </a:bodyPr>
          <a:lstStyle/>
          <a:p>
            <a:r>
              <a:rPr lang="en-US" sz="3200" dirty="0"/>
              <a:t>Represents high-income participants with moderate health</a:t>
            </a:r>
          </a:p>
          <a:p>
            <a:r>
              <a:rPr lang="en-US" sz="3200" dirty="0"/>
              <a:t>Highest income to poverty ratio</a:t>
            </a:r>
          </a:p>
          <a:p>
            <a:r>
              <a:rPr lang="en-US" sz="3200" dirty="0"/>
              <a:t>Moderate values of BMI, blood pressure, and HbA1c</a:t>
            </a:r>
          </a:p>
          <a:p>
            <a:r>
              <a:rPr lang="en-US" sz="3200" dirty="0"/>
              <a:t>Participants with high socioeconomic status may have better access to healthcare, nutrition, and preventative services</a:t>
            </a:r>
          </a:p>
        </p:txBody>
      </p:sp>
    </p:spTree>
    <p:extLst>
      <p:ext uri="{BB962C8B-B14F-4D97-AF65-F5344CB8AC3E}">
        <p14:creationId xmlns:p14="http://schemas.microsoft.com/office/powerpoint/2010/main" val="1847722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D8223A-E790-72DD-3793-C458484F0A12}"/>
              </a:ext>
            </a:extLst>
          </p:cNvPr>
          <p:cNvSpPr>
            <a:spLocks noGrp="1"/>
          </p:cNvSpPr>
          <p:nvPr>
            <p:ph type="title"/>
          </p:nvPr>
        </p:nvSpPr>
        <p:spPr>
          <a:xfrm>
            <a:off x="838200" y="365125"/>
            <a:ext cx="10515600" cy="1325563"/>
          </a:xfrm>
        </p:spPr>
        <p:txBody>
          <a:bodyPr>
            <a:normAutofit/>
          </a:bodyPr>
          <a:lstStyle/>
          <a:p>
            <a:r>
              <a:rPr lang="en-US" sz="5400"/>
              <a:t>Cluster 2 Profile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4464544-8E3C-97CC-C5DE-E33F5DED98AF}"/>
              </a:ext>
            </a:extLst>
          </p:cNvPr>
          <p:cNvSpPr>
            <a:spLocks noGrp="1"/>
          </p:cNvSpPr>
          <p:nvPr>
            <p:ph idx="1"/>
          </p:nvPr>
        </p:nvSpPr>
        <p:spPr>
          <a:xfrm>
            <a:off x="838200" y="1929384"/>
            <a:ext cx="10515600" cy="4251960"/>
          </a:xfrm>
        </p:spPr>
        <p:txBody>
          <a:bodyPr>
            <a:normAutofit/>
          </a:bodyPr>
          <a:lstStyle/>
          <a:p>
            <a:r>
              <a:rPr lang="en-US" sz="3200" dirty="0"/>
              <a:t>Represents a group with high diabetes risk</a:t>
            </a:r>
          </a:p>
          <a:p>
            <a:r>
              <a:rPr lang="en-US" sz="3200" dirty="0"/>
              <a:t>Highest scores for HbA1c, indicating poor glucose regulation, increasing risk of diabetes</a:t>
            </a:r>
          </a:p>
          <a:p>
            <a:r>
              <a:rPr lang="en-US" sz="3200" dirty="0"/>
              <a:t>This group could benefit from diabetes screening, lifestyle intervention, and chronic disease management</a:t>
            </a:r>
          </a:p>
          <a:p>
            <a:endParaRPr lang="en-US" sz="2200" dirty="0"/>
          </a:p>
        </p:txBody>
      </p:sp>
    </p:spTree>
    <p:extLst>
      <p:ext uri="{BB962C8B-B14F-4D97-AF65-F5344CB8AC3E}">
        <p14:creationId xmlns:p14="http://schemas.microsoft.com/office/powerpoint/2010/main" val="21752511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B62E32-491B-EE11-C81E-819E2C1FAB65}"/>
              </a:ext>
            </a:extLst>
          </p:cNvPr>
          <p:cNvSpPr>
            <a:spLocks noGrp="1"/>
          </p:cNvSpPr>
          <p:nvPr>
            <p:ph type="title"/>
          </p:nvPr>
        </p:nvSpPr>
        <p:spPr>
          <a:xfrm>
            <a:off x="838200" y="365125"/>
            <a:ext cx="10515600" cy="1325563"/>
          </a:xfrm>
        </p:spPr>
        <p:txBody>
          <a:bodyPr>
            <a:normAutofit/>
          </a:bodyPr>
          <a:lstStyle/>
          <a:p>
            <a:r>
              <a:rPr lang="en-US" sz="5400"/>
              <a:t>Cluster 3 Profile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D29F24C-92E1-0EC8-593A-3112D18D8371}"/>
              </a:ext>
            </a:extLst>
          </p:cNvPr>
          <p:cNvSpPr>
            <a:spLocks noGrp="1"/>
          </p:cNvSpPr>
          <p:nvPr>
            <p:ph idx="1"/>
          </p:nvPr>
        </p:nvSpPr>
        <p:spPr>
          <a:xfrm>
            <a:off x="838200" y="1929384"/>
            <a:ext cx="10515600" cy="4251960"/>
          </a:xfrm>
        </p:spPr>
        <p:txBody>
          <a:bodyPr>
            <a:normAutofit/>
          </a:bodyPr>
          <a:lstStyle/>
          <a:p>
            <a:r>
              <a:rPr lang="en-US" sz="3200" dirty="0"/>
              <a:t>Represents the group of young, healthy participants</a:t>
            </a:r>
          </a:p>
          <a:p>
            <a:r>
              <a:rPr lang="en-US" sz="3200" dirty="0"/>
              <a:t>Lowest mean age</a:t>
            </a:r>
          </a:p>
          <a:p>
            <a:r>
              <a:rPr lang="en-US" sz="3200" dirty="0"/>
              <a:t>Lowest values for BMI, blood pressure, and HbA1c</a:t>
            </a:r>
          </a:p>
          <a:p>
            <a:r>
              <a:rPr lang="en-US" sz="3200" dirty="0"/>
              <a:t>Participants in this cluster are at low cardiovascular risk and low risk of diabetes</a:t>
            </a:r>
          </a:p>
        </p:txBody>
      </p:sp>
    </p:spTree>
    <p:extLst>
      <p:ext uri="{BB962C8B-B14F-4D97-AF65-F5344CB8AC3E}">
        <p14:creationId xmlns:p14="http://schemas.microsoft.com/office/powerpoint/2010/main" val="918526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4069D2-F142-57F8-C1FE-356676B3521F}"/>
              </a:ext>
            </a:extLst>
          </p:cNvPr>
          <p:cNvSpPr>
            <a:spLocks noGrp="1"/>
          </p:cNvSpPr>
          <p:nvPr>
            <p:ph type="title"/>
          </p:nvPr>
        </p:nvSpPr>
        <p:spPr>
          <a:xfrm>
            <a:off x="838200" y="365125"/>
            <a:ext cx="10515600" cy="1325563"/>
          </a:xfrm>
        </p:spPr>
        <p:txBody>
          <a:bodyPr>
            <a:normAutofit/>
          </a:bodyPr>
          <a:lstStyle/>
          <a:p>
            <a:r>
              <a:rPr lang="en-US" sz="5400"/>
              <a:t>Cluster 4 Profile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3E9A9A4-94D7-8797-F585-C0D6ABC74579}"/>
              </a:ext>
            </a:extLst>
          </p:cNvPr>
          <p:cNvSpPr>
            <a:spLocks noGrp="1"/>
          </p:cNvSpPr>
          <p:nvPr>
            <p:ph idx="1"/>
          </p:nvPr>
        </p:nvSpPr>
        <p:spPr>
          <a:xfrm>
            <a:off x="838200" y="1929384"/>
            <a:ext cx="10515600" cy="4251960"/>
          </a:xfrm>
        </p:spPr>
        <p:txBody>
          <a:bodyPr>
            <a:normAutofit/>
          </a:bodyPr>
          <a:lstStyle/>
          <a:p>
            <a:r>
              <a:rPr lang="en-US" sz="3200" dirty="0"/>
              <a:t>Represents older participants with cardiovascular risk</a:t>
            </a:r>
          </a:p>
          <a:p>
            <a:r>
              <a:rPr lang="en-US" sz="3200" dirty="0"/>
              <a:t>Highest average age</a:t>
            </a:r>
          </a:p>
          <a:p>
            <a:r>
              <a:rPr lang="en-US" sz="3200" dirty="0"/>
              <a:t>Highest systolic blood pressure, often associated with increased cardiovascular risk</a:t>
            </a:r>
          </a:p>
          <a:p>
            <a:r>
              <a:rPr lang="en-US" sz="3200" dirty="0"/>
              <a:t>Participants in this group could benefit from blood pressure monitoring or cardiovascular health programs</a:t>
            </a:r>
          </a:p>
        </p:txBody>
      </p:sp>
    </p:spTree>
    <p:extLst>
      <p:ext uri="{BB962C8B-B14F-4D97-AF65-F5344CB8AC3E}">
        <p14:creationId xmlns:p14="http://schemas.microsoft.com/office/powerpoint/2010/main" val="38890069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3EF69B-8BB9-7174-2DF6-62C38EDF98DE}"/>
              </a:ext>
            </a:extLst>
          </p:cNvPr>
          <p:cNvSpPr>
            <a:spLocks noGrp="1"/>
          </p:cNvSpPr>
          <p:nvPr>
            <p:ph type="title"/>
          </p:nvPr>
        </p:nvSpPr>
        <p:spPr>
          <a:xfrm>
            <a:off x="838200" y="365125"/>
            <a:ext cx="10515600" cy="1325563"/>
          </a:xfrm>
        </p:spPr>
        <p:txBody>
          <a:bodyPr>
            <a:normAutofit/>
          </a:bodyPr>
          <a:lstStyle/>
          <a:p>
            <a:r>
              <a:rPr lang="en-US" sz="5400"/>
              <a:t>Cluster 5 Profile</a:t>
            </a:r>
          </a:p>
        </p:txBody>
      </p:sp>
      <p:sp>
        <p:nvSpPr>
          <p:cNvPr id="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3F78CC4-37A9-9674-84DE-86155A97CB91}"/>
              </a:ext>
            </a:extLst>
          </p:cNvPr>
          <p:cNvSpPr>
            <a:spLocks noGrp="1"/>
          </p:cNvSpPr>
          <p:nvPr>
            <p:ph idx="1"/>
          </p:nvPr>
        </p:nvSpPr>
        <p:spPr>
          <a:xfrm>
            <a:off x="838199" y="1929384"/>
            <a:ext cx="11056951" cy="4707570"/>
          </a:xfrm>
        </p:spPr>
        <p:txBody>
          <a:bodyPr>
            <a:normAutofit/>
          </a:bodyPr>
          <a:lstStyle/>
          <a:p>
            <a:r>
              <a:rPr lang="en-US" sz="3200" dirty="0"/>
              <a:t>Represents participants in an obesity-related risk group</a:t>
            </a:r>
          </a:p>
          <a:p>
            <a:r>
              <a:rPr lang="en-US" sz="3200" dirty="0"/>
              <a:t>Highest BMI of any cluster</a:t>
            </a:r>
          </a:p>
          <a:p>
            <a:r>
              <a:rPr lang="en-US" sz="3200" dirty="0"/>
              <a:t>High diastolic blood pressure</a:t>
            </a:r>
          </a:p>
          <a:p>
            <a:r>
              <a:rPr lang="en-US" sz="3200" dirty="0"/>
              <a:t>Moderate scores for HbA1c and systolic blood pressure</a:t>
            </a:r>
          </a:p>
          <a:p>
            <a:r>
              <a:rPr lang="en-US" sz="3200" dirty="0"/>
              <a:t>This group could benefit from weight management, nutrition support, and physical activity</a:t>
            </a:r>
          </a:p>
        </p:txBody>
      </p:sp>
    </p:spTree>
    <p:extLst>
      <p:ext uri="{BB962C8B-B14F-4D97-AF65-F5344CB8AC3E}">
        <p14:creationId xmlns:p14="http://schemas.microsoft.com/office/powerpoint/2010/main" val="37766508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9FF5B-1A66-B94D-A97D-B99695801D8B}"/>
              </a:ext>
            </a:extLst>
          </p:cNvPr>
          <p:cNvSpPr>
            <a:spLocks noGrp="1"/>
          </p:cNvSpPr>
          <p:nvPr>
            <p:ph type="title"/>
          </p:nvPr>
        </p:nvSpPr>
        <p:spPr/>
        <p:txBody>
          <a:bodyPr/>
          <a:lstStyle/>
          <a:p>
            <a:r>
              <a:rPr lang="en-US" dirty="0"/>
              <a:t>Cluster Profiles</a:t>
            </a:r>
          </a:p>
        </p:txBody>
      </p:sp>
      <p:graphicFrame>
        <p:nvGraphicFramePr>
          <p:cNvPr id="4" name="Content Placeholder 3">
            <a:extLst>
              <a:ext uri="{FF2B5EF4-FFF2-40B4-BE49-F238E27FC236}">
                <a16:creationId xmlns:a16="http://schemas.microsoft.com/office/drawing/2014/main" id="{81B9B3AC-A864-25E7-27BB-FB53136CD066}"/>
              </a:ext>
            </a:extLst>
          </p:cNvPr>
          <p:cNvGraphicFramePr>
            <a:graphicFrameLocks noGrp="1"/>
          </p:cNvGraphicFramePr>
          <p:nvPr>
            <p:ph idx="1"/>
          </p:nvPr>
        </p:nvGraphicFramePr>
        <p:xfrm>
          <a:off x="1067542" y="1505252"/>
          <a:ext cx="9908059" cy="2322470"/>
        </p:xfrm>
        <a:graphic>
          <a:graphicData uri="http://schemas.openxmlformats.org/drawingml/2006/table">
            <a:tbl>
              <a:tblPr firstRow="1" firstCol="1" bandRow="1">
                <a:tableStyleId>{5C22544A-7EE6-4342-B048-85BDC9FD1C3A}</a:tableStyleId>
              </a:tblPr>
              <a:tblGrid>
                <a:gridCol w="1318817">
                  <a:extLst>
                    <a:ext uri="{9D8B030D-6E8A-4147-A177-3AD203B41FA5}">
                      <a16:colId xmlns:a16="http://schemas.microsoft.com/office/drawing/2014/main" val="2579116432"/>
                    </a:ext>
                  </a:extLst>
                </a:gridCol>
                <a:gridCol w="681876">
                  <a:extLst>
                    <a:ext uri="{9D8B030D-6E8A-4147-A177-3AD203B41FA5}">
                      <a16:colId xmlns:a16="http://schemas.microsoft.com/office/drawing/2014/main" val="3225326276"/>
                    </a:ext>
                  </a:extLst>
                </a:gridCol>
                <a:gridCol w="1010093">
                  <a:extLst>
                    <a:ext uri="{9D8B030D-6E8A-4147-A177-3AD203B41FA5}">
                      <a16:colId xmlns:a16="http://schemas.microsoft.com/office/drawing/2014/main" val="2269549986"/>
                    </a:ext>
                  </a:extLst>
                </a:gridCol>
                <a:gridCol w="1632183">
                  <a:extLst>
                    <a:ext uri="{9D8B030D-6E8A-4147-A177-3AD203B41FA5}">
                      <a16:colId xmlns:a16="http://schemas.microsoft.com/office/drawing/2014/main" val="773357865"/>
                    </a:ext>
                  </a:extLst>
                </a:gridCol>
                <a:gridCol w="983426">
                  <a:extLst>
                    <a:ext uri="{9D8B030D-6E8A-4147-A177-3AD203B41FA5}">
                      <a16:colId xmlns:a16="http://schemas.microsoft.com/office/drawing/2014/main" val="617591531"/>
                    </a:ext>
                  </a:extLst>
                </a:gridCol>
                <a:gridCol w="1531089">
                  <a:extLst>
                    <a:ext uri="{9D8B030D-6E8A-4147-A177-3AD203B41FA5}">
                      <a16:colId xmlns:a16="http://schemas.microsoft.com/office/drawing/2014/main" val="3296594266"/>
                    </a:ext>
                  </a:extLst>
                </a:gridCol>
                <a:gridCol w="1499190">
                  <a:extLst>
                    <a:ext uri="{9D8B030D-6E8A-4147-A177-3AD203B41FA5}">
                      <a16:colId xmlns:a16="http://schemas.microsoft.com/office/drawing/2014/main" val="2414298063"/>
                    </a:ext>
                  </a:extLst>
                </a:gridCol>
                <a:gridCol w="1251385">
                  <a:extLst>
                    <a:ext uri="{9D8B030D-6E8A-4147-A177-3AD203B41FA5}">
                      <a16:colId xmlns:a16="http://schemas.microsoft.com/office/drawing/2014/main" val="2951669672"/>
                    </a:ext>
                  </a:extLst>
                </a:gridCol>
              </a:tblGrid>
              <a:tr h="613375">
                <a:tc>
                  <a:txBody>
                    <a:bodyPr/>
                    <a:lstStyle/>
                    <a:p>
                      <a:pPr marL="0" marR="0" algn="just">
                        <a:lnSpc>
                          <a:spcPct val="115000"/>
                        </a:lnSpc>
                        <a:spcAft>
                          <a:spcPts val="800"/>
                        </a:spcAft>
                        <a:buNone/>
                      </a:pPr>
                      <a:r>
                        <a:rPr lang="en-US" sz="1200" kern="100" dirty="0" err="1">
                          <a:effectLst/>
                        </a:rPr>
                        <a:t>Kmeans</a:t>
                      </a:r>
                      <a:r>
                        <a:rPr lang="en-US" sz="1200" kern="100" dirty="0">
                          <a:effectLst/>
                        </a:rPr>
                        <a:t> cluster</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nchor="b"/>
                </a:tc>
                <a:tc>
                  <a:txBody>
                    <a:bodyPr/>
                    <a:lstStyle/>
                    <a:p>
                      <a:pPr marL="0" marR="0" algn="just">
                        <a:lnSpc>
                          <a:spcPct val="115000"/>
                        </a:lnSpc>
                        <a:spcAft>
                          <a:spcPts val="800"/>
                        </a:spcAft>
                        <a:buNone/>
                      </a:pPr>
                      <a:r>
                        <a:rPr lang="en-US" sz="1200" kern="100">
                          <a:effectLst/>
                        </a:rPr>
                        <a:t>n</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nchor="b"/>
                </a:tc>
                <a:tc>
                  <a:txBody>
                    <a:bodyPr/>
                    <a:lstStyle/>
                    <a:p>
                      <a:pPr marL="0" marR="0" algn="just">
                        <a:lnSpc>
                          <a:spcPct val="115000"/>
                        </a:lnSpc>
                        <a:spcAft>
                          <a:spcPts val="800"/>
                        </a:spcAft>
                        <a:buNone/>
                      </a:pPr>
                      <a:r>
                        <a:rPr lang="en-US" sz="1200" kern="100" dirty="0">
                          <a:effectLst/>
                        </a:rPr>
                        <a:t>Mean age</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nchor="b"/>
                </a:tc>
                <a:tc>
                  <a:txBody>
                    <a:bodyPr/>
                    <a:lstStyle/>
                    <a:p>
                      <a:pPr marL="0" marR="0" algn="just">
                        <a:lnSpc>
                          <a:spcPct val="115000"/>
                        </a:lnSpc>
                        <a:spcAft>
                          <a:spcPts val="800"/>
                        </a:spcAft>
                        <a:buNone/>
                      </a:pPr>
                      <a:r>
                        <a:rPr lang="en-US" sz="1200" kern="100" dirty="0">
                          <a:effectLst/>
                        </a:rPr>
                        <a:t>Mean income pir</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nchor="b"/>
                </a:tc>
                <a:tc>
                  <a:txBody>
                    <a:bodyPr/>
                    <a:lstStyle/>
                    <a:p>
                      <a:pPr marL="0" marR="0" algn="just">
                        <a:lnSpc>
                          <a:spcPct val="115000"/>
                        </a:lnSpc>
                        <a:spcAft>
                          <a:spcPts val="800"/>
                        </a:spcAft>
                        <a:buNone/>
                      </a:pPr>
                      <a:r>
                        <a:rPr lang="en-US" sz="1200" kern="100" dirty="0">
                          <a:effectLst/>
                        </a:rPr>
                        <a:t>Mean </a:t>
                      </a:r>
                      <a:r>
                        <a:rPr lang="en-US" sz="1200" kern="100" dirty="0" err="1">
                          <a:effectLst/>
                        </a:rPr>
                        <a:t>bmi</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nchor="b"/>
                </a:tc>
                <a:tc>
                  <a:txBody>
                    <a:bodyPr/>
                    <a:lstStyle/>
                    <a:p>
                      <a:pPr marL="0" marR="0" algn="just">
                        <a:lnSpc>
                          <a:spcPct val="115000"/>
                        </a:lnSpc>
                        <a:spcAft>
                          <a:spcPts val="800"/>
                        </a:spcAft>
                        <a:buNone/>
                      </a:pPr>
                      <a:r>
                        <a:rPr lang="en-US" sz="1200" kern="100" dirty="0">
                          <a:effectLst/>
                        </a:rPr>
                        <a:t>Mean systolic bp</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nchor="b"/>
                </a:tc>
                <a:tc>
                  <a:txBody>
                    <a:bodyPr/>
                    <a:lstStyle/>
                    <a:p>
                      <a:pPr marL="0" marR="0" algn="just">
                        <a:lnSpc>
                          <a:spcPct val="115000"/>
                        </a:lnSpc>
                        <a:spcAft>
                          <a:spcPts val="800"/>
                        </a:spcAft>
                        <a:buNone/>
                      </a:pPr>
                      <a:r>
                        <a:rPr lang="en-US" sz="1200" kern="100" dirty="0">
                          <a:effectLst/>
                        </a:rPr>
                        <a:t>Mean diastolic bp</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nchor="b"/>
                </a:tc>
                <a:tc>
                  <a:txBody>
                    <a:bodyPr/>
                    <a:lstStyle/>
                    <a:p>
                      <a:pPr marL="0" marR="0" algn="just">
                        <a:lnSpc>
                          <a:spcPct val="115000"/>
                        </a:lnSpc>
                        <a:spcAft>
                          <a:spcPts val="800"/>
                        </a:spcAft>
                        <a:buNone/>
                      </a:pPr>
                      <a:r>
                        <a:rPr lang="en-US" sz="1200" kern="100" dirty="0">
                          <a:effectLst/>
                        </a:rPr>
                        <a:t>Mean hba1c</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nchor="b"/>
                </a:tc>
                <a:extLst>
                  <a:ext uri="{0D108BD9-81ED-4DB2-BD59-A6C34878D82A}">
                    <a16:rowId xmlns:a16="http://schemas.microsoft.com/office/drawing/2014/main" val="4097161711"/>
                  </a:ext>
                </a:extLst>
              </a:tr>
              <a:tr h="341819">
                <a:tc>
                  <a:txBody>
                    <a:bodyPr/>
                    <a:lstStyle/>
                    <a:p>
                      <a:pPr marL="0" marR="0" algn="just">
                        <a:lnSpc>
                          <a:spcPct val="115000"/>
                        </a:lnSpc>
                        <a:spcAft>
                          <a:spcPts val="800"/>
                        </a:spcAft>
                        <a:buNone/>
                      </a:pPr>
                      <a:r>
                        <a:rPr lang="en-US" sz="1200" kern="100">
                          <a:effectLst/>
                        </a:rPr>
                        <a:t>1</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1317</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49.38</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dirty="0">
                          <a:effectLst/>
                        </a:rPr>
                        <a:t>4.62</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dirty="0">
                          <a:effectLst/>
                        </a:rPr>
                        <a:t>27.81</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120.37</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72.13</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5.59</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extLst>
                  <a:ext uri="{0D108BD9-81ED-4DB2-BD59-A6C34878D82A}">
                    <a16:rowId xmlns:a16="http://schemas.microsoft.com/office/drawing/2014/main" val="2646441101"/>
                  </a:ext>
                </a:extLst>
              </a:tr>
              <a:tr h="341819">
                <a:tc>
                  <a:txBody>
                    <a:bodyPr/>
                    <a:lstStyle/>
                    <a:p>
                      <a:pPr marL="0" marR="0" algn="just">
                        <a:lnSpc>
                          <a:spcPct val="115000"/>
                        </a:lnSpc>
                        <a:spcAft>
                          <a:spcPts val="800"/>
                        </a:spcAft>
                        <a:buNone/>
                      </a:pPr>
                      <a:r>
                        <a:rPr lang="en-US" sz="1200" kern="100">
                          <a:effectLst/>
                        </a:rPr>
                        <a:t>2</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314</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60.29</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2.17</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32.51</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129.50</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69.73</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9.23</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extLst>
                  <a:ext uri="{0D108BD9-81ED-4DB2-BD59-A6C34878D82A}">
                    <a16:rowId xmlns:a16="http://schemas.microsoft.com/office/drawing/2014/main" val="20725085"/>
                  </a:ext>
                </a:extLst>
              </a:tr>
              <a:tr h="341819">
                <a:tc>
                  <a:txBody>
                    <a:bodyPr/>
                    <a:lstStyle/>
                    <a:p>
                      <a:pPr marL="0" marR="0" algn="just">
                        <a:lnSpc>
                          <a:spcPct val="115000"/>
                        </a:lnSpc>
                        <a:spcAft>
                          <a:spcPts val="800"/>
                        </a:spcAft>
                        <a:buNone/>
                      </a:pPr>
                      <a:r>
                        <a:rPr lang="en-US" sz="1200" kern="100">
                          <a:effectLst/>
                        </a:rPr>
                        <a:t>3</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1709</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dirty="0">
                          <a:effectLst/>
                        </a:rPr>
                        <a:t>30.48</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1.66</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dirty="0">
                          <a:effectLst/>
                        </a:rPr>
                        <a:t>25.67</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dirty="0">
                          <a:effectLst/>
                        </a:rPr>
                        <a:t>111.58</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65.46</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5.31</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extLst>
                  <a:ext uri="{0D108BD9-81ED-4DB2-BD59-A6C34878D82A}">
                    <a16:rowId xmlns:a16="http://schemas.microsoft.com/office/drawing/2014/main" val="2537315319"/>
                  </a:ext>
                </a:extLst>
              </a:tr>
              <a:tr h="341819">
                <a:tc>
                  <a:txBody>
                    <a:bodyPr/>
                    <a:lstStyle/>
                    <a:p>
                      <a:pPr marL="0" marR="0" algn="just">
                        <a:lnSpc>
                          <a:spcPct val="115000"/>
                        </a:lnSpc>
                        <a:spcAft>
                          <a:spcPts val="800"/>
                        </a:spcAft>
                        <a:buNone/>
                      </a:pPr>
                      <a:r>
                        <a:rPr lang="en-US" sz="1200" kern="100">
                          <a:effectLst/>
                        </a:rPr>
                        <a:t>4</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1598</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66.01</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1.89</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27.80</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dirty="0">
                          <a:effectLst/>
                        </a:rPr>
                        <a:t>141.16</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75.24</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5.85</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extLst>
                  <a:ext uri="{0D108BD9-81ED-4DB2-BD59-A6C34878D82A}">
                    <a16:rowId xmlns:a16="http://schemas.microsoft.com/office/drawing/2014/main" val="1180647646"/>
                  </a:ext>
                </a:extLst>
              </a:tr>
              <a:tr h="341819">
                <a:tc>
                  <a:txBody>
                    <a:bodyPr/>
                    <a:lstStyle/>
                    <a:p>
                      <a:pPr marL="0" marR="0" algn="just">
                        <a:lnSpc>
                          <a:spcPct val="115000"/>
                        </a:lnSpc>
                        <a:spcAft>
                          <a:spcPts val="800"/>
                        </a:spcAft>
                        <a:buNone/>
                      </a:pPr>
                      <a:r>
                        <a:rPr lang="en-US" sz="1200" kern="100">
                          <a:effectLst/>
                        </a:rPr>
                        <a:t>5</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890</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43.77</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1.90</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dirty="0">
                          <a:effectLst/>
                        </a:rPr>
                        <a:t>40.97</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125.59</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a:effectLst/>
                        </a:rPr>
                        <a:t>74.69</a:t>
                      </a:r>
                      <a:endParaRPr lang="en-US" sz="1200" kern="10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tc>
                  <a:txBody>
                    <a:bodyPr/>
                    <a:lstStyle/>
                    <a:p>
                      <a:pPr marL="0" marR="0" algn="just">
                        <a:lnSpc>
                          <a:spcPct val="115000"/>
                        </a:lnSpc>
                        <a:spcAft>
                          <a:spcPts val="800"/>
                        </a:spcAft>
                        <a:buNone/>
                      </a:pPr>
                      <a:r>
                        <a:rPr lang="en-US" sz="1200" kern="100" dirty="0">
                          <a:effectLst/>
                        </a:rPr>
                        <a:t>5.74</a:t>
                      </a:r>
                      <a:endParaRPr lang="en-US" sz="1200" kern="100" dirty="0">
                        <a:effectLst/>
                        <a:latin typeface="Aptos" panose="020B0004020202020204" pitchFamily="34" charset="0"/>
                        <a:ea typeface="Aptos" panose="020B0004020202020204" pitchFamily="34" charset="0"/>
                        <a:cs typeface="Mangal" panose="02040503050203030202" pitchFamily="18" charset="0"/>
                      </a:endParaRPr>
                    </a:p>
                  </a:txBody>
                  <a:tcPr marL="63500" marR="63500" marT="0" marB="0"/>
                </a:tc>
                <a:extLst>
                  <a:ext uri="{0D108BD9-81ED-4DB2-BD59-A6C34878D82A}">
                    <a16:rowId xmlns:a16="http://schemas.microsoft.com/office/drawing/2014/main" val="3847830443"/>
                  </a:ext>
                </a:extLst>
              </a:tr>
            </a:tbl>
          </a:graphicData>
        </a:graphic>
      </p:graphicFrame>
      <p:pic>
        <p:nvPicPr>
          <p:cNvPr id="5" name="Picture 4" descr="The diagram shows the distribution of sex across different K-means clusters, with the number of clusters ranging from 2 to 6, and the percentages of female and male distributions within each cluster.&#10;&#10;AI-generated content may be incorrect.">
            <a:extLst>
              <a:ext uri="{FF2B5EF4-FFF2-40B4-BE49-F238E27FC236}">
                <a16:creationId xmlns:a16="http://schemas.microsoft.com/office/drawing/2014/main" id="{302EBC56-1CAB-1EB1-FA63-C2544D145FB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76577" y="3913665"/>
            <a:ext cx="4593264" cy="2878166"/>
          </a:xfrm>
          <a:prstGeom prst="rect">
            <a:avLst/>
          </a:prstGeom>
          <a:noFill/>
          <a:ln>
            <a:noFill/>
          </a:ln>
        </p:spPr>
      </p:pic>
    </p:spTree>
    <p:extLst>
      <p:ext uri="{BB962C8B-B14F-4D97-AF65-F5344CB8AC3E}">
        <p14:creationId xmlns:p14="http://schemas.microsoft.com/office/powerpoint/2010/main" val="42793333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FF1EA5E3-F845-65F9-3377-A6480BF125A7}"/>
              </a:ext>
            </a:extLst>
          </p:cNvPr>
          <p:cNvSpPr>
            <a:spLocks noGrp="1"/>
          </p:cNvSpPr>
          <p:nvPr>
            <p:ph type="title"/>
          </p:nvPr>
        </p:nvSpPr>
        <p:spPr>
          <a:xfrm>
            <a:off x="723901" y="509587"/>
            <a:ext cx="7649239" cy="742951"/>
          </a:xfrm>
        </p:spPr>
        <p:txBody>
          <a:bodyPr vert="horz" lIns="91440" tIns="45720" rIns="91440" bIns="45720" rtlCol="0" anchor="ctr">
            <a:normAutofit/>
          </a:bodyPr>
          <a:lstStyle/>
          <a:p>
            <a:r>
              <a:rPr lang="en-US" sz="3600" kern="1200">
                <a:solidFill>
                  <a:schemeClr val="tx1"/>
                </a:solidFill>
                <a:latin typeface="+mj-lt"/>
                <a:ea typeface="+mj-ea"/>
                <a:cs typeface="+mj-cs"/>
              </a:rPr>
              <a:t>Profile Visualization</a:t>
            </a:r>
          </a:p>
        </p:txBody>
      </p:sp>
      <p:pic>
        <p:nvPicPr>
          <p:cNvPr id="4" name="Content Placeholder 3" descr="The image is a scatter plot visualizing the distribution of various health-related metrics (age, BMI, diastolic blood pressure, HbA1c, income, and systolic blood pressure) across five distinct clusters.&#10;&#10;AI-generated content may be incorrect.">
            <a:extLst>
              <a:ext uri="{FF2B5EF4-FFF2-40B4-BE49-F238E27FC236}">
                <a16:creationId xmlns:a16="http://schemas.microsoft.com/office/drawing/2014/main" id="{512AE571-D47C-CA9E-E39C-201E0FC5C9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797582" y="2072640"/>
            <a:ext cx="10584961" cy="4128135"/>
          </a:xfrm>
          <a:prstGeom prst="rect">
            <a:avLst/>
          </a:prstGeom>
          <a:noFill/>
        </p:spPr>
      </p:pic>
      <p:sp>
        <p:nvSpPr>
          <p:cNvPr id="13" name="Freeform: Shape 12">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08397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8C9583-B903-4373-A58C-E32D8EC3C7D9}"/>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5100" kern="1200">
                <a:solidFill>
                  <a:schemeClr val="tx1"/>
                </a:solidFill>
                <a:latin typeface="+mj-lt"/>
                <a:ea typeface="+mj-ea"/>
                <a:cs typeface="+mj-cs"/>
              </a:rPr>
              <a:t>Profile Visualization</a:t>
            </a:r>
          </a:p>
        </p:txBody>
      </p:sp>
      <p:sp>
        <p:nvSpPr>
          <p:cNvPr id="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This is a heatmap illustrating the standardized mean values of various features such as age, BMI, blood pressure, and HbA1c levels across different clusters.&#10;&#10;AI-generated content may be incorrect.">
            <a:extLst>
              <a:ext uri="{FF2B5EF4-FFF2-40B4-BE49-F238E27FC236}">
                <a16:creationId xmlns:a16="http://schemas.microsoft.com/office/drawing/2014/main" id="{D07CB65E-C248-9C97-860F-15E85F7E00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654296" y="1052497"/>
            <a:ext cx="7214616" cy="4725573"/>
          </a:xfrm>
          <a:prstGeom prst="rect">
            <a:avLst/>
          </a:prstGeom>
          <a:noFill/>
        </p:spPr>
      </p:pic>
    </p:spTree>
    <p:extLst>
      <p:ext uri="{BB962C8B-B14F-4D97-AF65-F5344CB8AC3E}">
        <p14:creationId xmlns:p14="http://schemas.microsoft.com/office/powerpoint/2010/main" val="26312843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425A59-5E76-C875-2CEF-00D927DCEC90}"/>
              </a:ext>
            </a:extLst>
          </p:cNvPr>
          <p:cNvSpPr>
            <a:spLocks noGrp="1"/>
          </p:cNvSpPr>
          <p:nvPr>
            <p:ph type="title"/>
          </p:nvPr>
        </p:nvSpPr>
        <p:spPr>
          <a:xfrm>
            <a:off x="572493" y="238539"/>
            <a:ext cx="11018520" cy="1434415"/>
          </a:xfrm>
        </p:spPr>
        <p:txBody>
          <a:bodyPr anchor="b">
            <a:normAutofit/>
          </a:bodyPr>
          <a:lstStyle/>
          <a:p>
            <a:r>
              <a:rPr lang="en-US" sz="5400"/>
              <a:t>Conclusion</a:t>
            </a:r>
          </a:p>
        </p:txBody>
      </p:sp>
      <p:sp>
        <p:nvSpPr>
          <p:cNvPr id="2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166B8EC-18DE-4A0C-4EEF-85D349C19A5A}"/>
              </a:ext>
            </a:extLst>
          </p:cNvPr>
          <p:cNvSpPr>
            <a:spLocks noGrp="1"/>
          </p:cNvSpPr>
          <p:nvPr>
            <p:ph idx="1"/>
          </p:nvPr>
        </p:nvSpPr>
        <p:spPr>
          <a:xfrm>
            <a:off x="572493" y="2071316"/>
            <a:ext cx="6713552" cy="4119172"/>
          </a:xfrm>
        </p:spPr>
        <p:txBody>
          <a:bodyPr anchor="t">
            <a:normAutofit/>
          </a:bodyPr>
          <a:lstStyle/>
          <a:p>
            <a:r>
              <a:rPr lang="en-US" sz="2000"/>
              <a:t>This project used K-means, DBSCAN, and Gaussian Mixture Models to identify health-related clusters in the NHANES dataset</a:t>
            </a:r>
            <a:r>
              <a:rPr lang="en-US" sz="2000">
                <a:effectLst/>
              </a:rPr>
              <a:t> </a:t>
            </a:r>
          </a:p>
          <a:p>
            <a:r>
              <a:rPr lang="en-US" sz="2000"/>
              <a:t>Among the three methods, we determined the optimal method was our K-means model, balancing performance and interpretability</a:t>
            </a:r>
          </a:p>
          <a:p>
            <a:r>
              <a:rPr lang="en-US" sz="2000"/>
              <a:t>The five K-means clusters showed meaningful differences in age, income-to-poverty ratio, BMI, blood pressure, and HbA1c</a:t>
            </a:r>
            <a:r>
              <a:rPr lang="en-US" sz="2000">
                <a:effectLst/>
              </a:rPr>
              <a:t> </a:t>
            </a:r>
          </a:p>
          <a:p>
            <a:r>
              <a:rPr lang="en-US" sz="2000"/>
              <a:t>These cluster profiles may help researchers and public health professionals identify groups that could benefit from more targeted prevention, screening, or intervention programs</a:t>
            </a:r>
            <a:r>
              <a:rPr lang="en-US" sz="2000">
                <a:effectLst/>
              </a:rPr>
              <a:t> </a:t>
            </a:r>
            <a:endParaRPr lang="en-US" sz="2000"/>
          </a:p>
        </p:txBody>
      </p:sp>
      <p:pic>
        <p:nvPicPr>
          <p:cNvPr id="7" name="Picture 6" descr="Chemical formulas are written on paper">
            <a:extLst>
              <a:ext uri="{FF2B5EF4-FFF2-40B4-BE49-F238E27FC236}">
                <a16:creationId xmlns:a16="http://schemas.microsoft.com/office/drawing/2014/main" id="{5AE9AC57-2126-7541-A8DD-E0570470089E}"/>
              </a:ext>
            </a:extLst>
          </p:cNvPr>
          <p:cNvPicPr>
            <a:picLocks noChangeAspect="1"/>
          </p:cNvPicPr>
          <p:nvPr/>
        </p:nvPicPr>
        <p:blipFill>
          <a:blip r:embed="rId2"/>
          <a:srcRect l="20510" r="25376"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3211210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A9FD6F-E307-AF17-13F8-C72DC856B102}"/>
              </a:ext>
            </a:extLst>
          </p:cNvPr>
          <p:cNvSpPr>
            <a:spLocks noGrp="1"/>
          </p:cNvSpPr>
          <p:nvPr>
            <p:ph idx="1"/>
          </p:nvPr>
        </p:nvSpPr>
        <p:spPr>
          <a:xfrm>
            <a:off x="838200" y="552734"/>
            <a:ext cx="10515600" cy="5624229"/>
          </a:xfrm>
        </p:spPr>
        <p:txBody>
          <a:bodyPr>
            <a:normAutofit/>
          </a:bodyPr>
          <a:lstStyle/>
          <a:p>
            <a:pPr marL="0" indent="0" algn="ctr">
              <a:buNone/>
            </a:pPr>
            <a:endParaRPr lang="en-US" sz="4800" dirty="0">
              <a:solidFill>
                <a:schemeClr val="accent2"/>
              </a:solidFill>
              <a:latin typeface="Amasis MT Pro Black" panose="020F0502020204030204" pitchFamily="18" charset="0"/>
            </a:endParaRPr>
          </a:p>
          <a:p>
            <a:pPr marL="0" indent="0" algn="ctr">
              <a:buNone/>
            </a:pPr>
            <a:endParaRPr lang="en-US" sz="4800" dirty="0">
              <a:solidFill>
                <a:schemeClr val="accent2"/>
              </a:solidFill>
              <a:latin typeface="Amasis MT Pro Black" panose="020F0502020204030204" pitchFamily="18" charset="0"/>
            </a:endParaRPr>
          </a:p>
          <a:p>
            <a:pPr marL="0" indent="0" algn="ctr">
              <a:buNone/>
            </a:pPr>
            <a:r>
              <a:rPr lang="en-US" sz="12000" b="1" dirty="0">
                <a:solidFill>
                  <a:schemeClr val="accent2"/>
                </a:solidFill>
                <a:latin typeface="Lucida Handwriting" panose="03010101010101010101" pitchFamily="66" charset="0"/>
              </a:rPr>
              <a:t>THANK YOU</a:t>
            </a:r>
          </a:p>
        </p:txBody>
      </p:sp>
    </p:spTree>
    <p:extLst>
      <p:ext uri="{BB962C8B-B14F-4D97-AF65-F5344CB8AC3E}">
        <p14:creationId xmlns:p14="http://schemas.microsoft.com/office/powerpoint/2010/main" val="3078143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6fcba52-c02e-499b-ad96-4f9d05855f39}" enabled="1" method="Standard" siteId="{2329c570-b580-4223-803b-427d800e81b6}" removed="0"/>
</clbl:labelList>
</file>

<file path=docProps/app.xml><?xml version="1.0" encoding="utf-8"?>
<Properties xmlns="http://schemas.openxmlformats.org/officeDocument/2006/extended-properties" xmlns:vt="http://schemas.openxmlformats.org/officeDocument/2006/docPropsVTypes">
  <TotalTime>474</TotalTime>
  <Words>2755</Words>
  <Application>Microsoft Macintosh PowerPoint</Application>
  <PresentationFormat>Widescreen</PresentationFormat>
  <Paragraphs>602</Paragraphs>
  <Slides>43</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Amasis MT Pro Black</vt:lpstr>
      <vt:lpstr>Aptos</vt:lpstr>
      <vt:lpstr>Aptos Display</vt:lpstr>
      <vt:lpstr>Arial</vt:lpstr>
      <vt:lpstr>Calibri</vt:lpstr>
      <vt:lpstr>Consolas</vt:lpstr>
      <vt:lpstr>Georgia</vt:lpstr>
      <vt:lpstr>Lucida Handwriting</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Gaussian Mixture Models (GMM)</vt:lpstr>
      <vt:lpstr>PowerPoint Presentation</vt:lpstr>
      <vt:lpstr>PowerPoint Presentation</vt:lpstr>
      <vt:lpstr>PowerPoint Presentation</vt:lpstr>
      <vt:lpstr>PowerPoint Presentation</vt:lpstr>
      <vt:lpstr>PowerPoint Presentation</vt:lpstr>
      <vt:lpstr>PowerPoint Presentation</vt:lpstr>
      <vt:lpstr>K-MEANS CLUSTERING ANALYSIS</vt:lpstr>
      <vt:lpstr>PowerPoint Presentation</vt:lpstr>
      <vt:lpstr>PowerPoint Presentation</vt:lpstr>
      <vt:lpstr>PowerPoint Presentation</vt:lpstr>
      <vt:lpstr>PowerPoint Presentation</vt:lpstr>
      <vt:lpstr>PowerPoint Presentation</vt:lpstr>
      <vt:lpstr>Comparison of Methods</vt:lpstr>
      <vt:lpstr>Metrics by Clustering Method</vt:lpstr>
      <vt:lpstr>DBSCAN</vt:lpstr>
      <vt:lpstr>GMM</vt:lpstr>
      <vt:lpstr>K-Means</vt:lpstr>
      <vt:lpstr>Selecting the Best Method</vt:lpstr>
      <vt:lpstr>Cluster 1 Profile</vt:lpstr>
      <vt:lpstr>Cluster 2 Profile</vt:lpstr>
      <vt:lpstr>Cluster 3 Profile</vt:lpstr>
      <vt:lpstr>Cluster 4 Profile</vt:lpstr>
      <vt:lpstr>Cluster 5 Profile</vt:lpstr>
      <vt:lpstr>Cluster Profiles</vt:lpstr>
      <vt:lpstr>Profile Visualization</vt:lpstr>
      <vt:lpstr>Profile Visualization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Banira Dhakal</dc:creator>
  <cp:lastModifiedBy>Koomson, John (Math)</cp:lastModifiedBy>
  <cp:revision>4</cp:revision>
  <dcterms:created xsi:type="dcterms:W3CDTF">2026-05-14T15:23:43Z</dcterms:created>
  <dcterms:modified xsi:type="dcterms:W3CDTF">2026-05-21T22:15:53Z</dcterms:modified>
</cp:coreProperties>
</file>